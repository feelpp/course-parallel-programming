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media/image1.png" ContentType="image/png"/>
  <Override PartName="/ppt/media/image2.png" ContentType="image/png"/>
  <Override PartName="/ppt/media/image10.png" ContentType="image/png"/>
  <Override PartName="/ppt/media/image3.png" ContentType="image/png"/>
  <Override PartName="/ppt/media/image4.png" ContentType="image/png"/>
  <Override PartName="/ppt/media/image5.png" ContentType="image/png"/>
  <Override PartName="/ppt/media/image6.png" ContentType="image/png"/>
  <Override PartName="/ppt/media/image8.png" ContentType="image/png"/>
  <Override PartName="/ppt/media/image7.jpeg" ContentType="image/jpeg"/>
  <Override PartName="/ppt/media/image9.png" ContentType="image/png"/>
  <Override PartName="/ppt/_rels/presentation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_rels/slideMaster4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4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_rels/slideLayout36.xml.rels" ContentType="application/vnd.openxmlformats-package.relationships+xml"/>
  <Override PartName="/ppt/slideLayouts/_rels/slideLayout39.xml.rels" ContentType="application/vnd.openxmlformats-package.relationships+xml"/>
  <Override PartName="/ppt/slideLayouts/_rels/slideLayout40.xml.rels" ContentType="application/vnd.openxmlformats-package.relationships+xml"/>
  <Override PartName="/ppt/slideLayouts/_rels/slideLayout38.xml.rels" ContentType="application/vnd.openxmlformats-package.relationships+xml"/>
  <Override PartName="/ppt/slideLayouts/_rels/slideLayout37.xml.rels" ContentType="application/vnd.openxmlformats-package.relationships+xml"/>
  <Override PartName="/ppt/slideLayouts/_rels/slideLayout35.xml.rels" ContentType="application/vnd.openxmlformats-package.relationships+xml"/>
  <Override PartName="/ppt/slideLayouts/_rels/slideLayout34.xml.rels" ContentType="application/vnd.openxmlformats-package.relationships+xml"/>
  <Override PartName="/ppt/slideLayouts/_rels/slideLayout33.xml.rels" ContentType="application/vnd.openxmlformats-package.relationships+xml"/>
  <Override PartName="/ppt/slideLayouts/_rels/slideLayout32.xml.rels" ContentType="application/vnd.openxmlformats-package.relationships+xml"/>
  <Override PartName="/ppt/slideLayouts/_rels/slideLayout31.xml.rels" ContentType="application/vnd.openxmlformats-package.relationships+xml"/>
  <Override PartName="/ppt/slideLayouts/_rels/slideLayout30.xml.rels" ContentType="application/vnd.openxmlformats-package.relationships+xml"/>
  <Override PartName="/ppt/slideLayouts/_rels/slideLayout41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44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47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46.xml.rels" ContentType="application/vnd.openxmlformats-package.relationships+xml"/>
  <Override PartName="/ppt/slideLayouts/_rels/slideLayout43.xml.rels" ContentType="application/vnd.openxmlformats-package.relationships+xml"/>
  <Override PartName="/ppt/slideLayouts/_rels/slideLayout48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45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2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20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29.xml.rels" ContentType="application/vnd.openxmlformats-package.relationships+xml"/>
  <Override PartName="/ppt/slideLayouts/_rels/slideLayout42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2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27.xml.rels" ContentType="application/vnd.openxmlformats-package.relationships+xml"/>
  <Override PartName="/ppt/slideLayouts/_rels/slideLayout26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25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4.xml.rels" ContentType="application/vnd.openxmlformats-package.relationships+xml"/>
  <Override PartName="/ppt/slideLayouts/slideLayout4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10.xml" ContentType="application/vnd.openxmlformats-officedocument.presentationml.slide+xml"/>
  <Override PartName="/ppt/slides/slide7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12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9.xml" ContentType="application/vnd.openxmlformats-officedocument.presentationml.slide+xml"/>
  <Override PartName="/ppt/slides/slide20.xml" ContentType="application/vnd.openxmlformats-officedocument.presentationml.slide+xml"/>
  <Override PartName="/ppt/slides/slide19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13.xml" ContentType="application/vnd.openxmlformats-officedocument.presentationml.slide+xml"/>
  <Override PartName="/ppt/slides/slide25.xml" ContentType="application/vnd.openxmlformats-officedocument.presentationml.slide+xml"/>
  <Override PartName="/ppt/slides/_rels/slide29.xml.rels" ContentType="application/vnd.openxmlformats-package.relationships+xml"/>
  <Override PartName="/ppt/slides/_rels/slide28.xml.rels" ContentType="application/vnd.openxmlformats-package.relationships+xml"/>
  <Override PartName="/ppt/slides/_rels/slide9.xml.rels" ContentType="application/vnd.openxmlformats-package.relationships+xml"/>
  <Override PartName="/ppt/slides/_rels/slide27.xml.rels" ContentType="application/vnd.openxmlformats-package.relationships+xml"/>
  <Override PartName="/ppt/slides/_rels/slide24.xml.rels" ContentType="application/vnd.openxmlformats-package.relationships+xml"/>
  <Override PartName="/ppt/slides/_rels/slide6.xml.rels" ContentType="application/vnd.openxmlformats-package.relationships+xml"/>
  <Override PartName="/ppt/slides/_rels/slide23.xml.rels" ContentType="application/vnd.openxmlformats-package.relationships+xml"/>
  <Override PartName="/ppt/slides/_rels/slide5.xml.rels" ContentType="application/vnd.openxmlformats-package.relationships+xml"/>
  <Override PartName="/ppt/slides/_rels/slide22.xml.rels" ContentType="application/vnd.openxmlformats-package.relationships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21.xml.rels" ContentType="application/vnd.openxmlformats-package.relationships+xml"/>
  <Override PartName="/ppt/slides/_rels/slide19.xml.rels" ContentType="application/vnd.openxmlformats-package.relationships+xml"/>
  <Override PartName="/ppt/slides/_rels/slide2.xml.rels" ContentType="application/vnd.openxmlformats-package.relationships+xml"/>
  <Override PartName="/ppt/slides/_rels/slide20.xml.rels" ContentType="application/vnd.openxmlformats-package.relationships+xml"/>
  <Override PartName="/ppt/slides/_rels/slide18.xml.rels" ContentType="application/vnd.openxmlformats-package.relationships+xml"/>
  <Override PartName="/ppt/slides/_rels/slide17.xml.rels" ContentType="application/vnd.openxmlformats-package.relationships+xml"/>
  <Override PartName="/ppt/slides/_rels/slide16.xml.rels" ContentType="application/vnd.openxmlformats-package.relationships+xml"/>
  <Override PartName="/ppt/slides/_rels/slide12.xml.rels" ContentType="application/vnd.openxmlformats-package.relationships+xml"/>
  <Override PartName="/ppt/slides/_rels/slide15.xml.rels" ContentType="application/vnd.openxmlformats-package.relationships+xml"/>
  <Override PartName="/ppt/slides/_rels/slide26.xml.rels" ContentType="application/vnd.openxmlformats-package.relationships+xml"/>
  <Override PartName="/ppt/slides/_rels/slide8.xml.rels" ContentType="application/vnd.openxmlformats-package.relationships+xml"/>
  <Override PartName="/ppt/slides/_rels/slide14.xml.rels" ContentType="application/vnd.openxmlformats-package.relationships+xml"/>
  <Override PartName="/ppt/slides/_rels/slide25.xml.rels" ContentType="application/vnd.openxmlformats-package.relationships+xml"/>
  <Override PartName="/ppt/slides/_rels/slide7.xml.rels" ContentType="application/vnd.openxmlformats-package.relationships+xml"/>
  <Override PartName="/ppt/slides/_rels/slide11.xml.rels" ContentType="application/vnd.openxmlformats-package.relationships+xml"/>
  <Override PartName="/ppt/slides/_rels/slide13.xml.rels" ContentType="application/vnd.openxmlformats-package.relationships+xml"/>
  <Override PartName="/ppt/slides/_rels/slide10.xml.rels" ContentType="application/vnd.openxmlformats-package.relationships+xml"/>
  <Override PartName="/ppt/slides/_rels/slide1.xml.rels" ContentType="application/vnd.openxmlformats-package.relationships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  <p:sldMasterId id="2147483674" r:id="rId4"/>
    <p:sldMasterId id="2147483687" r:id="rId5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</p:sldIdLst>
  <p:sldSz cx="10080625" cy="567055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slide" Target="slides/slide23.xml"/><Relationship Id="rId29" Type="http://schemas.openxmlformats.org/officeDocument/2006/relationships/slide" Target="slides/slide24.xml"/><Relationship Id="rId30" Type="http://schemas.openxmlformats.org/officeDocument/2006/relationships/slide" Target="slides/slide25.xml"/><Relationship Id="rId31" Type="http://schemas.openxmlformats.org/officeDocument/2006/relationships/slide" Target="slides/slide26.xml"/><Relationship Id="rId32" Type="http://schemas.openxmlformats.org/officeDocument/2006/relationships/slide" Target="slides/slide27.xml"/><Relationship Id="rId33" Type="http://schemas.openxmlformats.org/officeDocument/2006/relationships/slide" Target="slides/slide28.xml"/><Relationship Id="rId34" Type="http://schemas.openxmlformats.org/officeDocument/2006/relationships/slide" Target="slides/slide29.xml"/><Relationship Id="rId35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3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3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dt" idx="2"/>
          </p:nvPr>
        </p:nvSpPr>
        <p:spPr/>
        <p:txBody>
          <a:bodyPr/>
          <a:p>
            <a:r>
              <a:rPr lang="fr-FR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fr-F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2000" cy="328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dt" idx="2"/>
          </p:nvPr>
        </p:nvSpPr>
        <p:spPr/>
        <p:txBody>
          <a:bodyPr/>
          <a:p>
            <a:r>
              <a:rPr lang="fr-FR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fr-F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2000" cy="328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dt" idx="2"/>
          </p:nvPr>
        </p:nvSpPr>
        <p:spPr/>
        <p:txBody>
          <a:bodyPr/>
          <a:p>
            <a:r>
              <a:rPr lang="fr-FR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fr-F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328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328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dt" idx="2"/>
          </p:nvPr>
        </p:nvSpPr>
        <p:spPr/>
        <p:txBody>
          <a:bodyPr/>
          <a:p>
            <a:r>
              <a:rPr lang="fr-FR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fr-F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dt" idx="2"/>
          </p:nvPr>
        </p:nvSpPr>
        <p:spPr/>
        <p:txBody>
          <a:bodyPr/>
          <a:p>
            <a:r>
              <a:rPr lang="fr-FR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504000" y="226080"/>
            <a:ext cx="9072000" cy="4388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dt" idx="2"/>
          </p:nvPr>
        </p:nvSpPr>
        <p:spPr/>
        <p:txBody>
          <a:bodyPr/>
          <a:p>
            <a:r>
              <a:rPr lang="fr-FR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fr-F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328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/>
          </p:nvPr>
        </p:nvSpPr>
        <p:spPr>
          <a:xfrm>
            <a:off x="504000" y="304452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dt" idx="2"/>
          </p:nvPr>
        </p:nvSpPr>
        <p:spPr/>
        <p:txBody>
          <a:bodyPr/>
          <a:p>
            <a:r>
              <a:rPr lang="fr-FR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fr-F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328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/>
          </p:nvPr>
        </p:nvSpPr>
        <p:spPr>
          <a:xfrm>
            <a:off x="5152680" y="304452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dt" idx="2"/>
          </p:nvPr>
        </p:nvSpPr>
        <p:spPr/>
        <p:txBody>
          <a:bodyPr/>
          <a:p>
            <a:r>
              <a:rPr lang="fr-FR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fr-F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/>
          </p:nvPr>
        </p:nvSpPr>
        <p:spPr>
          <a:xfrm>
            <a:off x="504000" y="3044520"/>
            <a:ext cx="907200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dt" idx="2"/>
          </p:nvPr>
        </p:nvSpPr>
        <p:spPr/>
        <p:txBody>
          <a:bodyPr/>
          <a:p>
            <a:r>
              <a:rPr lang="fr-FR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fr-F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200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504000" y="3044520"/>
            <a:ext cx="907200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dt" idx="2"/>
          </p:nvPr>
        </p:nvSpPr>
        <p:spPr/>
        <p:txBody>
          <a:bodyPr/>
          <a:p>
            <a:r>
              <a:rPr lang="fr-FR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fr-F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/>
          </p:nvPr>
        </p:nvSpPr>
        <p:spPr>
          <a:xfrm>
            <a:off x="504000" y="304452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/>
          </p:nvPr>
        </p:nvSpPr>
        <p:spPr>
          <a:xfrm>
            <a:off x="5152680" y="304452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dt" idx="2"/>
          </p:nvPr>
        </p:nvSpPr>
        <p:spPr/>
        <p:txBody>
          <a:bodyPr/>
          <a:p>
            <a:r>
              <a:rPr lang="fr-FR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fr-F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292104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3571560" y="1326600"/>
            <a:ext cx="292104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6639120" y="1326600"/>
            <a:ext cx="292104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504000" y="3044520"/>
            <a:ext cx="292104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/>
          </p:nvPr>
        </p:nvSpPr>
        <p:spPr>
          <a:xfrm>
            <a:off x="3571560" y="3044520"/>
            <a:ext cx="292104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/>
          </p:nvPr>
        </p:nvSpPr>
        <p:spPr>
          <a:xfrm>
            <a:off x="6639120" y="3044520"/>
            <a:ext cx="292104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dt" idx="2"/>
          </p:nvPr>
        </p:nvSpPr>
        <p:spPr/>
        <p:txBody>
          <a:bodyPr/>
          <a:p>
            <a:r>
              <a:rPr lang="fr-FR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fr-F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2000" cy="328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fr-F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2000" cy="328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fr-F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328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328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fr-FR" sz="4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PlaceHolder 1"/>
          <p:cNvSpPr>
            <a:spLocks noGrp="1"/>
          </p:cNvSpPr>
          <p:nvPr>
            <p:ph type="subTitle"/>
          </p:nvPr>
        </p:nvSpPr>
        <p:spPr>
          <a:xfrm>
            <a:off x="504000" y="226080"/>
            <a:ext cx="9072000" cy="4388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fr-F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328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" name="PlaceHolder 4"/>
          <p:cNvSpPr>
            <a:spLocks noGrp="1"/>
          </p:cNvSpPr>
          <p:nvPr>
            <p:ph/>
          </p:nvPr>
        </p:nvSpPr>
        <p:spPr>
          <a:xfrm>
            <a:off x="504000" y="304452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fr-F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328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" name="PlaceHolder 4"/>
          <p:cNvSpPr>
            <a:spLocks noGrp="1"/>
          </p:cNvSpPr>
          <p:nvPr>
            <p:ph/>
          </p:nvPr>
        </p:nvSpPr>
        <p:spPr>
          <a:xfrm>
            <a:off x="5152680" y="304452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fr-F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" name="PlaceHolder 4"/>
          <p:cNvSpPr>
            <a:spLocks noGrp="1"/>
          </p:cNvSpPr>
          <p:nvPr>
            <p:ph/>
          </p:nvPr>
        </p:nvSpPr>
        <p:spPr>
          <a:xfrm>
            <a:off x="504000" y="3044520"/>
            <a:ext cx="907200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fr-F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200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" name="PlaceHolder 3"/>
          <p:cNvSpPr>
            <a:spLocks noGrp="1"/>
          </p:cNvSpPr>
          <p:nvPr>
            <p:ph/>
          </p:nvPr>
        </p:nvSpPr>
        <p:spPr>
          <a:xfrm>
            <a:off x="504000" y="3044520"/>
            <a:ext cx="907200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fr-F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504000" y="304452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" name="PlaceHolder 5"/>
          <p:cNvSpPr>
            <a:spLocks noGrp="1"/>
          </p:cNvSpPr>
          <p:nvPr>
            <p:ph/>
          </p:nvPr>
        </p:nvSpPr>
        <p:spPr>
          <a:xfrm>
            <a:off x="5152680" y="304452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fr-F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292104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" name="PlaceHolder 3"/>
          <p:cNvSpPr>
            <a:spLocks noGrp="1"/>
          </p:cNvSpPr>
          <p:nvPr>
            <p:ph/>
          </p:nvPr>
        </p:nvSpPr>
        <p:spPr>
          <a:xfrm>
            <a:off x="3571560" y="1326600"/>
            <a:ext cx="292104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" name="PlaceHolder 4"/>
          <p:cNvSpPr>
            <a:spLocks noGrp="1"/>
          </p:cNvSpPr>
          <p:nvPr>
            <p:ph/>
          </p:nvPr>
        </p:nvSpPr>
        <p:spPr>
          <a:xfrm>
            <a:off x="6639120" y="1326600"/>
            <a:ext cx="292104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" name="PlaceHolder 5"/>
          <p:cNvSpPr>
            <a:spLocks noGrp="1"/>
          </p:cNvSpPr>
          <p:nvPr>
            <p:ph/>
          </p:nvPr>
        </p:nvSpPr>
        <p:spPr>
          <a:xfrm>
            <a:off x="504000" y="3044520"/>
            <a:ext cx="292104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" name="PlaceHolder 6"/>
          <p:cNvSpPr>
            <a:spLocks noGrp="1"/>
          </p:cNvSpPr>
          <p:nvPr>
            <p:ph/>
          </p:nvPr>
        </p:nvSpPr>
        <p:spPr>
          <a:xfrm>
            <a:off x="3571560" y="3044520"/>
            <a:ext cx="292104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" name="PlaceHolder 7"/>
          <p:cNvSpPr>
            <a:spLocks noGrp="1"/>
          </p:cNvSpPr>
          <p:nvPr>
            <p:ph/>
          </p:nvPr>
        </p:nvSpPr>
        <p:spPr>
          <a:xfrm>
            <a:off x="6639120" y="3044520"/>
            <a:ext cx="292104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2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fr-FR"/>
              <a:t/>
            </a:r>
          </a:p>
        </p:txBody>
      </p:sp>
    </p:spTree>
  </p:cSld>
</p:sldLayout>
</file>

<file path=ppt/slideLayouts/slideLayout2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fr-F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2000" cy="328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fr-FR"/>
              <a:t/>
            </a:r>
          </a:p>
        </p:txBody>
      </p:sp>
    </p:spTree>
  </p:cSld>
</p:sldLayout>
</file>

<file path=ppt/slideLayouts/slideLayout2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fr-F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2000" cy="328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fr-FR"/>
              <a:t/>
            </a:r>
          </a:p>
        </p:txBody>
      </p:sp>
    </p:spTree>
  </p:cSld>
</p:sldLayout>
</file>

<file path=ppt/slideLayouts/slideLayout2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fr-F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0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328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328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fr-FR"/>
              <a:t/>
            </a:r>
          </a:p>
        </p:txBody>
      </p:sp>
    </p:spTree>
  </p:cSld>
</p:sldLayout>
</file>

<file path=ppt/slideLayouts/slideLayout2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fr-F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fr-FR"/>
              <a:t/>
            </a:r>
          </a:p>
        </p:txBody>
      </p:sp>
    </p:spTree>
  </p:cSld>
</p:sldLayout>
</file>

<file path=ppt/slideLayouts/slideLayout3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PlaceHolder 1"/>
          <p:cNvSpPr>
            <a:spLocks noGrp="1"/>
          </p:cNvSpPr>
          <p:nvPr>
            <p:ph type="subTitle"/>
          </p:nvPr>
        </p:nvSpPr>
        <p:spPr>
          <a:xfrm>
            <a:off x="504000" y="226080"/>
            <a:ext cx="9072000" cy="4388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fr-FR"/>
              <a:t/>
            </a:r>
          </a:p>
        </p:txBody>
      </p:sp>
    </p:spTree>
  </p:cSld>
</p:sldLayout>
</file>

<file path=ppt/slideLayouts/slideLayout3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fr-F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6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328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7" name="PlaceHolder 4"/>
          <p:cNvSpPr>
            <a:spLocks noGrp="1"/>
          </p:cNvSpPr>
          <p:nvPr>
            <p:ph/>
          </p:nvPr>
        </p:nvSpPr>
        <p:spPr>
          <a:xfrm>
            <a:off x="504000" y="304452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fr-FR"/>
              <a:t/>
            </a:r>
          </a:p>
        </p:txBody>
      </p:sp>
    </p:spTree>
  </p:cSld>
</p:sldLayout>
</file>

<file path=ppt/slideLayouts/slideLayout3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fr-F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328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0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PlaceHolder 4"/>
          <p:cNvSpPr>
            <a:spLocks noGrp="1"/>
          </p:cNvSpPr>
          <p:nvPr>
            <p:ph/>
          </p:nvPr>
        </p:nvSpPr>
        <p:spPr>
          <a:xfrm>
            <a:off x="5152680" y="304452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fr-FR"/>
              <a:t/>
            </a:r>
          </a:p>
        </p:txBody>
      </p:sp>
    </p:spTree>
  </p:cSld>
</p:sldLayout>
</file>

<file path=ppt/slideLayouts/slideLayout3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fr-F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3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5" name="PlaceHolder 4"/>
          <p:cNvSpPr>
            <a:spLocks noGrp="1"/>
          </p:cNvSpPr>
          <p:nvPr>
            <p:ph/>
          </p:nvPr>
        </p:nvSpPr>
        <p:spPr>
          <a:xfrm>
            <a:off x="504000" y="3044520"/>
            <a:ext cx="907200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fr-FR"/>
              <a:t/>
            </a:r>
          </a:p>
        </p:txBody>
      </p:sp>
    </p:spTree>
  </p:cSld>
</p:sldLayout>
</file>

<file path=ppt/slideLayouts/slideLayout3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fr-F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7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200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8" name="PlaceHolder 3"/>
          <p:cNvSpPr>
            <a:spLocks noGrp="1"/>
          </p:cNvSpPr>
          <p:nvPr>
            <p:ph/>
          </p:nvPr>
        </p:nvSpPr>
        <p:spPr>
          <a:xfrm>
            <a:off x="504000" y="3044520"/>
            <a:ext cx="907200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fr-FR"/>
              <a:t/>
            </a:r>
          </a:p>
        </p:txBody>
      </p:sp>
    </p:spTree>
  </p:cSld>
</p:sldLayout>
</file>

<file path=ppt/slideLayouts/slideLayout3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fr-F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0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1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2" name="PlaceHolder 4"/>
          <p:cNvSpPr>
            <a:spLocks noGrp="1"/>
          </p:cNvSpPr>
          <p:nvPr>
            <p:ph/>
          </p:nvPr>
        </p:nvSpPr>
        <p:spPr>
          <a:xfrm>
            <a:off x="504000" y="304452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3" name="PlaceHolder 5"/>
          <p:cNvSpPr>
            <a:spLocks noGrp="1"/>
          </p:cNvSpPr>
          <p:nvPr>
            <p:ph/>
          </p:nvPr>
        </p:nvSpPr>
        <p:spPr>
          <a:xfrm>
            <a:off x="5152680" y="304452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fr-FR"/>
              <a:t/>
            </a:r>
          </a:p>
        </p:txBody>
      </p:sp>
    </p:spTree>
  </p:cSld>
</p:sldLayout>
</file>

<file path=ppt/slideLayouts/slideLayout3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fr-F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5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292104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6" name="PlaceHolder 3"/>
          <p:cNvSpPr>
            <a:spLocks noGrp="1"/>
          </p:cNvSpPr>
          <p:nvPr>
            <p:ph/>
          </p:nvPr>
        </p:nvSpPr>
        <p:spPr>
          <a:xfrm>
            <a:off x="3571560" y="1326600"/>
            <a:ext cx="292104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7" name="PlaceHolder 4"/>
          <p:cNvSpPr>
            <a:spLocks noGrp="1"/>
          </p:cNvSpPr>
          <p:nvPr>
            <p:ph/>
          </p:nvPr>
        </p:nvSpPr>
        <p:spPr>
          <a:xfrm>
            <a:off x="6639120" y="1326600"/>
            <a:ext cx="292104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8" name="PlaceHolder 5"/>
          <p:cNvSpPr>
            <a:spLocks noGrp="1"/>
          </p:cNvSpPr>
          <p:nvPr>
            <p:ph/>
          </p:nvPr>
        </p:nvSpPr>
        <p:spPr>
          <a:xfrm>
            <a:off x="504000" y="3044520"/>
            <a:ext cx="292104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9" name="PlaceHolder 6"/>
          <p:cNvSpPr>
            <a:spLocks noGrp="1"/>
          </p:cNvSpPr>
          <p:nvPr>
            <p:ph/>
          </p:nvPr>
        </p:nvSpPr>
        <p:spPr>
          <a:xfrm>
            <a:off x="3571560" y="3044520"/>
            <a:ext cx="292104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0" name="PlaceHolder 7"/>
          <p:cNvSpPr>
            <a:spLocks noGrp="1"/>
          </p:cNvSpPr>
          <p:nvPr>
            <p:ph/>
          </p:nvPr>
        </p:nvSpPr>
        <p:spPr>
          <a:xfrm>
            <a:off x="6639120" y="3044520"/>
            <a:ext cx="292104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fr-FR"/>
              <a:t/>
            </a:r>
          </a:p>
        </p:txBody>
      </p:sp>
    </p:spTree>
  </p:cSld>
</p:sldLayout>
</file>

<file path=ppt/slideLayouts/slideLayout3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3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fr-F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2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2000" cy="328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3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fr-F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4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2000" cy="328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4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fr-F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6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328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7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328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4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fr-FR" sz="4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4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PlaceHolder 1"/>
          <p:cNvSpPr>
            <a:spLocks noGrp="1"/>
          </p:cNvSpPr>
          <p:nvPr>
            <p:ph type="subTitle"/>
          </p:nvPr>
        </p:nvSpPr>
        <p:spPr>
          <a:xfrm>
            <a:off x="504000" y="226080"/>
            <a:ext cx="9072000" cy="4388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4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fr-F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1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2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328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3" name="PlaceHolder 4"/>
          <p:cNvSpPr>
            <a:spLocks noGrp="1"/>
          </p:cNvSpPr>
          <p:nvPr>
            <p:ph/>
          </p:nvPr>
        </p:nvSpPr>
        <p:spPr>
          <a:xfrm>
            <a:off x="504000" y="304452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4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fr-F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5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328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6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7" name="PlaceHolder 4"/>
          <p:cNvSpPr>
            <a:spLocks noGrp="1"/>
          </p:cNvSpPr>
          <p:nvPr>
            <p:ph/>
          </p:nvPr>
        </p:nvSpPr>
        <p:spPr>
          <a:xfrm>
            <a:off x="5152680" y="304452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4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fr-F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9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0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1" name="PlaceHolder 4"/>
          <p:cNvSpPr>
            <a:spLocks noGrp="1"/>
          </p:cNvSpPr>
          <p:nvPr>
            <p:ph/>
          </p:nvPr>
        </p:nvSpPr>
        <p:spPr>
          <a:xfrm>
            <a:off x="504000" y="3044520"/>
            <a:ext cx="907200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4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fr-F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3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200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4" name="PlaceHolder 3"/>
          <p:cNvSpPr>
            <a:spLocks noGrp="1"/>
          </p:cNvSpPr>
          <p:nvPr>
            <p:ph/>
          </p:nvPr>
        </p:nvSpPr>
        <p:spPr>
          <a:xfrm>
            <a:off x="504000" y="3044520"/>
            <a:ext cx="907200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4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fr-F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6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7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8" name="PlaceHolder 4"/>
          <p:cNvSpPr>
            <a:spLocks noGrp="1"/>
          </p:cNvSpPr>
          <p:nvPr>
            <p:ph/>
          </p:nvPr>
        </p:nvSpPr>
        <p:spPr>
          <a:xfrm>
            <a:off x="504000" y="304452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9" name="PlaceHolder 5"/>
          <p:cNvSpPr>
            <a:spLocks noGrp="1"/>
          </p:cNvSpPr>
          <p:nvPr>
            <p:ph/>
          </p:nvPr>
        </p:nvSpPr>
        <p:spPr>
          <a:xfrm>
            <a:off x="5152680" y="304452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4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fr-F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1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292104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2" name="PlaceHolder 3"/>
          <p:cNvSpPr>
            <a:spLocks noGrp="1"/>
          </p:cNvSpPr>
          <p:nvPr>
            <p:ph/>
          </p:nvPr>
        </p:nvSpPr>
        <p:spPr>
          <a:xfrm>
            <a:off x="3571560" y="1326600"/>
            <a:ext cx="292104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3" name="PlaceHolder 4"/>
          <p:cNvSpPr>
            <a:spLocks noGrp="1"/>
          </p:cNvSpPr>
          <p:nvPr>
            <p:ph/>
          </p:nvPr>
        </p:nvSpPr>
        <p:spPr>
          <a:xfrm>
            <a:off x="6639120" y="1326600"/>
            <a:ext cx="292104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4" name="PlaceHolder 5"/>
          <p:cNvSpPr>
            <a:spLocks noGrp="1"/>
          </p:cNvSpPr>
          <p:nvPr>
            <p:ph/>
          </p:nvPr>
        </p:nvSpPr>
        <p:spPr>
          <a:xfrm>
            <a:off x="504000" y="3044520"/>
            <a:ext cx="292104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5" name="PlaceHolder 6"/>
          <p:cNvSpPr>
            <a:spLocks noGrp="1"/>
          </p:cNvSpPr>
          <p:nvPr>
            <p:ph/>
          </p:nvPr>
        </p:nvSpPr>
        <p:spPr>
          <a:xfrm>
            <a:off x="3571560" y="3044520"/>
            <a:ext cx="292104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6" name="PlaceHolder 7"/>
          <p:cNvSpPr>
            <a:spLocks noGrp="1"/>
          </p:cNvSpPr>
          <p:nvPr>
            <p:ph/>
          </p:nvPr>
        </p:nvSpPr>
        <p:spPr>
          <a:xfrm>
            <a:off x="6639120" y="3044520"/>
            <a:ext cx="292104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25.xml"/><Relationship Id="rId3" Type="http://schemas.openxmlformats.org/officeDocument/2006/relationships/slideLayout" Target="../slideLayouts/slideLayout26.xml"/><Relationship Id="rId4" Type="http://schemas.openxmlformats.org/officeDocument/2006/relationships/slideLayout" Target="../slideLayouts/slideLayout27.xml"/><Relationship Id="rId5" Type="http://schemas.openxmlformats.org/officeDocument/2006/relationships/slideLayout" Target="../slideLayouts/slideLayout28.xml"/><Relationship Id="rId6" Type="http://schemas.openxmlformats.org/officeDocument/2006/relationships/slideLayout" Target="../slideLayouts/slideLayout29.xml"/><Relationship Id="rId7" Type="http://schemas.openxmlformats.org/officeDocument/2006/relationships/slideLayout" Target="../slideLayouts/slideLayout30.xml"/><Relationship Id="rId8" Type="http://schemas.openxmlformats.org/officeDocument/2006/relationships/slideLayout" Target="../slideLayouts/slideLayout31.xml"/><Relationship Id="rId9" Type="http://schemas.openxmlformats.org/officeDocument/2006/relationships/slideLayout" Target="../slideLayouts/slideLayout32.xml"/><Relationship Id="rId10" Type="http://schemas.openxmlformats.org/officeDocument/2006/relationships/slideLayout" Target="../slideLayouts/slideLayout33.xml"/><Relationship Id="rId11" Type="http://schemas.openxmlformats.org/officeDocument/2006/relationships/slideLayout" Target="../slideLayouts/slideLayout34.xml"/><Relationship Id="rId12" Type="http://schemas.openxmlformats.org/officeDocument/2006/relationships/slideLayout" Target="../slideLayouts/slideLayout35.xml"/><Relationship Id="rId13" Type="http://schemas.openxmlformats.org/officeDocument/2006/relationships/slideLayout" Target="../slideLayouts/slideLayout36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37.xml"/><Relationship Id="rId3" Type="http://schemas.openxmlformats.org/officeDocument/2006/relationships/slideLayout" Target="../slideLayouts/slideLayout38.xml"/><Relationship Id="rId4" Type="http://schemas.openxmlformats.org/officeDocument/2006/relationships/slideLayout" Target="../slideLayouts/slideLayout39.xml"/><Relationship Id="rId5" Type="http://schemas.openxmlformats.org/officeDocument/2006/relationships/slideLayout" Target="../slideLayouts/slideLayout40.xml"/><Relationship Id="rId6" Type="http://schemas.openxmlformats.org/officeDocument/2006/relationships/slideLayout" Target="../slideLayouts/slideLayout41.xml"/><Relationship Id="rId7" Type="http://schemas.openxmlformats.org/officeDocument/2006/relationships/slideLayout" Target="../slideLayouts/slideLayout42.xml"/><Relationship Id="rId8" Type="http://schemas.openxmlformats.org/officeDocument/2006/relationships/slideLayout" Target="../slideLayouts/slideLayout43.xml"/><Relationship Id="rId9" Type="http://schemas.openxmlformats.org/officeDocument/2006/relationships/slideLayout" Target="../slideLayouts/slideLayout44.xml"/><Relationship Id="rId10" Type="http://schemas.openxmlformats.org/officeDocument/2006/relationships/slideLayout" Target="../slideLayouts/slideLayout45.xml"/><Relationship Id="rId11" Type="http://schemas.openxmlformats.org/officeDocument/2006/relationships/slideLayout" Target="../slideLayouts/slideLayout46.xml"/><Relationship Id="rId12" Type="http://schemas.openxmlformats.org/officeDocument/2006/relationships/slideLayout" Target="../slideLayouts/slideLayout47.xml"/><Relationship Id="rId13" Type="http://schemas.openxmlformats.org/officeDocument/2006/relationships/slideLayout" Target="../slideLayouts/slideLayout48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5400000"/>
            <a:ext cx="10065600" cy="255600"/>
          </a:xfrm>
          <a:prstGeom prst="rect">
            <a:avLst/>
          </a:prstGeom>
          <a:solidFill>
            <a:srgbClr val="2c3e50"/>
          </a:solidFill>
          <a:ln w="108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" name="PlaceHolder 1"/>
          <p:cNvSpPr>
            <a:spLocks noGrp="1"/>
          </p:cNvSpPr>
          <p:nvPr>
            <p:ph type="ftr" idx="1"/>
          </p:nvPr>
        </p:nvSpPr>
        <p:spPr>
          <a:xfrm>
            <a:off x="3420000" y="5400000"/>
            <a:ext cx="3225600" cy="255600"/>
          </a:xfrm>
          <a:prstGeom prst="rect">
            <a:avLst/>
          </a:prstGeom>
          <a:noFill/>
          <a:ln w="7200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1" lang="fr-FR" sz="1800" spc="-1" strike="noStrike">
                <a:solidFill>
                  <a:srgbClr val="ffffff"/>
                </a:solidFill>
                <a:latin typeface="Source Sans Pro Black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fr-FR" sz="1800" spc="-1" strike="noStrike">
                <a:solidFill>
                  <a:srgbClr val="ffffff"/>
                </a:solidFill>
                <a:latin typeface="Source Sans Pro Black"/>
              </a:rPr>
              <a:t>&lt;footer&gt;</a:t>
            </a:r>
            <a:endParaRPr b="0" lang="fr-FR" sz="18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dt" idx="2"/>
          </p:nvPr>
        </p:nvSpPr>
        <p:spPr>
          <a:xfrm>
            <a:off x="360000" y="5400000"/>
            <a:ext cx="2865600" cy="255600"/>
          </a:xfrm>
          <a:prstGeom prst="rect">
            <a:avLst/>
          </a:prstGeom>
          <a:noFill/>
          <a:ln w="7200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fr-F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fr-FR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fr-F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fr-FR" sz="4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fr-F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2000" cy="328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fr-FR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fr-FR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fr-FR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fr-FR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fr-FR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fr-FR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fr-FR" sz="4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fr-F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2000" cy="328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fr-FR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fr-FR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fr-FR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fr-FR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fr-FR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fr-FR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"/>
          <p:cNvSpPr/>
          <p:nvPr/>
        </p:nvSpPr>
        <p:spPr>
          <a:xfrm>
            <a:off x="0" y="5400000"/>
            <a:ext cx="10073520" cy="263520"/>
          </a:xfrm>
          <a:prstGeom prst="rect">
            <a:avLst/>
          </a:prstGeom>
          <a:solidFill>
            <a:srgbClr val="2c3e50"/>
          </a:solidFill>
          <a:ln w="108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0" name=""/>
          <p:cNvSpPr/>
          <p:nvPr/>
        </p:nvSpPr>
        <p:spPr>
          <a:xfrm>
            <a:off x="0" y="0"/>
            <a:ext cx="10073520" cy="1208520"/>
          </a:xfrm>
          <a:prstGeom prst="rect">
            <a:avLst/>
          </a:prstGeom>
          <a:solidFill>
            <a:srgbClr val="2c3e50"/>
          </a:solidFill>
          <a:ln w="108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1" name="PlaceHolder 1"/>
          <p:cNvSpPr>
            <a:spLocks noGrp="1"/>
          </p:cNvSpPr>
          <p:nvPr>
            <p:ph type="ftr" idx="3"/>
          </p:nvPr>
        </p:nvSpPr>
        <p:spPr>
          <a:xfrm>
            <a:off x="3420000" y="5400000"/>
            <a:ext cx="3233520" cy="263520"/>
          </a:xfrm>
          <a:prstGeom prst="rect">
            <a:avLst/>
          </a:prstGeom>
          <a:noFill/>
          <a:ln w="7200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1" lang="fr-FR" sz="1800" spc="-1" strike="noStrike">
                <a:solidFill>
                  <a:srgbClr val="ffffff"/>
                </a:solidFill>
                <a:latin typeface="Source Sans Pro Black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fr-FR" sz="1800" spc="-1" strike="noStrike">
                <a:solidFill>
                  <a:srgbClr val="ffffff"/>
                </a:solidFill>
                <a:latin typeface="Source Sans Pro Black"/>
              </a:rPr>
              <a:t>&lt;footer&gt;</a:t>
            </a:r>
            <a:endParaRPr b="0" lang="fr-FR" sz="18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2" name="PlaceHolder 2"/>
          <p:cNvSpPr>
            <a:spLocks noGrp="1"/>
          </p:cNvSpPr>
          <p:nvPr>
            <p:ph type="dt" idx="4"/>
          </p:nvPr>
        </p:nvSpPr>
        <p:spPr>
          <a:xfrm>
            <a:off x="360000" y="5400000"/>
            <a:ext cx="2873520" cy="263520"/>
          </a:xfrm>
          <a:prstGeom prst="rect">
            <a:avLst/>
          </a:prstGeom>
          <a:noFill/>
          <a:ln w="7200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fr-F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fr-FR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fr-F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3" name="PlaceHolder 3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fr-FR" sz="4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fr-F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" name="PlaceHolder 4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2000" cy="328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fr-FR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fr-FR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fr-FR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fr-FR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fr-FR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fr-FR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  <p:sldLayoutId id="2147483685" r:id="rId12"/>
    <p:sldLayoutId id="2147483686" r:id="rId13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bg2="lt2" tx1="dk1" tx2="dk2" accent1="accent1" accent2="accent2" accent3="accent3" accent4="accent4" accent5="accent5" accent6="accent6" hlink="hlink" folHlink="folHlink"/>
  <p:sldLayoutIdLst>
    <p:sldLayoutId id="2147483688" r:id="rId2"/>
    <p:sldLayoutId id="2147483689" r:id="rId3"/>
    <p:sldLayoutId id="2147483690" r:id="rId4"/>
    <p:sldLayoutId id="2147483691" r:id="rId5"/>
    <p:sldLayoutId id="2147483692" r:id="rId6"/>
    <p:sldLayoutId id="2147483693" r:id="rId7"/>
    <p:sldLayoutId id="2147483694" r:id="rId8"/>
    <p:sldLayoutId id="2147483695" r:id="rId9"/>
    <p:sldLayoutId id="2147483696" r:id="rId10"/>
    <p:sldLayoutId id="2147483697" r:id="rId11"/>
    <p:sldLayoutId id="2147483698" r:id="rId12"/>
    <p:sldLayoutId id="2147483699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25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3.png"/><Relationship Id="rId3" Type="http://schemas.openxmlformats.org/officeDocument/2006/relationships/slideLayout" Target="../slideLayouts/slideLayout37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slideLayout" Target="../slideLayouts/slideLayout1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7.jpeg"/><Relationship Id="rId2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slideLayout" Target="../slideLayouts/slideLayout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slideLayout" Target="../slideLayouts/slideLayout1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slideLayout" Target="../slideLayouts/slideLayout1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slideLayout" Target="../slideLayouts/slideLayout13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slideLayout" Target="../slideLayouts/slideLayout1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slideLayout" Target="../slideLayouts/slideLayout1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slideLayout" Target="../slideLayouts/slideLayout1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slideLayout" Target="../slideLayouts/slideLayout1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slideLayout" Target="../slideLayouts/slideLayout13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slideLayout" Target="../slideLayouts/slideLayout1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slideLayout" Target="../slideLayouts/slideLayout1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slideLayout" Target="../slideLayouts/slideLayout1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slideLayout" Target="../slideLayouts/slideLayout1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slideLayout" Target="../slideLayouts/slideLayout13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image" Target="../media/image7.jpeg"/><Relationship Id="rId2" Type="http://schemas.openxmlformats.org/officeDocument/2006/relationships/slideLayout" Target="../slideLayouts/slideLayout1.xml"/>
</Relationships>
</file>

<file path=ppt/slides/_rels/slide2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6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slideLayout" Target="../slideLayouts/slideLayout1.xml"/>
</Relationships>
</file>

<file path=ppt/slides/_rels/slide27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slideLayout" Target="../slideLayouts/slideLayout1.xml"/>
</Relationships>
</file>

<file path=ppt/slides/_rels/slide28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slideLayout" Target="../slideLayouts/slideLayout1.xml"/>
</Relationships>
</file>

<file path=ppt/slides/_rels/slide29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image" Target="../media/image10.png"/><Relationship Id="rId3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7" name="" descr=""/>
          <p:cNvPicPr/>
          <p:nvPr/>
        </p:nvPicPr>
        <p:blipFill>
          <a:blip r:embed="rId1"/>
          <a:stretch/>
        </p:blipFill>
        <p:spPr>
          <a:xfrm>
            <a:off x="0" y="0"/>
            <a:ext cx="10153080" cy="4313520"/>
          </a:xfrm>
          <a:prstGeom prst="rect">
            <a:avLst/>
          </a:prstGeom>
          <a:ln w="10800">
            <a:noFill/>
          </a:ln>
        </p:spPr>
      </p:pic>
      <p:sp>
        <p:nvSpPr>
          <p:cNvPr id="158" name=""/>
          <p:cNvSpPr/>
          <p:nvPr/>
        </p:nvSpPr>
        <p:spPr>
          <a:xfrm>
            <a:off x="714600" y="4392000"/>
            <a:ext cx="9353520" cy="713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</a:pPr>
            <a:r>
              <a:rPr b="1" lang="en-US" sz="2700" spc="-1" strike="noStrike">
                <a:solidFill>
                  <a:srgbClr val="ff0000"/>
                </a:solidFill>
                <a:latin typeface="Source Sans Pro Black"/>
                <a:ea typeface="DejaVu Sans"/>
              </a:rPr>
              <a:t>P</a:t>
            </a:r>
            <a:r>
              <a:rPr b="1" lang="en-US" sz="2700" spc="-1" strike="noStrike">
                <a:solidFill>
                  <a:srgbClr val="000000"/>
                </a:solidFill>
                <a:latin typeface="Source Sans Pro Black"/>
                <a:ea typeface="DejaVu Sans"/>
              </a:rPr>
              <a:t>ARALLEL </a:t>
            </a:r>
            <a:r>
              <a:rPr b="1" lang="en-US" sz="2700" spc="-1" strike="noStrike">
                <a:solidFill>
                  <a:srgbClr val="ff0000"/>
                </a:solidFill>
                <a:latin typeface="Source Sans Pro Black"/>
                <a:ea typeface="DejaVu Sans"/>
              </a:rPr>
              <a:t>P</a:t>
            </a:r>
            <a:r>
              <a:rPr b="1" lang="en-US" sz="2700" spc="-1" strike="noStrike">
                <a:solidFill>
                  <a:srgbClr val="000000"/>
                </a:solidFill>
                <a:latin typeface="Source Sans Pro Black"/>
                <a:ea typeface="DejaVu Sans"/>
              </a:rPr>
              <a:t>ROGRAMMING... </a:t>
            </a:r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9" name=""/>
          <p:cNvSpPr/>
          <p:nvPr/>
        </p:nvSpPr>
        <p:spPr>
          <a:xfrm>
            <a:off x="3240000" y="5055120"/>
            <a:ext cx="3446640" cy="268200"/>
          </a:xfrm>
          <a:custGeom>
            <a:avLst/>
            <a:gdLst>
              <a:gd name="textAreaLeft" fmla="*/ 0 w 3446640"/>
              <a:gd name="textAreaRight" fmla="*/ 3447000 w 3446640"/>
              <a:gd name="textAreaTop" fmla="*/ 0 h 268200"/>
              <a:gd name="textAreaBottom" fmla="*/ 268560 h 268200"/>
            </a:gdLst>
            <a:ah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noAutofit/>
          </a:bodyPr>
          <a:p>
            <a:pPr>
              <a:lnSpc>
                <a:spcPct val="100000"/>
              </a:lnSpc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  <a:tab algn="l" pos="9601200"/>
                <a:tab algn="l" pos="10058400"/>
                <a:tab algn="l" pos="1051560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源ノ角ゴシック Normal"/>
              </a:rPr>
              <a:t>By Patrick Lemoine 2025.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0" name=""/>
          <p:cNvSpPr txBox="1"/>
          <p:nvPr/>
        </p:nvSpPr>
        <p:spPr>
          <a:xfrm>
            <a:off x="8718120" y="4820400"/>
            <a:ext cx="1278000" cy="471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i="1" lang="en-US" sz="27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Kokkos </a:t>
            </a:r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1" name="" descr=""/>
          <p:cNvPicPr/>
          <p:nvPr/>
        </p:nvPicPr>
        <p:blipFill>
          <a:blip r:embed="rId1"/>
          <a:stretch/>
        </p:blipFill>
        <p:spPr>
          <a:xfrm>
            <a:off x="3420000" y="108000"/>
            <a:ext cx="3269160" cy="1244520"/>
          </a:xfrm>
          <a:prstGeom prst="rect">
            <a:avLst/>
          </a:prstGeom>
          <a:ln w="0">
            <a:noFill/>
          </a:ln>
        </p:spPr>
      </p:pic>
      <p:sp>
        <p:nvSpPr>
          <p:cNvPr id="162" name="PlaceHolder 1"/>
          <p:cNvSpPr>
            <a:spLocks noGrp="1"/>
          </p:cNvSpPr>
          <p:nvPr>
            <p:ph/>
          </p:nvPr>
        </p:nvSpPr>
        <p:spPr>
          <a:xfrm>
            <a:off x="2556000" y="1487160"/>
            <a:ext cx="7007040" cy="3739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100000"/>
              </a:lnSpc>
              <a:spcAft>
                <a:spcPts val="1057"/>
              </a:spcAft>
              <a:buNone/>
              <a:tabLst>
                <a:tab algn="l" pos="0"/>
              </a:tabLst>
            </a:pPr>
            <a:r>
              <a:rPr b="1" lang="en-US" sz="1600" spc="-1" strike="noStrike">
                <a:solidFill>
                  <a:srgbClr val="c9211e"/>
                </a:solidFill>
                <a:latin typeface="Times New Roman"/>
              </a:rPr>
              <a:t>K</a:t>
            </a:r>
            <a:r>
              <a:rPr b="1" lang="en-US" sz="1600" spc="-1" strike="noStrike">
                <a:solidFill>
                  <a:srgbClr val="000000"/>
                </a:solidFill>
                <a:latin typeface="Times New Roman"/>
              </a:rPr>
              <a:t>okkos?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Aft>
                <a:spcPts val="1057"/>
              </a:spcAft>
              <a:buNone/>
              <a:tabLst>
                <a:tab algn="l" pos="0"/>
              </a:tabLst>
            </a:pPr>
            <a:r>
              <a:rPr b="1" lang="en-US" sz="1600" spc="-1" strike="noStrike">
                <a:solidFill>
                  <a:srgbClr val="c9211e"/>
                </a:solidFill>
                <a:latin typeface="Times New Roman"/>
              </a:rPr>
              <a:t>B</a:t>
            </a:r>
            <a:r>
              <a:rPr b="1" lang="en-US" sz="1600" spc="-1" strike="noStrike">
                <a:solidFill>
                  <a:srgbClr val="000000"/>
                </a:solidFill>
                <a:latin typeface="Times New Roman"/>
              </a:rPr>
              <a:t>asic Concepts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marL="360000" indent="-324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-US" sz="1600" spc="-1" strike="noStrike">
                <a:solidFill>
                  <a:srgbClr val="808080"/>
                </a:solidFill>
                <a:latin typeface="Times New Roman"/>
              </a:rPr>
              <a:t>Views,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marL="360000" indent="-324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-US" sz="1600" spc="-1" strike="noStrike">
                <a:solidFill>
                  <a:srgbClr val="808080"/>
                </a:solidFill>
                <a:latin typeface="Times New Roman"/>
              </a:rPr>
              <a:t>Memory spaces,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marL="360000" indent="-324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-US" sz="1600" spc="-1" strike="noStrike">
                <a:solidFill>
                  <a:srgbClr val="808080"/>
                </a:solidFill>
                <a:latin typeface="Times New Roman"/>
              </a:rPr>
              <a:t>Memory access patterns,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marL="360000" indent="-324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-US" sz="1600" spc="-1" strike="noStrike">
                <a:solidFill>
                  <a:srgbClr val="808080"/>
                </a:solidFill>
                <a:latin typeface="Times New Roman"/>
              </a:rPr>
              <a:t>Mirrors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marL="360000"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marL="360000" indent="0">
              <a:lnSpc>
                <a:spcPct val="100000"/>
              </a:lnSpc>
              <a:spcAft>
                <a:spcPts val="1057"/>
              </a:spcAft>
              <a:buNone/>
              <a:tabLst>
                <a:tab algn="l" pos="0"/>
              </a:tabLst>
            </a:pPr>
            <a:r>
              <a:rPr b="1" lang="en-US" sz="1600" spc="-1" strike="noStrike">
                <a:solidFill>
                  <a:srgbClr val="c9211e"/>
                </a:solidFill>
                <a:latin typeface="Times New Roman"/>
                <a:ea typeface="Songti SC"/>
              </a:rPr>
              <a:t>A</a:t>
            </a:r>
            <a:r>
              <a:rPr b="1" lang="en-US" sz="1600" spc="-1" strike="noStrike">
                <a:solidFill>
                  <a:srgbClr val="000000"/>
                </a:solidFill>
                <a:latin typeface="Times New Roman"/>
                <a:ea typeface="Songti SC"/>
              </a:rPr>
              <a:t>dvanced </a:t>
            </a:r>
            <a:r>
              <a:rPr b="1" lang="en-US" sz="1600" spc="-1" strike="noStrike">
                <a:solidFill>
                  <a:srgbClr val="c9211e"/>
                </a:solidFill>
                <a:latin typeface="Times New Roman"/>
                <a:ea typeface="Songti SC"/>
              </a:rPr>
              <a:t>C</a:t>
            </a:r>
            <a:r>
              <a:rPr b="1" lang="en-US" sz="1600" spc="-1" strike="noStrike">
                <a:solidFill>
                  <a:srgbClr val="000000"/>
                </a:solidFill>
                <a:latin typeface="Times New Roman"/>
                <a:ea typeface="Songti SC"/>
              </a:rPr>
              <a:t>oncepts 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marL="720000" indent="-324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-US" sz="1300" spc="-1" strike="noStrike">
                <a:solidFill>
                  <a:srgbClr val="000000"/>
                </a:solidFill>
                <a:latin typeface="Times New Roman"/>
                <a:ea typeface="Songti SC"/>
              </a:rPr>
              <a:t>Asynchronicity, Streams and Task Parallelism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marL="720000" indent="-324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-US" sz="1300" spc="-1" strike="noStrike">
                <a:solidFill>
                  <a:srgbClr val="000000"/>
                </a:solidFill>
                <a:latin typeface="Times New Roman"/>
                <a:ea typeface="Songti SC"/>
              </a:rPr>
              <a:t>Multi-level hierarchical parallelism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marL="720000" indent="-324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-US" sz="1300" spc="-1" strike="noStrike">
                <a:solidFill>
                  <a:srgbClr val="000000"/>
                </a:solidFill>
                <a:latin typeface="Times New Roman"/>
                <a:ea typeface="Songti SC"/>
              </a:rPr>
              <a:t>Multidimensional Loops and Data Structures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marL="720000" indent="-324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-US" sz="1300" spc="-1" strike="noStrike">
                <a:solidFill>
                  <a:srgbClr val="000000"/>
                </a:solidFill>
                <a:latin typeface="Times New Roman"/>
                <a:ea typeface="Songti SC"/>
              </a:rPr>
              <a:t>Advanced Reductions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marL="720000" indent="-324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-US" sz="1300" spc="-1" strike="noStrike">
                <a:solidFill>
                  <a:srgbClr val="808080"/>
                </a:solidFill>
                <a:latin typeface="Times New Roman"/>
                <a:ea typeface="Songti SC"/>
              </a:rPr>
              <a:t>MPI (Message Passing Interface) and PGAS (Partitioned Global Address Spaces)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marL="720000" indent="-324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-US" sz="1300" spc="-1" strike="noStrike">
                <a:solidFill>
                  <a:srgbClr val="808080"/>
                </a:solidFill>
                <a:latin typeface="Times New Roman"/>
                <a:ea typeface="Songti SC"/>
              </a:rPr>
              <a:t>SIM (Single Instruction Multiple Data) Task Flow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marL="743040" indent="0">
              <a:lnSpc>
                <a:spcPct val="100000"/>
              </a:lnSpc>
              <a:spcAft>
                <a:spcPts val="1057"/>
              </a:spcAft>
              <a:buNone/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marL="743040" indent="0">
              <a:lnSpc>
                <a:spcPct val="100000"/>
              </a:lnSpc>
              <a:spcAft>
                <a:spcPts val="1057"/>
              </a:spcAft>
              <a:buNone/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marL="743040" indent="0">
              <a:lnSpc>
                <a:spcPct val="100000"/>
              </a:lnSpc>
              <a:spcAft>
                <a:spcPts val="1057"/>
              </a:spcAft>
              <a:buNone/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marL="743040" indent="0">
              <a:lnSpc>
                <a:spcPct val="100000"/>
              </a:lnSpc>
              <a:spcAft>
                <a:spcPts val="1057"/>
              </a:spcAft>
              <a:buNone/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marL="267120" indent="0">
              <a:lnSpc>
                <a:spcPct val="115000"/>
              </a:lnSpc>
              <a:spcAft>
                <a:spcPts val="1236"/>
              </a:spcAft>
              <a:buNone/>
              <a:tabLst>
                <a:tab algn="l" pos="0"/>
              </a:tabLs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67120" indent="0">
              <a:lnSpc>
                <a:spcPct val="115000"/>
              </a:lnSpc>
              <a:spcAft>
                <a:spcPts val="1236"/>
              </a:spcAft>
              <a:buNone/>
              <a:tabLst>
                <a:tab algn="l" pos="0"/>
              </a:tabLs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67120" indent="0">
              <a:lnSpc>
                <a:spcPct val="115000"/>
              </a:lnSpc>
              <a:spcAft>
                <a:spcPts val="1236"/>
              </a:spcAft>
              <a:buNone/>
              <a:tabLst>
                <a:tab algn="l" pos="0"/>
              </a:tabLs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11160" indent="0">
              <a:lnSpc>
                <a:spcPct val="100000"/>
              </a:lnSpc>
              <a:spcAft>
                <a:spcPts val="1057"/>
              </a:spcAft>
              <a:buNone/>
              <a:tabLst>
                <a:tab algn="l" pos="0"/>
              </a:tabLst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marL="11160" indent="0">
              <a:lnSpc>
                <a:spcPct val="100000"/>
              </a:lnSpc>
              <a:spcAft>
                <a:spcPts val="1057"/>
              </a:spcAft>
              <a:buNone/>
              <a:tabLst>
                <a:tab algn="l" pos="0"/>
              </a:tabLst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marL="11160" indent="0">
              <a:lnSpc>
                <a:spcPct val="115000"/>
              </a:lnSpc>
              <a:spcAft>
                <a:spcPts val="1236"/>
              </a:spcAft>
              <a:buNone/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marL="11160" indent="0">
              <a:lnSpc>
                <a:spcPct val="115000"/>
              </a:lnSpc>
              <a:spcAft>
                <a:spcPts val="1236"/>
              </a:spcAft>
              <a:buNone/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63" name="Picture 2" descr=""/>
          <p:cNvPicPr/>
          <p:nvPr/>
        </p:nvPicPr>
        <p:blipFill>
          <a:blip r:embed="rId2"/>
          <a:srcRect l="5861" t="0" r="3730" b="0"/>
          <a:stretch/>
        </p:blipFill>
        <p:spPr>
          <a:xfrm>
            <a:off x="828000" y="2287800"/>
            <a:ext cx="1068840" cy="2636640"/>
          </a:xfrm>
          <a:prstGeom prst="rect">
            <a:avLst/>
          </a:prstGeom>
          <a:ln w="0">
            <a:noFill/>
          </a:ln>
        </p:spPr>
      </p:pic>
      <p:sp>
        <p:nvSpPr>
          <p:cNvPr id="164" name="Text Box 2"/>
          <p:cNvSpPr/>
          <p:nvPr/>
        </p:nvSpPr>
        <p:spPr>
          <a:xfrm>
            <a:off x="1167120" y="2103840"/>
            <a:ext cx="1406160" cy="466560"/>
          </a:xfrm>
          <a:custGeom>
            <a:avLst/>
            <a:gdLst>
              <a:gd name="textAreaLeft" fmla="*/ 0 w 1406160"/>
              <a:gd name="textAreaRight" fmla="*/ 1414080 w 1406160"/>
              <a:gd name="textAreaTop" fmla="*/ 0 h 466560"/>
              <a:gd name="textAreaBottom" fmla="*/ 474480 h 466560"/>
            </a:gdLst>
            <a:ah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>
              <a:lnSpc>
                <a:spcPct val="104000"/>
              </a:lnSpc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  <a:tab algn="l" pos="9601200"/>
                <a:tab algn="l" pos="10058400"/>
                <a:tab algn="l" pos="10515600"/>
              </a:tabLst>
            </a:pPr>
            <a:r>
              <a:rPr b="1" lang="en-US" sz="2000" spc="-1" strike="noStrike">
                <a:solidFill>
                  <a:srgbClr val="ff0000"/>
                </a:solidFill>
                <a:latin typeface="Source Sans Pro"/>
                <a:ea typeface="DejaVu Sans"/>
              </a:rPr>
              <a:t>G</a:t>
            </a:r>
            <a:r>
              <a:rPr b="1" lang="en-US" sz="2000" spc="-1" strike="noStrike">
                <a:solidFill>
                  <a:srgbClr val="000000"/>
                </a:solidFill>
                <a:latin typeface="Source Sans Pro"/>
                <a:ea typeface="DejaVu Sans"/>
              </a:rPr>
              <a:t>OAL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5" name="PlaceHolder 5"/>
          <p:cNvSpPr/>
          <p:nvPr/>
        </p:nvSpPr>
        <p:spPr>
          <a:xfrm>
            <a:off x="8460000" y="1296000"/>
            <a:ext cx="1499040" cy="49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>
              <a:lnSpc>
                <a:spcPct val="100000"/>
              </a:lnSpc>
              <a:spcAft>
                <a:spcPts val="1057"/>
              </a:spcAft>
              <a:tabLst>
                <a:tab algn="l" pos="0"/>
              </a:tabLst>
            </a:pPr>
            <a:r>
              <a:rPr b="1" lang="en-US" sz="1600" spc="-1" strike="noStrike">
                <a:solidFill>
                  <a:srgbClr val="0000ff"/>
                </a:solidFill>
                <a:latin typeface="Liberation Serif;Times New Roman"/>
                <a:ea typeface="Songti SC"/>
              </a:rPr>
              <a:t>S</a:t>
            </a:r>
            <a:r>
              <a:rPr b="1" lang="en-US" sz="1600" spc="-1" strike="noStrike">
                <a:solidFill>
                  <a:srgbClr val="000000"/>
                </a:solidFill>
                <a:latin typeface="Liberation Serif;Times New Roman"/>
                <a:ea typeface="Songti SC"/>
              </a:rPr>
              <a:t>ESSION 2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marL="259200">
              <a:lnSpc>
                <a:spcPct val="115000"/>
              </a:lnSpc>
              <a:spcAft>
                <a:spcPts val="1236"/>
              </a:spcAft>
              <a:tabLst>
                <a:tab algn="l" pos="0"/>
              </a:tabLs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59200">
              <a:lnSpc>
                <a:spcPct val="115000"/>
              </a:lnSpc>
              <a:spcAft>
                <a:spcPts val="1236"/>
              </a:spcAft>
              <a:tabLst>
                <a:tab algn="l" pos="0"/>
              </a:tabLs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11520">
              <a:lnSpc>
                <a:spcPct val="100000"/>
              </a:lnSpc>
              <a:spcAft>
                <a:spcPts val="1057"/>
              </a:spcAft>
              <a:tabLst>
                <a:tab algn="l" pos="0"/>
              </a:tabLst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marL="11520">
              <a:lnSpc>
                <a:spcPct val="100000"/>
              </a:lnSpc>
              <a:spcAft>
                <a:spcPts val="1057"/>
              </a:spcAft>
              <a:tabLst>
                <a:tab algn="l" pos="0"/>
              </a:tabLst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marL="11520">
              <a:lnSpc>
                <a:spcPct val="115000"/>
              </a:lnSpc>
              <a:spcAft>
                <a:spcPts val="1236"/>
              </a:spcAft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marL="11520">
              <a:lnSpc>
                <a:spcPct val="115000"/>
              </a:lnSpc>
              <a:spcAft>
                <a:spcPts val="1236"/>
              </a:spcAft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"/>
          <p:cNvSpPr/>
          <p:nvPr/>
        </p:nvSpPr>
        <p:spPr>
          <a:xfrm>
            <a:off x="2160000" y="2808000"/>
            <a:ext cx="6465960" cy="1415160"/>
          </a:xfrm>
          <a:prstGeom prst="rect">
            <a:avLst/>
          </a:prstGeom>
          <a:noFill/>
          <a:ln w="108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30000"/>
              </a:lnSpc>
              <a:spcBef>
                <a:spcPts val="479"/>
              </a:spcBef>
              <a:tabLst>
                <a:tab algn="l" pos="0"/>
              </a:tabLst>
            </a:pPr>
            <a:r>
              <a:rPr b="1" lang="en-US" sz="2200" spc="-12" strike="noStrike">
                <a:solidFill>
                  <a:srgbClr val="c9211e"/>
                </a:solidFill>
                <a:latin typeface="Arial"/>
                <a:ea typeface="DejaVu Sans"/>
              </a:rPr>
              <a:t>A</a:t>
            </a:r>
            <a:r>
              <a:rPr b="1" lang="en-US" sz="2200" spc="-12" strike="noStrike">
                <a:solidFill>
                  <a:srgbClr val="000000"/>
                </a:solidFill>
                <a:latin typeface="Arial"/>
                <a:ea typeface="DejaVu Sans"/>
              </a:rPr>
              <a:t>synchronicity</a:t>
            </a:r>
            <a:r>
              <a:rPr b="1" lang="en-US" sz="2200" spc="-12" strike="noStrike">
                <a:solidFill>
                  <a:srgbClr val="c9211e"/>
                </a:solidFill>
                <a:latin typeface="Arial"/>
                <a:ea typeface="DejaVu Sans"/>
              </a:rPr>
              <a:t>, S</a:t>
            </a:r>
            <a:r>
              <a:rPr b="1" lang="en-US" sz="2200" spc="-12" strike="noStrike">
                <a:solidFill>
                  <a:srgbClr val="000000"/>
                </a:solidFill>
                <a:latin typeface="Arial"/>
                <a:ea typeface="DejaVu Sans"/>
              </a:rPr>
              <a:t>treams</a:t>
            </a:r>
            <a:r>
              <a:rPr b="1" lang="en-US" sz="2200" spc="-12" strike="noStrike">
                <a:solidFill>
                  <a:srgbClr val="c9211e"/>
                </a:solidFill>
                <a:latin typeface="Arial"/>
                <a:ea typeface="DejaVu Sans"/>
              </a:rPr>
              <a:t> 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30000"/>
              </a:lnSpc>
              <a:spcBef>
                <a:spcPts val="479"/>
              </a:spcBef>
              <a:tabLst>
                <a:tab algn="l" pos="0"/>
              </a:tabLst>
            </a:pPr>
            <a:r>
              <a:rPr b="1" lang="en-US" sz="2200" spc="-12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1" lang="en-US" sz="2200" spc="-12" strike="noStrike">
                <a:solidFill>
                  <a:srgbClr val="c9211e"/>
                </a:solidFill>
                <a:latin typeface="Arial"/>
                <a:ea typeface="DejaVu Sans"/>
              </a:rPr>
              <a:t>P</a:t>
            </a:r>
            <a:r>
              <a:rPr b="1" lang="en-US" sz="2200" spc="-12" strike="noStrike">
                <a:solidFill>
                  <a:srgbClr val="000000"/>
                </a:solidFill>
                <a:latin typeface="Arial"/>
                <a:ea typeface="DejaVu Sans"/>
              </a:rPr>
              <a:t>arallelism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30000"/>
              </a:lnSpc>
              <a:spcBef>
                <a:spcPts val="479"/>
              </a:spcBef>
              <a:tabLst>
                <a:tab algn="l" pos="0"/>
              </a:tabLs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67" name="" descr=""/>
          <p:cNvPicPr/>
          <p:nvPr/>
        </p:nvPicPr>
        <p:blipFill>
          <a:blip r:embed="rId1"/>
          <a:stretch/>
        </p:blipFill>
        <p:spPr>
          <a:xfrm>
            <a:off x="2052000" y="2484720"/>
            <a:ext cx="1411920" cy="1395720"/>
          </a:xfrm>
          <a:prstGeom prst="rect">
            <a:avLst/>
          </a:prstGeom>
          <a:ln w="0">
            <a:noFill/>
          </a:ln>
          <a:effectLst>
            <a:outerShdw blurRad="0" dir="2700000" dist="101823" rotWithShape="0">
              <a:srgbClr val="bababa"/>
            </a:outerShdw>
          </a:effectLst>
        </p:spPr>
      </p:pic>
      <p:pic>
        <p:nvPicPr>
          <p:cNvPr id="168" name="" descr=""/>
          <p:cNvPicPr/>
          <p:nvPr/>
        </p:nvPicPr>
        <p:blipFill>
          <a:blip r:embed="rId2"/>
          <a:stretch/>
        </p:blipFill>
        <p:spPr>
          <a:xfrm>
            <a:off x="7505280" y="2509200"/>
            <a:ext cx="1163160" cy="1113840"/>
          </a:xfrm>
          <a:prstGeom prst="rect">
            <a:avLst/>
          </a:prstGeom>
          <a:ln w="0">
            <a:noFill/>
          </a:ln>
        </p:spPr>
      </p:pic>
      <p:pic>
        <p:nvPicPr>
          <p:cNvPr id="169" name="Cycles- 2" descr=""/>
          <p:cNvPicPr/>
          <p:nvPr/>
        </p:nvPicPr>
        <p:blipFill>
          <a:blip r:embed="rId3"/>
          <a:stretch/>
        </p:blipFill>
        <p:spPr>
          <a:xfrm>
            <a:off x="7243200" y="2193120"/>
            <a:ext cx="1708920" cy="16830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"/>
          <p:cNvSpPr/>
          <p:nvPr/>
        </p:nvSpPr>
        <p:spPr>
          <a:xfrm>
            <a:off x="283320" y="900000"/>
            <a:ext cx="9973800" cy="4135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n-US" sz="14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Asynchronicity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- Allows non-blocking execution of tasks or kernels.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- Allows overlapping of computations and communications for better resource utilization.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14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Stream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- Independent execution queues for kernel scheduling.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- Useful for running unrelated tasks simultaneously on GPUs or CPUs.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14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Task Parallelism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- Manages tasks with dependencies using a task DAG (Directed Acyclic Graph).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- Tasks are scheduled dynamically based on their dependencies.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- Main features: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marL="360000">
              <a:lnSpc>
                <a:spcPct val="100000"/>
              </a:lnSpc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- `TaskPolicy`: Defines the allocation and scheduling of tasks.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marL="360000">
              <a:lnSpc>
                <a:spcPct val="100000"/>
              </a:lnSpc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- `Future`: represents the result of a task, allowing the management of dependencies.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marL="360000">
              <a:lnSpc>
                <a:spcPct val="100000"/>
              </a:lnSpc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marL="360000">
              <a:lnSpc>
                <a:spcPct val="100000"/>
              </a:lnSpc>
            </a:pPr>
            <a:r>
              <a:rPr b="1" lang="en-US" sz="14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Benefits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marL="360000">
              <a:lnSpc>
                <a:spcPct val="100000"/>
              </a:lnSpc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- Performance: overlap execution to maximize hardware usage.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marL="360000">
              <a:lnSpc>
                <a:spcPct val="100000"/>
              </a:lnSpc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marL="360000">
              <a:lnSpc>
                <a:spcPct val="100000"/>
              </a:lnSpc>
            </a:pP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71" name="" descr=""/>
          <p:cNvPicPr/>
          <p:nvPr/>
        </p:nvPicPr>
        <p:blipFill>
          <a:blip r:embed="rId1"/>
          <a:stretch/>
        </p:blipFill>
        <p:spPr>
          <a:xfrm>
            <a:off x="7992000" y="1620000"/>
            <a:ext cx="1725120" cy="1725120"/>
          </a:xfrm>
          <a:prstGeom prst="rect">
            <a:avLst/>
          </a:prstGeom>
          <a:ln w="0">
            <a:noFill/>
          </a:ln>
        </p:spPr>
      </p:pic>
      <p:sp>
        <p:nvSpPr>
          <p:cNvPr id="172" name="PlaceHolder 7"/>
          <p:cNvSpPr/>
          <p:nvPr/>
        </p:nvSpPr>
        <p:spPr>
          <a:xfrm>
            <a:off x="275040" y="222480"/>
            <a:ext cx="7282080" cy="463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3320" bIns="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2000" spc="-12" strike="noStrike">
                <a:solidFill>
                  <a:srgbClr val="050505"/>
                </a:solidFill>
                <a:latin typeface="Arial"/>
                <a:ea typeface="DejaVu Sans"/>
              </a:rPr>
              <a:t>Kokkos: </a:t>
            </a:r>
            <a:r>
              <a:rPr b="1" lang="en-US" sz="2000" spc="-1" strike="noStrike">
                <a:solidFill>
                  <a:srgbClr val="000000"/>
                </a:solidFill>
                <a:latin typeface="Arial"/>
                <a:ea typeface="DejaVu Sans"/>
              </a:rPr>
              <a:t>Asynchronicity, streams and parallelism of tasks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PlaceHolder 11"/>
          <p:cNvSpPr/>
          <p:nvPr/>
        </p:nvSpPr>
        <p:spPr>
          <a:xfrm>
            <a:off x="271080" y="222480"/>
            <a:ext cx="7282080" cy="463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3320" bIns="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2000" spc="-12" strike="noStrike">
                <a:solidFill>
                  <a:srgbClr val="050505"/>
                </a:solidFill>
                <a:latin typeface="Arial"/>
                <a:ea typeface="DejaVu Sans"/>
              </a:rPr>
              <a:t>Kokkos: </a:t>
            </a:r>
            <a:r>
              <a:rPr b="1" lang="en-US" sz="2000" spc="-1" strike="noStrike">
                <a:solidFill>
                  <a:srgbClr val="000000"/>
                </a:solidFill>
                <a:latin typeface="Arial"/>
                <a:ea typeface="DejaVu Sans"/>
              </a:rPr>
              <a:t>Asynchronicity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4" name=""/>
          <p:cNvSpPr/>
          <p:nvPr/>
        </p:nvSpPr>
        <p:spPr>
          <a:xfrm>
            <a:off x="635040" y="1234800"/>
            <a:ext cx="8906040" cy="320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To perform an asynchronous operation: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marL="360000">
              <a:lnSpc>
                <a:spcPct val="100000"/>
              </a:lnSpc>
            </a:pPr>
            <a:r>
              <a:rPr b="1" lang="en-US" sz="14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Kokkos::parallel_for</a:t>
            </a:r>
            <a:r>
              <a:rPr b="0" lang="en-US" sz="14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("AsyncExample", N, KOKKOS_LAMBDA(const int i) {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marL="360000">
              <a:lnSpc>
                <a:spcPct val="100000"/>
              </a:lnSpc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    </a:t>
            </a:r>
            <a:r>
              <a:rPr b="1" i="1" lang="en-US" sz="1400" spc="-1" strike="noStrike">
                <a:solidFill>
                  <a:srgbClr val="c9211e"/>
                </a:solidFill>
                <a:latin typeface="Times New Roman"/>
                <a:ea typeface="DejaVu Sans"/>
              </a:rPr>
              <a:t>// Parallel computing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marL="360000">
              <a:lnSpc>
                <a:spcPct val="100000"/>
              </a:lnSpc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    </a:t>
            </a:r>
            <a:r>
              <a:rPr b="0" lang="en-US" sz="14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data(i) = compute_value(i);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marL="360000">
              <a:lnSpc>
                <a:spcPct val="100000"/>
              </a:lnSpc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});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marL="360000">
              <a:lnSpc>
                <a:spcPct val="100000"/>
              </a:lnSpc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marL="360000">
              <a:lnSpc>
                <a:spcPct val="100000"/>
              </a:lnSpc>
            </a:pPr>
            <a:r>
              <a:rPr b="1" i="1" lang="en-US" sz="1400" spc="-1" strike="noStrike">
                <a:solidFill>
                  <a:srgbClr val="c9211e"/>
                </a:solidFill>
                <a:latin typeface="Times New Roman"/>
                <a:ea typeface="DejaVu Sans"/>
              </a:rPr>
              <a:t>// Explicit synchronization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marL="360000">
              <a:lnSpc>
                <a:spcPct val="100000"/>
              </a:lnSpc>
            </a:pPr>
            <a:r>
              <a:rPr b="1" lang="en-US" sz="14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Kokkos::fence</a:t>
            </a:r>
            <a:r>
              <a:rPr b="0" lang="en-US" sz="14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();</a:t>
            </a:r>
            <a:r>
              <a:rPr b="1" i="1" lang="en-US" sz="1400" spc="-1" strike="noStrike">
                <a:solidFill>
                  <a:srgbClr val="c9211e"/>
                </a:solidFill>
                <a:latin typeface="Times New Roman"/>
                <a:ea typeface="DejaVu Sans"/>
              </a:rPr>
              <a:t>// Wait for all previous operations to complete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marL="360000">
              <a:lnSpc>
                <a:spcPct val="100000"/>
              </a:lnSpc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marL="360000">
              <a:lnSpc>
                <a:spcPct val="100000"/>
              </a:lnSpc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marL="360000">
              <a:lnSpc>
                <a:spcPct val="100000"/>
              </a:lnSpc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The call to `</a:t>
            </a:r>
            <a:r>
              <a:rPr b="1" lang="en-US" sz="14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Kokkos::fence</a:t>
            </a:r>
            <a:r>
              <a:rPr b="0" lang="en-US" sz="14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` ensures that all previous asynchronous operations are completed before continuing.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75" name="Section-Cubes- 7" descr=""/>
          <p:cNvPicPr/>
          <p:nvPr/>
        </p:nvPicPr>
        <p:blipFill>
          <a:blip r:embed="rId1"/>
          <a:stretch/>
        </p:blipFill>
        <p:spPr>
          <a:xfrm>
            <a:off x="8928720" y="4243320"/>
            <a:ext cx="1185840" cy="1150560"/>
          </a:xfrm>
          <a:prstGeom prst="rect">
            <a:avLst/>
          </a:prstGeom>
          <a:ln w="0">
            <a:noFill/>
          </a:ln>
          <a:effectLst>
            <a:outerShdw blurRad="0" dir="2700000" dist="101823" rotWithShape="0">
              <a:srgbClr val="d0d0d0"/>
            </a:outerShdw>
          </a:effectLst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PlaceHolder 14"/>
          <p:cNvSpPr/>
          <p:nvPr/>
        </p:nvSpPr>
        <p:spPr>
          <a:xfrm>
            <a:off x="271080" y="222480"/>
            <a:ext cx="7282080" cy="463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3320" bIns="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2000" spc="-12" strike="noStrike">
                <a:solidFill>
                  <a:srgbClr val="050505"/>
                </a:solidFill>
                <a:latin typeface="Arial"/>
                <a:ea typeface="DejaVu Sans"/>
              </a:rPr>
              <a:t>Kokkos</a:t>
            </a:r>
            <a:r>
              <a:rPr b="1" lang="en-US" sz="2000" spc="-1" strike="noStrike">
                <a:solidFill>
                  <a:srgbClr val="000000"/>
                </a:solidFill>
                <a:latin typeface="Arial"/>
                <a:ea typeface="DejaVu Sans"/>
              </a:rPr>
              <a:t>: Streams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7" name=""/>
          <p:cNvSpPr/>
          <p:nvPr/>
        </p:nvSpPr>
        <p:spPr>
          <a:xfrm>
            <a:off x="311400" y="960480"/>
            <a:ext cx="9434880" cy="3822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To organize multiple independent operation streams, one can use specific execution spaces with their own queues. For example, with CUDA the same thing for HIP: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marL="360000">
              <a:lnSpc>
                <a:spcPct val="100000"/>
              </a:lnSpc>
            </a:pPr>
            <a:r>
              <a:rPr b="0" lang="en-US" sz="13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Kokkos::Cuda </a:t>
            </a:r>
            <a:r>
              <a:rPr b="1" lang="en-US" sz="1300" spc="-1" strike="noStrike">
                <a:solidFill>
                  <a:srgbClr val="5983b0"/>
                </a:solidFill>
                <a:latin typeface="Times New Roman"/>
                <a:ea typeface="DejaVu Sans"/>
              </a:rPr>
              <a:t>instance1</a:t>
            </a:r>
            <a:r>
              <a:rPr b="0" lang="en-US" sz="13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;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marL="360000">
              <a:lnSpc>
                <a:spcPct val="100000"/>
              </a:lnSpc>
            </a:pPr>
            <a:r>
              <a:rPr b="0" lang="en-US" sz="13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Kokkos::Cuda </a:t>
            </a:r>
            <a:r>
              <a:rPr b="1" lang="en-US" sz="1300" spc="-1" strike="noStrike">
                <a:solidFill>
                  <a:srgbClr val="127622"/>
                </a:solidFill>
                <a:latin typeface="Times New Roman"/>
                <a:ea typeface="DejaVu Sans"/>
              </a:rPr>
              <a:t>instance2</a:t>
            </a:r>
            <a:r>
              <a:rPr b="0" lang="en-US" sz="13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;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marL="360000">
              <a:lnSpc>
                <a:spcPct val="100000"/>
              </a:lnSpc>
            </a:pP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marL="360000">
              <a:lnSpc>
                <a:spcPct val="100000"/>
              </a:lnSpc>
            </a:pPr>
            <a:r>
              <a:rPr b="1" lang="en-US" sz="13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Kokkos::parallel_for</a:t>
            </a:r>
            <a:r>
              <a:rPr b="0" lang="en-US" sz="13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("Stream1", Kokkos::RangePolicy&lt;Kokkos::Cuda&gt;(</a:t>
            </a:r>
            <a:r>
              <a:rPr b="1" lang="en-US" sz="1300" spc="-1" strike="noStrike">
                <a:solidFill>
                  <a:srgbClr val="5983b0"/>
                </a:solidFill>
                <a:latin typeface="Times New Roman"/>
                <a:ea typeface="DejaVu Sans"/>
              </a:rPr>
              <a:t>instance1</a:t>
            </a:r>
            <a:r>
              <a:rPr b="0" lang="en-US" sz="13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, 0, N), KOKKOS_LAMBDA(const int i) {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marL="360000">
              <a:lnSpc>
                <a:spcPct val="100000"/>
              </a:lnSpc>
            </a:pPr>
            <a:r>
              <a:rPr b="0" lang="en-US" sz="13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    </a:t>
            </a:r>
            <a:r>
              <a:rPr b="1" i="1" lang="en-US" sz="1300" spc="-1" strike="noStrike">
                <a:solidFill>
                  <a:srgbClr val="d62e4e"/>
                </a:solidFill>
                <a:latin typeface="Times New Roman"/>
                <a:ea typeface="DejaVu Sans"/>
              </a:rPr>
              <a:t>// Calculation on flow 1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marL="360000">
              <a:lnSpc>
                <a:spcPct val="100000"/>
              </a:lnSpc>
            </a:pPr>
            <a:r>
              <a:rPr b="0" lang="en-US" sz="13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    </a:t>
            </a:r>
            <a:r>
              <a:rPr b="0" lang="en-US" sz="13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data1(i) = compute_value1(i);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marL="360000">
              <a:lnSpc>
                <a:spcPct val="100000"/>
              </a:lnSpc>
            </a:pPr>
            <a:r>
              <a:rPr b="0" lang="en-US" sz="13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});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marL="360000">
              <a:lnSpc>
                <a:spcPct val="100000"/>
              </a:lnSpc>
            </a:pP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marL="360000">
              <a:lnSpc>
                <a:spcPct val="100000"/>
              </a:lnSpc>
            </a:pPr>
            <a:r>
              <a:rPr b="1" lang="en-US" sz="13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Kokkos::parallel_for</a:t>
            </a:r>
            <a:r>
              <a:rPr b="0" lang="en-US" sz="13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("Stream2", Kokkos::RangePolicy&lt;Kokkos::Cuda&gt;</a:t>
            </a:r>
            <a:r>
              <a:rPr b="1" lang="en-US" sz="1300" spc="-1" strike="noStrike">
                <a:solidFill>
                  <a:srgbClr val="127622"/>
                </a:solidFill>
                <a:latin typeface="Times New Roman"/>
                <a:ea typeface="DejaVu Sans"/>
              </a:rPr>
              <a:t>(instance2</a:t>
            </a:r>
            <a:r>
              <a:rPr b="0" lang="en-US" sz="13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, 0, N), KOKKOS_LAMBDA(const int i) {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marL="360000">
              <a:lnSpc>
                <a:spcPct val="100000"/>
              </a:lnSpc>
            </a:pPr>
            <a:r>
              <a:rPr b="0" lang="en-US" sz="13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    </a:t>
            </a:r>
            <a:r>
              <a:rPr b="1" i="1" lang="en-US" sz="1300" spc="-1" strike="noStrike">
                <a:solidFill>
                  <a:srgbClr val="d62e4e"/>
                </a:solidFill>
                <a:latin typeface="Times New Roman"/>
                <a:ea typeface="DejaVu Sans"/>
              </a:rPr>
              <a:t>// Calculation on flow 2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marL="360000">
              <a:lnSpc>
                <a:spcPct val="100000"/>
              </a:lnSpc>
            </a:pPr>
            <a:r>
              <a:rPr b="0" lang="en-US" sz="13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    </a:t>
            </a:r>
            <a:r>
              <a:rPr b="0" lang="en-US" sz="13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data2(i) = compute_value2(i);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marL="360000">
              <a:lnSpc>
                <a:spcPct val="100000"/>
              </a:lnSpc>
            </a:pPr>
            <a:r>
              <a:rPr b="0" lang="en-US" sz="13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});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marL="360000">
              <a:lnSpc>
                <a:spcPct val="100000"/>
              </a:lnSpc>
            </a:pP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marL="360000">
              <a:lnSpc>
                <a:spcPct val="100000"/>
              </a:lnSpc>
            </a:pPr>
            <a:r>
              <a:rPr b="1" i="1" lang="en-US" sz="1300" spc="-1" strike="noStrike">
                <a:solidFill>
                  <a:srgbClr val="c9211e"/>
                </a:solidFill>
                <a:latin typeface="Times New Roman"/>
                <a:ea typeface="DejaVu Sans"/>
              </a:rPr>
              <a:t>// Explicit synchronization for each stream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marL="360000">
              <a:lnSpc>
                <a:spcPct val="100000"/>
              </a:lnSpc>
            </a:pPr>
            <a:r>
              <a:rPr b="0" lang="en-US" sz="13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instance1.fence();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marL="360000">
              <a:lnSpc>
                <a:spcPct val="100000"/>
              </a:lnSpc>
            </a:pPr>
            <a:r>
              <a:rPr b="0" lang="en-US" sz="13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instance2.fence();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8" name=""/>
          <p:cNvSpPr/>
          <p:nvPr/>
        </p:nvSpPr>
        <p:spPr>
          <a:xfrm>
            <a:off x="4264920" y="4076280"/>
            <a:ext cx="4155480" cy="63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i="1" lang="en-US" sz="13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Here, two independent streams (`instance1` and `instance2`) allow the simultaneous execution of two sets of parallel operations.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PlaceHolder 15"/>
          <p:cNvSpPr/>
          <p:nvPr/>
        </p:nvSpPr>
        <p:spPr>
          <a:xfrm>
            <a:off x="267120" y="222480"/>
            <a:ext cx="7282080" cy="463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3320" bIns="0" anchor="t">
            <a:noAutofit/>
          </a:bodyPr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algn="l" pos="0"/>
              </a:tabLst>
            </a:pPr>
            <a:r>
              <a:rPr b="1" lang="en-US" sz="2000" spc="-12" strike="noStrike">
                <a:solidFill>
                  <a:srgbClr val="050505"/>
                </a:solidFill>
                <a:latin typeface="Arial"/>
                <a:ea typeface="DejaVu Sans"/>
              </a:rPr>
              <a:t>Kokkos</a:t>
            </a:r>
            <a:r>
              <a:rPr b="1" lang="en-US" sz="2000" spc="-1" strike="noStrike">
                <a:solidFill>
                  <a:srgbClr val="000000"/>
                </a:solidFill>
                <a:latin typeface="Arial"/>
                <a:ea typeface="DejaVu Sans"/>
              </a:rPr>
              <a:t>: Task parallelism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0" name=""/>
          <p:cNvSpPr/>
          <p:nvPr/>
        </p:nvSpPr>
        <p:spPr>
          <a:xfrm>
            <a:off x="233280" y="999000"/>
            <a:ext cx="9541440" cy="369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3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Task Parallelism in Kokkos is managed through the task system.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i="1" lang="en-US" sz="1300" spc="-1" strike="noStrike">
                <a:solidFill>
                  <a:srgbClr val="c9211e"/>
                </a:solidFill>
                <a:latin typeface="Times New Roman"/>
                <a:ea typeface="DejaVu Sans"/>
              </a:rPr>
              <a:t>// Initialize the task pool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3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auto </a:t>
            </a:r>
            <a:r>
              <a:rPr b="1" lang="en-US" sz="1300" spc="-1" strike="noStrike">
                <a:solidFill>
                  <a:srgbClr val="069a2e"/>
                </a:solidFill>
                <a:latin typeface="Times New Roman"/>
                <a:ea typeface="DejaVu Sans"/>
              </a:rPr>
              <a:t>task_policy</a:t>
            </a:r>
            <a:r>
              <a:rPr b="0" lang="en-US" sz="13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=</a:t>
            </a:r>
            <a:r>
              <a:rPr b="1" lang="en-US" sz="13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Kokkos::TaskScheduler</a:t>
            </a:r>
            <a:r>
              <a:rPr b="0" lang="en-US" sz="13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&lt;Kokkos::DefaultExecutionSpace&gt;(1024 * 1024);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i="1" lang="en-US" sz="1300" spc="-1" strike="noStrike">
                <a:solidFill>
                  <a:srgbClr val="c9211e"/>
                </a:solidFill>
                <a:latin typeface="Times New Roman"/>
                <a:ea typeface="DejaVu Sans"/>
              </a:rPr>
              <a:t>// Definition of a simple task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3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auto </a:t>
            </a:r>
            <a:r>
              <a:rPr b="1" lang="en-US" sz="1300" spc="-1" strike="noStrike">
                <a:solidFill>
                  <a:srgbClr val="3465a4"/>
                </a:solidFill>
                <a:latin typeface="Times New Roman"/>
                <a:ea typeface="DejaVu Sans"/>
              </a:rPr>
              <a:t>task</a:t>
            </a:r>
            <a:r>
              <a:rPr b="0" lang="en-US" sz="13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=</a:t>
            </a:r>
            <a:r>
              <a:rPr b="1" lang="en-US" sz="13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Kokkos::host_spawn</a:t>
            </a:r>
            <a:r>
              <a:rPr b="0" lang="en-US" sz="13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(Kokkos::TaskSingle(</a:t>
            </a:r>
            <a:r>
              <a:rPr b="1" lang="en-US" sz="1300" spc="-1" strike="noStrike">
                <a:solidFill>
                  <a:srgbClr val="069a2e"/>
                </a:solidFill>
                <a:latin typeface="Times New Roman"/>
                <a:ea typeface="DejaVu Sans"/>
              </a:rPr>
              <a:t>task_policy</a:t>
            </a:r>
            <a:r>
              <a:rPr b="0" lang="en-US" sz="13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), []() {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3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    </a:t>
            </a:r>
            <a:r>
              <a:rPr b="0" lang="en-US" sz="13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printf("Task executed\n");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3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});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i="1" lang="en-US" sz="1300" spc="-1" strike="noStrike">
                <a:solidFill>
                  <a:srgbClr val="c9211e"/>
                </a:solidFill>
                <a:latin typeface="Times New Roman"/>
                <a:ea typeface="DejaVu Sans"/>
              </a:rPr>
              <a:t>// Scheduling a dependent task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3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auto </a:t>
            </a:r>
            <a:r>
              <a:rPr b="1" lang="en-US" sz="1300" spc="-1" strike="noStrike">
                <a:solidFill>
                  <a:srgbClr val="780373"/>
                </a:solidFill>
                <a:latin typeface="Times New Roman"/>
                <a:ea typeface="DejaVu Sans"/>
              </a:rPr>
              <a:t>dependent_task</a:t>
            </a:r>
            <a:r>
              <a:rPr b="0" lang="en-US" sz="13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=</a:t>
            </a:r>
            <a:r>
              <a:rPr b="1" lang="en-US" sz="13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Kokkos::host_spawn</a:t>
            </a:r>
            <a:r>
              <a:rPr b="0" lang="en-US" sz="13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(Kokkos::TaskSingle(task_policy).depends_on(</a:t>
            </a:r>
            <a:r>
              <a:rPr b="1" lang="en-US" sz="1300" spc="-1" strike="noStrike">
                <a:solidFill>
                  <a:srgbClr val="3465a4"/>
                </a:solidFill>
                <a:latin typeface="Times New Roman"/>
                <a:ea typeface="DejaVu Sans"/>
              </a:rPr>
              <a:t>task</a:t>
            </a:r>
            <a:r>
              <a:rPr b="0" lang="en-US" sz="13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), []() {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3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    </a:t>
            </a:r>
            <a:r>
              <a:rPr b="0" lang="en-US" sz="13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printf("Dependent task executed\n");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3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});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i="1" lang="en-US" sz="1300" spc="-1" strike="noStrike">
                <a:solidFill>
                  <a:srgbClr val="c9211e"/>
                </a:solidFill>
                <a:latin typeface="Times New Roman"/>
                <a:ea typeface="DejaVu Sans"/>
              </a:rPr>
              <a:t>// Execution of scheduled tasks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3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Kokkos::wait(</a:t>
            </a:r>
            <a:r>
              <a:rPr b="1" lang="en-US" sz="1300" spc="-1" strike="noStrike">
                <a:solidFill>
                  <a:srgbClr val="069a2e"/>
                </a:solidFill>
                <a:latin typeface="Times New Roman"/>
                <a:ea typeface="DejaVu Sans"/>
              </a:rPr>
              <a:t>task_policy</a:t>
            </a:r>
            <a:r>
              <a:rPr b="0" lang="en-US" sz="13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);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81" name="Section-Cubes- 5" descr=""/>
          <p:cNvPicPr/>
          <p:nvPr/>
        </p:nvPicPr>
        <p:blipFill>
          <a:blip r:embed="rId1"/>
          <a:stretch/>
        </p:blipFill>
        <p:spPr>
          <a:xfrm>
            <a:off x="8928720" y="4243320"/>
            <a:ext cx="1185840" cy="1150560"/>
          </a:xfrm>
          <a:prstGeom prst="rect">
            <a:avLst/>
          </a:prstGeom>
          <a:ln w="0">
            <a:noFill/>
          </a:ln>
          <a:effectLst>
            <a:outerShdw blurRad="0" dir="2700000" dist="101823" rotWithShape="0">
              <a:srgbClr val="d0d0d0"/>
            </a:outerShdw>
          </a:effectLst>
        </p:spPr>
      </p:pic>
      <p:sp>
        <p:nvSpPr>
          <p:cNvPr id="182" name=""/>
          <p:cNvSpPr/>
          <p:nvPr/>
        </p:nvSpPr>
        <p:spPr>
          <a:xfrm>
            <a:off x="3731760" y="3874320"/>
            <a:ext cx="4972680" cy="76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2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In this example: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2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- A task is defined and scheduled with `</a:t>
            </a:r>
            <a:r>
              <a:rPr b="1" lang="en-US" sz="12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host_spawn</a:t>
            </a:r>
            <a:r>
              <a:rPr b="0" lang="en-US" sz="12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`.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2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- A second task is created with an explicit dependency on the first.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2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- `Kokkos::wait` is used to wait until all tasks are completed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PlaceHolder 12"/>
          <p:cNvSpPr/>
          <p:nvPr/>
        </p:nvSpPr>
        <p:spPr>
          <a:xfrm>
            <a:off x="267120" y="222480"/>
            <a:ext cx="7282080" cy="463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3320" bIns="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2000" spc="-12" strike="noStrike">
                <a:solidFill>
                  <a:srgbClr val="050505"/>
                </a:solidFill>
                <a:latin typeface="Arial"/>
                <a:ea typeface="DejaVu Sans"/>
              </a:rPr>
              <a:t>Kokkos: </a:t>
            </a:r>
            <a:r>
              <a:rPr b="1" lang="en-US" sz="2000" spc="-1" strike="noStrike">
                <a:solidFill>
                  <a:srgbClr val="000000"/>
                </a:solidFill>
                <a:latin typeface="Arial"/>
                <a:ea typeface="DejaVu Sans"/>
              </a:rPr>
              <a:t>Combination of the three concepts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4" name=""/>
          <p:cNvSpPr/>
          <p:nvPr/>
        </p:nvSpPr>
        <p:spPr>
          <a:xfrm>
            <a:off x="335160" y="790920"/>
            <a:ext cx="8300160" cy="423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3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Kokkos::Cuda </a:t>
            </a:r>
            <a:r>
              <a:rPr b="1" lang="en-US" sz="1300" spc="-1" strike="noStrike">
                <a:solidFill>
                  <a:srgbClr val="ea7500"/>
                </a:solidFill>
                <a:latin typeface="Times New Roman"/>
                <a:ea typeface="DejaVu Sans"/>
              </a:rPr>
              <a:t>instance;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3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auto </a:t>
            </a:r>
            <a:r>
              <a:rPr b="1" lang="en-US" sz="1300" spc="-1" strike="noStrike">
                <a:solidFill>
                  <a:srgbClr val="069a2e"/>
                </a:solidFill>
                <a:latin typeface="Times New Roman"/>
                <a:ea typeface="DejaVu Sans"/>
              </a:rPr>
              <a:t>task_policy</a:t>
            </a:r>
            <a:r>
              <a:rPr b="0" lang="en-US" sz="13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=</a:t>
            </a:r>
            <a:r>
              <a:rPr b="1" lang="en-US" sz="13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Kokkos::TaskScheduler</a:t>
            </a:r>
            <a:r>
              <a:rPr b="0" lang="en-US" sz="13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&lt;Kokkos::Cuda&gt;(1024 * 1024);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3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auto </a:t>
            </a:r>
            <a:r>
              <a:rPr b="1" lang="en-US" sz="1300" spc="-1" strike="noStrike">
                <a:solidFill>
                  <a:srgbClr val="3465a4"/>
                </a:solidFill>
                <a:latin typeface="Times New Roman"/>
                <a:ea typeface="DejaVu Sans"/>
              </a:rPr>
              <a:t>task1</a:t>
            </a:r>
            <a:r>
              <a:rPr b="0" lang="en-US" sz="13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=</a:t>
            </a:r>
            <a:r>
              <a:rPr b="1" lang="en-US" sz="13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Kokkos::host_spawn</a:t>
            </a:r>
            <a:r>
              <a:rPr b="0" lang="en-US" sz="13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(Kokkos::TaskSingle(</a:t>
            </a:r>
            <a:r>
              <a:rPr b="1" lang="en-US" sz="1300" spc="-1" strike="noStrike">
                <a:solidFill>
                  <a:srgbClr val="168253"/>
                </a:solidFill>
                <a:latin typeface="Times New Roman"/>
                <a:ea typeface="DejaVu Sans"/>
              </a:rPr>
              <a:t>task_policy</a:t>
            </a:r>
            <a:r>
              <a:rPr b="0" lang="en-US" sz="13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), []() {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3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    </a:t>
            </a:r>
            <a:r>
              <a:rPr b="0" lang="en-US" sz="13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printf("Task 1 on GPU\n");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3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});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3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auto </a:t>
            </a:r>
            <a:r>
              <a:rPr b="1" lang="en-US" sz="1300" spc="-1" strike="noStrike">
                <a:solidFill>
                  <a:srgbClr val="8d1d75"/>
                </a:solidFill>
                <a:latin typeface="Times New Roman"/>
                <a:ea typeface="DejaVu Sans"/>
              </a:rPr>
              <a:t>task2</a:t>
            </a:r>
            <a:r>
              <a:rPr b="0" lang="en-US" sz="13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=</a:t>
            </a:r>
            <a:r>
              <a:rPr b="1" lang="en-US" sz="13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Kokkos::host_spawn</a:t>
            </a:r>
            <a:r>
              <a:rPr b="0" lang="en-US" sz="13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(Kokkos::TaskSingle(</a:t>
            </a:r>
            <a:r>
              <a:rPr b="1" lang="en-US" sz="1300" spc="-1" strike="noStrike">
                <a:solidFill>
                  <a:srgbClr val="069a2e"/>
                </a:solidFill>
                <a:latin typeface="Times New Roman"/>
                <a:ea typeface="DejaVu Sans"/>
              </a:rPr>
              <a:t>task_policy</a:t>
            </a:r>
            <a:r>
              <a:rPr b="0" lang="en-US" sz="13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).depends_on</a:t>
            </a:r>
            <a:r>
              <a:rPr b="1" lang="en-US" sz="1300" spc="-1" strike="noStrike">
                <a:solidFill>
                  <a:srgbClr val="3465a4"/>
                </a:solidFill>
                <a:latin typeface="Times New Roman"/>
                <a:ea typeface="DejaVu Sans"/>
              </a:rPr>
              <a:t>(task1</a:t>
            </a:r>
            <a:r>
              <a:rPr b="0" lang="en-US" sz="13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), []() {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3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    </a:t>
            </a:r>
            <a:r>
              <a:rPr b="0" lang="en-US" sz="13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printf("Task 2 dependent on GPU\n");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3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});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13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Kokkos::parallel_fo</a:t>
            </a:r>
            <a:r>
              <a:rPr b="0" lang="en-US" sz="13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r("AsyncParallel", Kokkos::RangePolicy&lt;Kokkos::Cuda&gt;(</a:t>
            </a:r>
            <a:r>
              <a:rPr b="1" lang="en-US" sz="1300" spc="-1" strike="noStrike">
                <a:solidFill>
                  <a:srgbClr val="ea7500"/>
                </a:solidFill>
                <a:latin typeface="Times New Roman"/>
                <a:ea typeface="DejaVu Sans"/>
              </a:rPr>
              <a:t>instance</a:t>
            </a:r>
            <a:r>
              <a:rPr b="0" lang="en-US" sz="13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, 0, N), KOKKOS_LAMBDA(const int i) {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3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   </a:t>
            </a:r>
            <a:r>
              <a:rPr b="0" i="1" lang="en-US" sz="13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 </a:t>
            </a:r>
            <a:r>
              <a:rPr b="1" i="1" lang="en-US" sz="1300" spc="-1" strike="noStrike">
                <a:solidFill>
                  <a:srgbClr val="c9211e"/>
                </a:solidFill>
                <a:latin typeface="Times New Roman"/>
                <a:ea typeface="DejaVu Sans"/>
              </a:rPr>
              <a:t>// Independent parallel computing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3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    </a:t>
            </a:r>
            <a:r>
              <a:rPr b="0" lang="en-US" sz="13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data(i) = compute_value(i);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3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});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i="1" lang="en-US" sz="1300" spc="-1" strike="noStrike">
                <a:solidFill>
                  <a:srgbClr val="c9211e"/>
                </a:solidFill>
                <a:latin typeface="Times New Roman"/>
                <a:ea typeface="DejaVu Sans"/>
              </a:rPr>
              <a:t>// Global synchronization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1300" spc="-1" strike="noStrike">
                <a:solidFill>
                  <a:srgbClr val="ea7500"/>
                </a:solidFill>
                <a:latin typeface="Times New Roman"/>
                <a:ea typeface="DejaVu Sans"/>
              </a:rPr>
              <a:t>instance</a:t>
            </a:r>
            <a:r>
              <a:rPr b="0" lang="en-US" sz="13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.fence();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3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Kokkos::wait(</a:t>
            </a:r>
            <a:r>
              <a:rPr b="1" lang="en-US" sz="1300" spc="-1" strike="noStrike">
                <a:solidFill>
                  <a:srgbClr val="168253"/>
                </a:solidFill>
                <a:latin typeface="Times New Roman"/>
                <a:ea typeface="DejaVu Sans"/>
              </a:rPr>
              <a:t>task_policy</a:t>
            </a:r>
            <a:r>
              <a:rPr b="0" lang="en-US" sz="13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);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85" name="Section-Cubes- 8" descr=""/>
          <p:cNvPicPr/>
          <p:nvPr/>
        </p:nvPicPr>
        <p:blipFill>
          <a:blip r:embed="rId1"/>
          <a:stretch/>
        </p:blipFill>
        <p:spPr>
          <a:xfrm>
            <a:off x="8928720" y="4243320"/>
            <a:ext cx="1185840" cy="1150560"/>
          </a:xfrm>
          <a:prstGeom prst="rect">
            <a:avLst/>
          </a:prstGeom>
          <a:ln w="0">
            <a:noFill/>
          </a:ln>
          <a:effectLst>
            <a:outerShdw blurRad="0" dir="2700000" dist="101823" rotWithShape="0">
              <a:srgbClr val="d0d0d0"/>
            </a:outerShdw>
          </a:effectLst>
        </p:spPr>
      </p:pic>
      <p:sp>
        <p:nvSpPr>
          <p:cNvPr id="186" name=""/>
          <p:cNvSpPr/>
          <p:nvPr/>
        </p:nvSpPr>
        <p:spPr>
          <a:xfrm>
            <a:off x="5014800" y="3775320"/>
            <a:ext cx="3245400" cy="933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>
              <a:lnSpc>
                <a:spcPct val="100000"/>
              </a:lnSpc>
            </a:pPr>
            <a:r>
              <a:rPr b="0" lang="en-US" sz="12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This code shows how to simultaneously use asynchronicity (via `fence`), streams (via `instance`) and Task Parallelism (via `TaskScheduler`) to efficiently coordinate parallel computations.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"/>
          <p:cNvSpPr/>
          <p:nvPr/>
        </p:nvSpPr>
        <p:spPr>
          <a:xfrm>
            <a:off x="2171880" y="2340000"/>
            <a:ext cx="6465960" cy="1415160"/>
          </a:xfrm>
          <a:prstGeom prst="rect">
            <a:avLst/>
          </a:prstGeom>
          <a:noFill/>
          <a:ln w="108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30000"/>
              </a:lnSpc>
              <a:tabLst>
                <a:tab algn="l" pos="0"/>
              </a:tabLst>
            </a:pPr>
            <a:r>
              <a:rPr b="1" lang="en-US" sz="2200" spc="-12" strike="noStrike">
                <a:solidFill>
                  <a:srgbClr val="c9211e"/>
                </a:solidFill>
                <a:latin typeface="Arial"/>
                <a:ea typeface="DejaVu Sans"/>
              </a:rPr>
              <a:t>H</a:t>
            </a:r>
            <a:r>
              <a:rPr b="1" lang="en-US" sz="2200" spc="-12" strike="noStrike">
                <a:solidFill>
                  <a:srgbClr val="000000"/>
                </a:solidFill>
                <a:latin typeface="Arial"/>
                <a:ea typeface="DejaVu Sans"/>
              </a:rPr>
              <a:t>ierarchical </a:t>
            </a:r>
            <a:r>
              <a:rPr b="1" lang="en-US" sz="2200" spc="-12" strike="noStrike">
                <a:solidFill>
                  <a:srgbClr val="c9211e"/>
                </a:solidFill>
                <a:latin typeface="Arial"/>
                <a:ea typeface="DejaVu Sans"/>
              </a:rPr>
              <a:t>P</a:t>
            </a:r>
            <a:r>
              <a:rPr b="1" lang="en-US" sz="2200" spc="-12" strike="noStrike">
                <a:solidFill>
                  <a:srgbClr val="000000"/>
                </a:solidFill>
                <a:latin typeface="Arial"/>
                <a:ea typeface="DejaVu Sans"/>
              </a:rPr>
              <a:t>arallelism 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88" name="" descr=""/>
          <p:cNvPicPr/>
          <p:nvPr/>
        </p:nvPicPr>
        <p:blipFill>
          <a:blip r:embed="rId1"/>
          <a:stretch/>
        </p:blipFill>
        <p:spPr>
          <a:xfrm>
            <a:off x="2052000" y="2484720"/>
            <a:ext cx="1411920" cy="1395720"/>
          </a:xfrm>
          <a:prstGeom prst="rect">
            <a:avLst/>
          </a:prstGeom>
          <a:ln w="0">
            <a:noFill/>
          </a:ln>
          <a:effectLst>
            <a:outerShdw blurRad="0" dir="2700000" dist="101823" rotWithShape="0">
              <a:srgbClr val="bababa"/>
            </a:outerShdw>
          </a:effectLst>
        </p:spPr>
      </p:pic>
      <p:pic>
        <p:nvPicPr>
          <p:cNvPr id="189" name="" descr=""/>
          <p:cNvPicPr/>
          <p:nvPr/>
        </p:nvPicPr>
        <p:blipFill>
          <a:blip r:embed="rId2"/>
          <a:stretch/>
        </p:blipFill>
        <p:spPr>
          <a:xfrm>
            <a:off x="7505280" y="2509200"/>
            <a:ext cx="1163160" cy="1113840"/>
          </a:xfrm>
          <a:prstGeom prst="rect">
            <a:avLst/>
          </a:prstGeom>
          <a:ln w="0">
            <a:noFill/>
          </a:ln>
        </p:spPr>
      </p:pic>
      <p:pic>
        <p:nvPicPr>
          <p:cNvPr id="190" name="Cycles- 4" descr=""/>
          <p:cNvPicPr/>
          <p:nvPr/>
        </p:nvPicPr>
        <p:blipFill>
          <a:blip r:embed="rId3"/>
          <a:stretch/>
        </p:blipFill>
        <p:spPr>
          <a:xfrm>
            <a:off x="7243200" y="2193120"/>
            <a:ext cx="1708920" cy="16830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"/>
          <p:cNvSpPr/>
          <p:nvPr/>
        </p:nvSpPr>
        <p:spPr>
          <a:xfrm>
            <a:off x="360000" y="193320"/>
            <a:ext cx="5397840" cy="371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n-US" sz="2000" spc="-1" strike="noStrike">
                <a:solidFill>
                  <a:srgbClr val="000000"/>
                </a:solidFill>
                <a:latin typeface="Arial"/>
                <a:ea typeface="DejaVu Sans"/>
              </a:rPr>
              <a:t>Kokkos' hierarchical parallelism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2" name=""/>
          <p:cNvSpPr/>
          <p:nvPr/>
        </p:nvSpPr>
        <p:spPr>
          <a:xfrm>
            <a:off x="540000" y="900000"/>
            <a:ext cx="9357840" cy="3744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93" name=""/>
          <p:cNvSpPr/>
          <p:nvPr/>
        </p:nvSpPr>
        <p:spPr>
          <a:xfrm>
            <a:off x="540000" y="1018080"/>
            <a:ext cx="8338320" cy="34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Kokkos uses the </a:t>
            </a:r>
            <a:r>
              <a:rPr b="1" lang="en-US" sz="14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hierarchical parallelism </a:t>
            </a:r>
            <a:r>
              <a:rPr b="0" lang="en-US" sz="14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to exploit different levels of parallelism, which naturally adapts to various architectures like multi-core CPUs and GPUs.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14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Levels of parallelism: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    </a:t>
            </a:r>
            <a:r>
              <a:rPr b="0" lang="en-US" sz="14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- League: Higher level, often associated with compute nodes or CPU sockets.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    </a:t>
            </a:r>
            <a:r>
              <a:rPr b="0" lang="en-US" sz="14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- Team: Corresponds to physical cores or GPU multiprocessors.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    </a:t>
            </a:r>
            <a:r>
              <a:rPr b="0" lang="en-US" sz="14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- Vector: SIMD parallelism at the instruction level.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14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ThreadVectorRange :</a:t>
            </a:r>
            <a:r>
              <a:rPr b="0" lang="en-US" sz="14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Level of </a:t>
            </a:r>
            <a:r>
              <a:rPr b="0" i="1" lang="en-US" sz="14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additional parallelism </a:t>
            </a:r>
            <a:r>
              <a:rPr b="0" lang="en-US" sz="14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within a </a:t>
            </a:r>
            <a:r>
              <a:rPr b="0" i="1" lang="en-US" sz="14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thread </a:t>
            </a:r>
            <a:r>
              <a:rPr b="0" lang="en-US" sz="14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which exploits the vector capabilities of the hardware.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14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Scratch Memory: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    </a:t>
            </a:r>
            <a:r>
              <a:rPr b="0" lang="en-US" sz="14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- Level 0: Memory private to a thread and persistent between kernel calls.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    </a:t>
            </a:r>
            <a:r>
              <a:rPr b="0" lang="en-US" sz="14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- Level 1: Memory shared by a team, but private between teams.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14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Memory hierarchy:</a:t>
            </a:r>
            <a:r>
              <a:rPr b="0" lang="en-US" sz="14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Hierarchical parallelism efficiently exploits the memory hierarchy, including registers, L1/L2 caches, and GPU shared memory.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"/>
          <p:cNvSpPr/>
          <p:nvPr/>
        </p:nvSpPr>
        <p:spPr>
          <a:xfrm>
            <a:off x="107640" y="720000"/>
            <a:ext cx="7197840" cy="2516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n-US" sz="14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Using Thread Teams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14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Kokkos::parallel_for</a:t>
            </a:r>
            <a:r>
              <a:rPr b="0" lang="en-US" sz="14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(Kokkos::TeamPolicy&lt;&gt;(N, Kokkos::AUTO), KOKKOS_LAMBDA(const</a:t>
            </a:r>
            <a:r>
              <a:rPr b="1" lang="en-US" sz="14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Kokkos::TeamPolicy&lt;&gt;::member_type</a:t>
            </a:r>
            <a:r>
              <a:rPr b="0" lang="en-US" sz="14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&amp;</a:t>
            </a:r>
            <a:r>
              <a:rPr b="1" lang="en-US" sz="1400" spc="-1" strike="noStrike">
                <a:solidFill>
                  <a:srgbClr val="168253"/>
                </a:solidFill>
                <a:latin typeface="Times New Roman"/>
                <a:ea typeface="DejaVu Sans"/>
              </a:rPr>
              <a:t>team</a:t>
            </a:r>
            <a:r>
              <a:rPr b="0" lang="en-US" sz="14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) {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    </a:t>
            </a:r>
            <a:r>
              <a:rPr b="0" lang="en-US" sz="14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const int league_rank =</a:t>
            </a:r>
            <a:r>
              <a:rPr b="1" lang="en-US" sz="1400" spc="-1" strike="noStrike">
                <a:solidFill>
                  <a:srgbClr val="168253"/>
                </a:solidFill>
                <a:latin typeface="Times New Roman"/>
                <a:ea typeface="DejaVu Sans"/>
              </a:rPr>
              <a:t>team</a:t>
            </a:r>
            <a:r>
              <a:rPr b="0" lang="en-US" sz="14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.league_rank();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    </a:t>
            </a:r>
            <a:r>
              <a:rPr b="0" lang="en-US" sz="14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const int team_size =</a:t>
            </a:r>
            <a:r>
              <a:rPr b="1" lang="en-US" sz="1400" spc="-1" strike="noStrike">
                <a:solidFill>
                  <a:srgbClr val="168253"/>
                </a:solidFill>
                <a:latin typeface="Times New Roman"/>
                <a:ea typeface="DejaVu Sans"/>
              </a:rPr>
              <a:t>team</a:t>
            </a:r>
            <a:r>
              <a:rPr b="0" lang="en-US" sz="14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.team_size();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    </a:t>
            </a:r>
            <a:r>
              <a:rPr b="0" lang="en-US" sz="14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const int team_rank =</a:t>
            </a:r>
            <a:r>
              <a:rPr b="1" lang="en-US" sz="1400" spc="-1" strike="noStrike">
                <a:solidFill>
                  <a:srgbClr val="168253"/>
                </a:solidFill>
                <a:latin typeface="Times New Roman"/>
                <a:ea typeface="DejaVu Sans"/>
              </a:rPr>
              <a:t>team</a:t>
            </a:r>
            <a:r>
              <a:rPr b="0" lang="en-US" sz="14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.team_rank();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i="1" lang="en-US" sz="12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    </a:t>
            </a:r>
            <a:r>
              <a:rPr b="1" i="1" lang="en-US" sz="1200" spc="-1" strike="noStrike">
                <a:solidFill>
                  <a:srgbClr val="c9211e"/>
                </a:solidFill>
                <a:latin typeface="Times New Roman"/>
                <a:ea typeface="DejaVu Sans"/>
              </a:rPr>
              <a:t>// Code using league_rank, team_size and team_rank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});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5" name=""/>
          <p:cNvSpPr/>
          <p:nvPr/>
        </p:nvSpPr>
        <p:spPr>
          <a:xfrm>
            <a:off x="4380840" y="2079720"/>
            <a:ext cx="5698080" cy="299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n-US" sz="13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Nested parallelism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13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Kokkos::parallel_for</a:t>
            </a:r>
            <a:r>
              <a:rPr b="0" lang="en-US" sz="13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(Kokkos::TeamPolicy&lt;&gt;(N, Kokkos::AUTO), KOKKOS_LAMBDA(const Kokkos::TeamPolicy&lt;&gt;::member_type&amp;</a:t>
            </a:r>
            <a:r>
              <a:rPr b="1" lang="en-US" sz="1300" spc="-1" strike="noStrike">
                <a:solidFill>
                  <a:srgbClr val="168253"/>
                </a:solidFill>
                <a:latin typeface="Times New Roman"/>
                <a:ea typeface="DejaVu Sans"/>
              </a:rPr>
              <a:t>team</a:t>
            </a:r>
            <a:r>
              <a:rPr b="0" lang="en-US" sz="13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) {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3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    </a:t>
            </a:r>
            <a:r>
              <a:rPr b="0" lang="en-US" sz="13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const int league_rank =</a:t>
            </a:r>
            <a:r>
              <a:rPr b="1" lang="en-US" sz="1300" spc="-1" strike="noStrike">
                <a:solidFill>
                  <a:srgbClr val="168253"/>
                </a:solidFill>
                <a:latin typeface="Times New Roman"/>
                <a:ea typeface="DejaVu Sans"/>
              </a:rPr>
              <a:t>team</a:t>
            </a:r>
            <a:r>
              <a:rPr b="0" lang="en-US" sz="13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.league_rank();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i="1" lang="en-US" sz="1300" spc="-1" strike="noStrike">
                <a:solidFill>
                  <a:srgbClr val="c9211e"/>
                </a:solidFill>
                <a:latin typeface="Times New Roman"/>
                <a:ea typeface="DejaVu Sans"/>
              </a:rPr>
              <a:t>    </a:t>
            </a:r>
            <a:r>
              <a:rPr b="1" i="1" lang="en-US" sz="1300" spc="-1" strike="noStrike">
                <a:solidFill>
                  <a:srgbClr val="c9211e"/>
                </a:solidFill>
                <a:latin typeface="Times New Roman"/>
                <a:ea typeface="DejaVu Sans"/>
              </a:rPr>
              <a:t>// Team-level parallelism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3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    </a:t>
            </a:r>
            <a:r>
              <a:rPr b="0" lang="en-US" sz="13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Kokkos::parallel_for(Kokkos::TeamThreadRange(</a:t>
            </a:r>
            <a:r>
              <a:rPr b="1" lang="en-US" sz="1300" spc="-1" strike="noStrike">
                <a:solidFill>
                  <a:srgbClr val="168253"/>
                </a:solidFill>
                <a:latin typeface="Times New Roman"/>
                <a:ea typeface="DejaVu Sans"/>
              </a:rPr>
              <a:t>team</a:t>
            </a:r>
            <a:r>
              <a:rPr b="0" lang="en-US" sz="13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, M), [&amp;](const int&amp; i) {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3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        </a:t>
            </a:r>
            <a:r>
              <a:rPr b="1" i="1" lang="en-US" sz="1300" spc="-1" strike="noStrike">
                <a:solidFill>
                  <a:srgbClr val="c9211e"/>
                </a:solidFill>
                <a:latin typeface="Times New Roman"/>
                <a:ea typeface="DejaVu Sans"/>
              </a:rPr>
              <a:t>// Code executed in parallel by team threads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3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    </a:t>
            </a:r>
            <a:r>
              <a:rPr b="0" lang="en-US" sz="13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});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3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   </a:t>
            </a:r>
            <a:r>
              <a:rPr b="0" i="1" lang="en-US" sz="13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 </a:t>
            </a:r>
            <a:r>
              <a:rPr b="0" i="1" lang="en-US" sz="13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// Parallelism at the vector level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3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    </a:t>
            </a:r>
            <a:r>
              <a:rPr b="0" lang="en-US" sz="13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Kokkos::parallel_for(Kokkos::ThreadVectorRange(</a:t>
            </a:r>
            <a:r>
              <a:rPr b="1" lang="en-US" sz="1300" spc="-1" strike="noStrike">
                <a:solidFill>
                  <a:srgbClr val="168253"/>
                </a:solidFill>
                <a:latin typeface="Times New Roman"/>
                <a:ea typeface="DejaVu Sans"/>
              </a:rPr>
              <a:t>team</a:t>
            </a:r>
            <a:r>
              <a:rPr b="0" lang="en-US" sz="13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, K), [&amp;](const int&amp; j) {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3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       </a:t>
            </a:r>
            <a:r>
              <a:rPr b="0" i="1" lang="en-US" sz="13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 </a:t>
            </a:r>
            <a:r>
              <a:rPr b="1" i="1" lang="en-US" sz="1300" spc="-1" strike="noStrike">
                <a:solidFill>
                  <a:srgbClr val="c9211e"/>
                </a:solidFill>
                <a:latin typeface="Times New Roman"/>
                <a:ea typeface="DejaVu Sans"/>
              </a:rPr>
              <a:t>// Code executed in parallel by vector lanes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3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    </a:t>
            </a:r>
            <a:r>
              <a:rPr b="0" lang="en-US" sz="13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});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3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});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6" name=""/>
          <p:cNvSpPr/>
          <p:nvPr/>
        </p:nvSpPr>
        <p:spPr>
          <a:xfrm>
            <a:off x="360000" y="193320"/>
            <a:ext cx="5397840" cy="371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n-US" sz="2000" spc="-1" strike="noStrike">
                <a:solidFill>
                  <a:srgbClr val="000000"/>
                </a:solidFill>
                <a:latin typeface="Arial"/>
                <a:ea typeface="DejaVu Sans"/>
              </a:rPr>
              <a:t>Kokkos' hierarchical parallelism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"/>
          <p:cNvSpPr/>
          <p:nvPr/>
        </p:nvSpPr>
        <p:spPr>
          <a:xfrm>
            <a:off x="360000" y="193320"/>
            <a:ext cx="5397840" cy="371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n-US" sz="2000" spc="-1" strike="noStrike">
                <a:solidFill>
                  <a:srgbClr val="000000"/>
                </a:solidFill>
                <a:latin typeface="Arial"/>
                <a:ea typeface="DejaVu Sans"/>
              </a:rPr>
              <a:t>Kokkos' hierarchical parallelism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8" name=""/>
          <p:cNvSpPr/>
          <p:nvPr/>
        </p:nvSpPr>
        <p:spPr>
          <a:xfrm>
            <a:off x="540000" y="668880"/>
            <a:ext cx="8039520" cy="184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n-US" sz="13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Configuring an advanced hierarchical execution policy: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3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int league_size = 1000;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3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int team_size = 16;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3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int vector_length = 4;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3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Kokkos::TeamPolicy&lt;&gt;</a:t>
            </a:r>
            <a:r>
              <a:rPr b="1" lang="en-US" sz="1300" spc="-1" strike="noStrike">
                <a:solidFill>
                  <a:srgbClr val="3465a4"/>
                </a:solidFill>
                <a:latin typeface="Times New Roman"/>
                <a:ea typeface="DejaVu Sans"/>
              </a:rPr>
              <a:t>policy</a:t>
            </a:r>
            <a:r>
              <a:rPr b="0" lang="en-US" sz="13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(league_size, team_size, vector_length);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1300" spc="-1" strike="noStrike">
                <a:solidFill>
                  <a:srgbClr val="3465a4"/>
                </a:solidFill>
                <a:latin typeface="Times New Roman"/>
                <a:ea typeface="DejaVu Sans"/>
              </a:rPr>
              <a:t>policy</a:t>
            </a:r>
            <a:r>
              <a:rPr b="0" lang="en-US" sz="13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.set_scratch_size(1, Kokkos::PerTeam(1024), Kokkos::PerThread(256));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9" name=""/>
          <p:cNvSpPr/>
          <p:nvPr/>
        </p:nvSpPr>
        <p:spPr>
          <a:xfrm>
            <a:off x="1440000" y="2589480"/>
            <a:ext cx="8239320" cy="262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n-US" sz="13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Combined use of TeamThreadRange and ThreadVectorRange: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13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Kokkos::parallel_for</a:t>
            </a:r>
            <a:r>
              <a:rPr b="0" lang="en-US" sz="13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(</a:t>
            </a:r>
            <a:r>
              <a:rPr b="1" lang="en-US" sz="1300" spc="-1" strike="noStrike">
                <a:solidFill>
                  <a:srgbClr val="3465a4"/>
                </a:solidFill>
                <a:latin typeface="Times New Roman"/>
                <a:ea typeface="DejaVu Sans"/>
              </a:rPr>
              <a:t>policy</a:t>
            </a:r>
            <a:r>
              <a:rPr b="0" lang="en-US" sz="13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, KOKKOS_LAMBDA(const member_type&amp;</a:t>
            </a:r>
            <a:r>
              <a:rPr b="1" lang="en-US" sz="1300" spc="-1" strike="noStrike">
                <a:solidFill>
                  <a:srgbClr val="168253"/>
                </a:solidFill>
                <a:latin typeface="Times New Roman"/>
                <a:ea typeface="DejaVu Sans"/>
              </a:rPr>
              <a:t>team_member</a:t>
            </a:r>
            <a:r>
              <a:rPr b="0" lang="en-US" sz="13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) {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3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    </a:t>
            </a:r>
            <a:r>
              <a:rPr b="0" lang="en-US" sz="13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const int league_rank =</a:t>
            </a:r>
            <a:r>
              <a:rPr b="1" lang="en-US" sz="1300" spc="-1" strike="noStrike">
                <a:solidFill>
                  <a:srgbClr val="168253"/>
                </a:solidFill>
                <a:latin typeface="Times New Roman"/>
                <a:ea typeface="DejaVu Sans"/>
              </a:rPr>
              <a:t>team_member</a:t>
            </a:r>
            <a:r>
              <a:rPr b="0" lang="en-US" sz="13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.league_rank();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3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    </a:t>
            </a:r>
            <a:r>
              <a:rPr b="0" lang="en-US" sz="13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const int team_size =</a:t>
            </a:r>
            <a:r>
              <a:rPr b="1" lang="en-US" sz="1300" spc="-1" strike="noStrike">
                <a:solidFill>
                  <a:srgbClr val="168253"/>
                </a:solidFill>
                <a:latin typeface="Times New Roman"/>
                <a:ea typeface="DejaVu Sans"/>
              </a:rPr>
              <a:t>team_member</a:t>
            </a:r>
            <a:r>
              <a:rPr b="0" lang="en-US" sz="13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.team_size();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3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    </a:t>
            </a:r>
            <a:r>
              <a:rPr b="0" lang="en-US" sz="13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const int team_rank =</a:t>
            </a:r>
            <a:r>
              <a:rPr b="1" lang="en-US" sz="1300" spc="-1" strike="noStrike">
                <a:solidFill>
                  <a:srgbClr val="168253"/>
                </a:solidFill>
                <a:latin typeface="Times New Roman"/>
                <a:ea typeface="DejaVu Sans"/>
              </a:rPr>
              <a:t>team_member</a:t>
            </a:r>
            <a:r>
              <a:rPr b="0" lang="en-US" sz="13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.team_rank();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3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   </a:t>
            </a:r>
            <a:r>
              <a:rPr b="1" lang="en-US" sz="13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 </a:t>
            </a:r>
            <a:r>
              <a:rPr b="1" lang="en-US" sz="13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Kokkos::parallel_for</a:t>
            </a:r>
            <a:r>
              <a:rPr b="0" lang="en-US" sz="13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(</a:t>
            </a:r>
            <a:r>
              <a:rPr b="1" lang="en-US" sz="1300" spc="-1" strike="noStrike">
                <a:solidFill>
                  <a:srgbClr val="8d1d75"/>
                </a:solidFill>
                <a:latin typeface="Times New Roman"/>
                <a:ea typeface="DejaVu Sans"/>
              </a:rPr>
              <a:t>Kokkos::TeamThreadRange</a:t>
            </a:r>
            <a:r>
              <a:rPr b="0" lang="en-US" sz="13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(</a:t>
            </a:r>
            <a:r>
              <a:rPr b="1" lang="en-US" sz="1300" spc="-1" strike="noStrike">
                <a:solidFill>
                  <a:srgbClr val="168253"/>
                </a:solidFill>
                <a:latin typeface="Times New Roman"/>
                <a:ea typeface="DejaVu Sans"/>
              </a:rPr>
              <a:t>team_member</a:t>
            </a:r>
            <a:r>
              <a:rPr b="0" lang="en-US" sz="13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, work_per_team), [&amp;](const int&amp; i) {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3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       </a:t>
            </a:r>
            <a:r>
              <a:rPr b="1" lang="en-US" sz="13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 </a:t>
            </a:r>
            <a:r>
              <a:rPr b="1" lang="en-US" sz="13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Kokkos::parallel_for</a:t>
            </a:r>
            <a:r>
              <a:rPr b="0" lang="en-US" sz="13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(</a:t>
            </a:r>
            <a:r>
              <a:rPr b="1" lang="en-US" sz="1300" spc="-1" strike="noStrike">
                <a:solidFill>
                  <a:srgbClr val="f10d0c"/>
                </a:solidFill>
                <a:latin typeface="Times New Roman"/>
                <a:ea typeface="DejaVu Sans"/>
              </a:rPr>
              <a:t>Kokkos::ThreadVectorRange</a:t>
            </a:r>
            <a:r>
              <a:rPr b="0" lang="en-US" sz="13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(</a:t>
            </a:r>
            <a:r>
              <a:rPr b="1" lang="en-US" sz="1300" spc="-1" strike="noStrike">
                <a:solidFill>
                  <a:srgbClr val="168253"/>
                </a:solidFill>
                <a:latin typeface="Times New Roman"/>
                <a:ea typeface="DejaVu Sans"/>
              </a:rPr>
              <a:t>team_member</a:t>
            </a:r>
            <a:r>
              <a:rPr b="0" lang="en-US" sz="13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, vector_work), [&amp;](const int&amp; j) {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3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          </a:t>
            </a:r>
            <a:r>
              <a:rPr b="0" i="1" lang="en-US" sz="13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  </a:t>
            </a:r>
            <a:r>
              <a:rPr b="1" i="1" lang="en-US" sz="1300" spc="-1" strike="noStrike">
                <a:solidFill>
                  <a:srgbClr val="ff0000"/>
                </a:solidFill>
                <a:latin typeface="Times New Roman"/>
                <a:ea typeface="DejaVu Sans"/>
              </a:rPr>
              <a:t>// Vector work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3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        </a:t>
            </a:r>
            <a:r>
              <a:rPr b="0" lang="en-US" sz="13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});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3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    </a:t>
            </a:r>
            <a:r>
              <a:rPr b="0" lang="en-US" sz="13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});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3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});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00" name="Section-Cubes- 13" descr=""/>
          <p:cNvPicPr/>
          <p:nvPr/>
        </p:nvPicPr>
        <p:blipFill>
          <a:blip r:embed="rId1"/>
          <a:stretch/>
        </p:blipFill>
        <p:spPr>
          <a:xfrm>
            <a:off x="8928360" y="4242960"/>
            <a:ext cx="1185840" cy="1150560"/>
          </a:xfrm>
          <a:prstGeom prst="rect">
            <a:avLst/>
          </a:prstGeom>
          <a:ln w="0">
            <a:noFill/>
          </a:ln>
          <a:effectLst>
            <a:outerShdw blurRad="0" dir="2700000" dist="101823" rotWithShape="0">
              <a:srgbClr val="d0d0d0"/>
            </a:outerShdw>
          </a:effectLst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"/>
          <p:cNvSpPr/>
          <p:nvPr/>
        </p:nvSpPr>
        <p:spPr>
          <a:xfrm>
            <a:off x="360000" y="193320"/>
            <a:ext cx="5397840" cy="371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n-US" sz="2000" spc="-1" strike="noStrike">
                <a:solidFill>
                  <a:srgbClr val="000000"/>
                </a:solidFill>
                <a:latin typeface="Arial"/>
                <a:ea typeface="DejaVu Sans"/>
              </a:rPr>
              <a:t>Kokkos' hierarchical parallelism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2" name=""/>
          <p:cNvSpPr/>
          <p:nvPr/>
        </p:nvSpPr>
        <p:spPr>
          <a:xfrm>
            <a:off x="540000" y="673200"/>
            <a:ext cx="8965800" cy="2744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n-US" sz="13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Advanced use of scratch memory: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13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Kokkos::parallel_for</a:t>
            </a:r>
            <a:r>
              <a:rPr b="0" lang="en-US" sz="13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(policy, KOKKOS_LAMBDA(const member_type&amp;</a:t>
            </a:r>
            <a:r>
              <a:rPr b="1" lang="en-US" sz="1300" spc="-1" strike="noStrike">
                <a:solidFill>
                  <a:srgbClr val="8d1d75"/>
                </a:solidFill>
                <a:latin typeface="Times New Roman"/>
                <a:ea typeface="DejaVu Sans"/>
              </a:rPr>
              <a:t>team_member</a:t>
            </a:r>
            <a:r>
              <a:rPr b="0" lang="en-US" sz="13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) {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3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    </a:t>
            </a:r>
            <a:r>
              <a:rPr b="0" lang="en-US" sz="13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Kokkos::View&lt;double*, Kokkos::MemoryUnmanaged&gt;</a:t>
            </a:r>
            <a:r>
              <a:rPr b="1" lang="en-US" sz="1300" spc="-1" strike="noStrike">
                <a:solidFill>
                  <a:srgbClr val="3465a4"/>
                </a:solidFill>
                <a:latin typeface="Times New Roman"/>
                <a:ea typeface="DejaVu Sans"/>
              </a:rPr>
              <a:t>scratch_team</a:t>
            </a:r>
            <a:r>
              <a:rPr b="0" lang="en-US" sz="13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(team_member.team_scratch(1), team_size);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3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    </a:t>
            </a:r>
            <a:r>
              <a:rPr b="0" lang="en-US" sz="13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Kokkos::View&lt;int*, Kokkos::MemoryUnmanaged&gt;</a:t>
            </a:r>
            <a:r>
              <a:rPr b="1" lang="en-US" sz="1300" spc="-1" strike="noStrike">
                <a:solidFill>
                  <a:srgbClr val="069a2e"/>
                </a:solidFill>
                <a:latin typeface="Times New Roman"/>
                <a:ea typeface="DejaVu Sans"/>
              </a:rPr>
              <a:t>scratch_thread</a:t>
            </a:r>
            <a:r>
              <a:rPr b="0" lang="en-US" sz="13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(team_member.thread_scratch(0), vector_length);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i="1" lang="en-US" sz="1300" spc="-1" strike="noStrike">
                <a:solidFill>
                  <a:srgbClr val="c9211e"/>
                </a:solidFill>
                <a:latin typeface="Times New Roman"/>
                <a:ea typeface="DejaVu Sans"/>
              </a:rPr>
              <a:t>    </a:t>
            </a:r>
            <a:r>
              <a:rPr b="1" i="1" lang="en-US" sz="1300" spc="-1" strike="noStrike">
                <a:solidFill>
                  <a:srgbClr val="c9211e"/>
                </a:solidFill>
                <a:latin typeface="Times New Roman"/>
                <a:ea typeface="DejaVu Sans"/>
              </a:rPr>
              <a:t>// Using scratch memory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3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    </a:t>
            </a:r>
            <a:r>
              <a:rPr b="1" lang="en-US" sz="1300" spc="-1" strike="noStrike">
                <a:solidFill>
                  <a:srgbClr val="3465a4"/>
                </a:solidFill>
                <a:latin typeface="Times New Roman"/>
                <a:ea typeface="DejaVu Sans"/>
              </a:rPr>
              <a:t>scratch_team</a:t>
            </a:r>
            <a:r>
              <a:rPr b="0" lang="en-US" sz="13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(</a:t>
            </a:r>
            <a:r>
              <a:rPr b="1" lang="en-US" sz="1300" spc="-1" strike="noStrike">
                <a:solidFill>
                  <a:srgbClr val="8d1d75"/>
                </a:solidFill>
                <a:latin typeface="Times New Roman"/>
                <a:ea typeface="DejaVu Sans"/>
              </a:rPr>
              <a:t>team_member</a:t>
            </a:r>
            <a:r>
              <a:rPr b="0" lang="en-US" sz="13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.team_rank()) = compute_value();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3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   </a:t>
            </a:r>
            <a:r>
              <a:rPr b="1" lang="en-US" sz="1300" spc="-1" strike="noStrike">
                <a:solidFill>
                  <a:srgbClr val="8d1d75"/>
                </a:solidFill>
                <a:latin typeface="Times New Roman"/>
                <a:ea typeface="DejaVu Sans"/>
              </a:rPr>
              <a:t> </a:t>
            </a:r>
            <a:r>
              <a:rPr b="1" lang="en-US" sz="1300" spc="-1" strike="noStrike">
                <a:solidFill>
                  <a:srgbClr val="8d1d75"/>
                </a:solidFill>
                <a:latin typeface="Times New Roman"/>
                <a:ea typeface="DejaVu Sans"/>
              </a:rPr>
              <a:t>team_member</a:t>
            </a:r>
            <a:r>
              <a:rPr b="0" lang="en-US" sz="13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.team_barrier();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3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    </a:t>
            </a:r>
            <a:r>
              <a:rPr b="0" lang="en-US" sz="13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for (int i = 0; i &lt; vector_length; ++i) {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3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        </a:t>
            </a:r>
            <a:r>
              <a:rPr b="1" lang="en-US" sz="1300" spc="-1" strike="noStrike">
                <a:solidFill>
                  <a:srgbClr val="069a2e"/>
                </a:solidFill>
                <a:latin typeface="Times New Roman"/>
                <a:ea typeface="DejaVu Sans"/>
              </a:rPr>
              <a:t>scratch_thread</a:t>
            </a:r>
            <a:r>
              <a:rPr b="0" lang="en-US" sz="13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(i) = process_data(</a:t>
            </a:r>
            <a:r>
              <a:rPr b="1" lang="en-US" sz="1300" spc="-1" strike="noStrike">
                <a:solidFill>
                  <a:srgbClr val="3465a4"/>
                </a:solidFill>
                <a:latin typeface="Times New Roman"/>
                <a:ea typeface="DejaVu Sans"/>
              </a:rPr>
              <a:t>scratch_team</a:t>
            </a:r>
            <a:r>
              <a:rPr b="0" lang="en-US" sz="13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(</a:t>
            </a:r>
            <a:r>
              <a:rPr b="1" lang="en-US" sz="1300" spc="-1" strike="noStrike">
                <a:solidFill>
                  <a:srgbClr val="8d1d75"/>
                </a:solidFill>
                <a:latin typeface="Times New Roman"/>
                <a:ea typeface="DejaVu Sans"/>
              </a:rPr>
              <a:t>team_member</a:t>
            </a:r>
            <a:r>
              <a:rPr b="0" lang="en-US" sz="13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.team_rank()));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3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    </a:t>
            </a:r>
            <a:r>
              <a:rPr b="0" lang="en-US" sz="13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}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3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});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3" name=""/>
          <p:cNvSpPr/>
          <p:nvPr/>
        </p:nvSpPr>
        <p:spPr>
          <a:xfrm>
            <a:off x="5280120" y="3755520"/>
            <a:ext cx="4317840" cy="1472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0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Benefits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0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- Performance: Faster access than global memory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0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- Optimization: Acts like a manually managed cache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0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- Flexibility: Temporary storage by work item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0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Use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0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- Set the required size before launching the kernel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0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- Create views in scratch memory inside kernels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0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- Possible synchronization between threads of a team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4" name=""/>
          <p:cNvSpPr/>
          <p:nvPr/>
        </p:nvSpPr>
        <p:spPr>
          <a:xfrm>
            <a:off x="644400" y="3743280"/>
            <a:ext cx="4481640" cy="123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0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- Shared memory space accessible only by threads of the same team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0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- Lifespan limited to that of the team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0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Key Features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0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- Two levels: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0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  </a:t>
            </a:r>
            <a:r>
              <a:rPr b="0" lang="en-US" sz="10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- Level 0: Small size (tens of KB), quick access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0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  </a:t>
            </a:r>
            <a:r>
              <a:rPr b="0" lang="en-US" sz="10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- Level 1: Larger size (a few GB), average access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0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- Use with TeamPolicy for private memory per thread or team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05" name="Section-Cubes- 14" descr=""/>
          <p:cNvPicPr/>
          <p:nvPr/>
        </p:nvPicPr>
        <p:blipFill>
          <a:blip r:embed="rId1"/>
          <a:stretch/>
        </p:blipFill>
        <p:spPr>
          <a:xfrm>
            <a:off x="8928360" y="4242960"/>
            <a:ext cx="1185840" cy="1150560"/>
          </a:xfrm>
          <a:prstGeom prst="rect">
            <a:avLst/>
          </a:prstGeom>
          <a:ln w="0">
            <a:noFill/>
          </a:ln>
          <a:effectLst>
            <a:outerShdw blurRad="0" dir="2700000" dist="101823" rotWithShape="0">
              <a:srgbClr val="d0d0d0"/>
            </a:outerShdw>
          </a:effectLst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"/>
          <p:cNvSpPr/>
          <p:nvPr/>
        </p:nvSpPr>
        <p:spPr>
          <a:xfrm>
            <a:off x="360000" y="193320"/>
            <a:ext cx="5397840" cy="371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n-US" sz="2000" spc="-1" strike="noStrike">
                <a:solidFill>
                  <a:srgbClr val="000000"/>
                </a:solidFill>
                <a:latin typeface="Arial"/>
                <a:ea typeface="DejaVu Sans"/>
              </a:rPr>
              <a:t>Kokkos' hierarchical parallelism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7" name=""/>
          <p:cNvSpPr/>
          <p:nvPr/>
        </p:nvSpPr>
        <p:spPr>
          <a:xfrm>
            <a:off x="1028880" y="1218600"/>
            <a:ext cx="8168400" cy="279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n-US" sz="13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Hierarchical reduction: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3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double total_sum = 0.0;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13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Kokkos::parallel_reduce</a:t>
            </a:r>
            <a:r>
              <a:rPr b="0" lang="en-US" sz="13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(policy, KOKKOS_LAMBDA(const member_type&amp; team_member, double&amp; </a:t>
            </a:r>
            <a:r>
              <a:rPr b="1" lang="en-US" sz="1300" spc="-1" strike="noStrike">
                <a:solidFill>
                  <a:srgbClr val="ff3838"/>
                </a:solidFill>
                <a:latin typeface="Times New Roman"/>
                <a:ea typeface="DejaVu Sans"/>
              </a:rPr>
              <a:t>team_sum</a:t>
            </a:r>
            <a:r>
              <a:rPr b="0" lang="en-US" sz="13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) {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3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    </a:t>
            </a:r>
            <a:r>
              <a:rPr b="0" lang="en-US" sz="13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double thread_sum = 0.0;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3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    </a:t>
            </a:r>
            <a:r>
              <a:rPr b="0" lang="en-US" sz="13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Kokkos::parallel_reduce(Kokkos::TeamThreadRange(team_member, work_per_team),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3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        </a:t>
            </a:r>
            <a:r>
              <a:rPr b="0" i="1" lang="en-US" sz="13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[&amp;](const int&amp; i, double&amp; sum) {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i="1" lang="en-US" sz="13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            </a:t>
            </a:r>
            <a:r>
              <a:rPr b="0" i="1" lang="en-US" sz="13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Kokkos::parallel_reduce(Kokkos::ThreadVectorRange(team_member, vector_work),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i="1" lang="en-US" sz="13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                </a:t>
            </a:r>
            <a:r>
              <a:rPr b="0" i="1" lang="en-US" sz="13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[&amp;](const int&amp; j, double&amp; inner_sum) {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i="1" lang="en-US" sz="13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                    </a:t>
            </a:r>
            <a:r>
              <a:rPr b="0" i="1" lang="en-US" sz="13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inner_sum += compute_value(i, j);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i="1" lang="en-US" sz="13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                </a:t>
            </a:r>
            <a:r>
              <a:rPr b="0" i="1" lang="en-US" sz="13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},</a:t>
            </a:r>
            <a:r>
              <a:rPr b="1" i="1" lang="en-US" sz="1300" spc="-1" strike="noStrike">
                <a:solidFill>
                  <a:srgbClr val="8d1d75"/>
                </a:solidFill>
                <a:latin typeface="Times New Roman"/>
                <a:ea typeface="DejaVu Sans"/>
              </a:rPr>
              <a:t>sum</a:t>
            </a:r>
            <a:r>
              <a:rPr b="0" i="1" lang="en-US" sz="13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);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i="1" lang="en-US" sz="13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        </a:t>
            </a:r>
            <a:r>
              <a:rPr b="0" i="1" lang="en-US" sz="13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},</a:t>
            </a:r>
            <a:r>
              <a:rPr b="1" i="1" lang="en-US" sz="1300" spc="-1" strike="noStrike">
                <a:solidFill>
                  <a:srgbClr val="168253"/>
                </a:solidFill>
                <a:latin typeface="Times New Roman"/>
                <a:ea typeface="DejaVu Sans"/>
              </a:rPr>
              <a:t>thread_sum</a:t>
            </a:r>
            <a:r>
              <a:rPr b="0" i="1" lang="en-US" sz="13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);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3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    </a:t>
            </a:r>
            <a:r>
              <a:rPr b="1" lang="en-US" sz="1300" spc="-1" strike="noStrike">
                <a:solidFill>
                  <a:srgbClr val="ff3838"/>
                </a:solidFill>
                <a:latin typeface="Times New Roman"/>
                <a:ea typeface="DejaVu Sans"/>
              </a:rPr>
              <a:t>team_sum</a:t>
            </a:r>
            <a:r>
              <a:rPr b="0" lang="en-US" sz="13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+= thread_sum;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3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},</a:t>
            </a:r>
            <a:r>
              <a:rPr b="1" lang="en-US" sz="13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total_sum</a:t>
            </a:r>
            <a:r>
              <a:rPr b="0" lang="en-US" sz="13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);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08" name="Section-Cubes- 15" descr=""/>
          <p:cNvPicPr/>
          <p:nvPr/>
        </p:nvPicPr>
        <p:blipFill>
          <a:blip r:embed="rId1"/>
          <a:stretch/>
        </p:blipFill>
        <p:spPr>
          <a:xfrm>
            <a:off x="8928360" y="4242960"/>
            <a:ext cx="1185840" cy="1150560"/>
          </a:xfrm>
          <a:prstGeom prst="rect">
            <a:avLst/>
          </a:prstGeom>
          <a:ln w="0">
            <a:noFill/>
          </a:ln>
          <a:effectLst>
            <a:outerShdw blurRad="0" dir="2700000" dist="101823" rotWithShape="0">
              <a:srgbClr val="d0d0d0"/>
            </a:outerShdw>
          </a:effectLst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"/>
          <p:cNvSpPr/>
          <p:nvPr/>
        </p:nvSpPr>
        <p:spPr>
          <a:xfrm>
            <a:off x="1828440" y="1205280"/>
            <a:ext cx="6490080" cy="289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n-US" sz="13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Using SingleThreadTeam for sequential operations within a team: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13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Kokkos::parallel_for</a:t>
            </a:r>
            <a:r>
              <a:rPr b="0" lang="en-US" sz="13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(policy, KOKKOS_LAMBDA(const member_type&amp; </a:t>
            </a:r>
            <a:r>
              <a:rPr b="1" lang="en-US" sz="1300" spc="-1" strike="noStrike">
                <a:solidFill>
                  <a:srgbClr val="3465a4"/>
                </a:solidFill>
                <a:latin typeface="Times New Roman"/>
                <a:ea typeface="DejaVu Sans"/>
              </a:rPr>
              <a:t>team_member</a:t>
            </a:r>
            <a:r>
              <a:rPr b="0" lang="en-US" sz="13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) {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3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    </a:t>
            </a:r>
            <a:r>
              <a:rPr b="1" lang="en-US" sz="13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Kokkos::single</a:t>
            </a:r>
            <a:r>
              <a:rPr b="0" lang="en-US" sz="13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(</a:t>
            </a:r>
            <a:r>
              <a:rPr b="1" i="1" lang="en-US" sz="13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Kokkos::PerTeam</a:t>
            </a:r>
            <a:r>
              <a:rPr b="0" lang="en-US" sz="13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(</a:t>
            </a:r>
            <a:r>
              <a:rPr b="1" lang="en-US" sz="1300" spc="-1" strike="noStrike">
                <a:solidFill>
                  <a:srgbClr val="3465a4"/>
                </a:solidFill>
                <a:latin typeface="Times New Roman"/>
                <a:ea typeface="DejaVu Sans"/>
              </a:rPr>
              <a:t>team_member</a:t>
            </a:r>
            <a:r>
              <a:rPr b="0" lang="en-US" sz="13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), [&amp;]() {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3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       </a:t>
            </a:r>
            <a:r>
              <a:rPr b="1" i="1" lang="en-US" sz="1300" spc="-1" strike="noStrike">
                <a:solidFill>
                  <a:srgbClr val="c9211e"/>
                </a:solidFill>
                <a:latin typeface="Times New Roman"/>
                <a:ea typeface="DejaVu Sans"/>
              </a:rPr>
              <a:t> </a:t>
            </a:r>
            <a:r>
              <a:rPr b="1" i="1" lang="en-US" sz="1300" spc="-1" strike="noStrike">
                <a:solidFill>
                  <a:srgbClr val="c9211e"/>
                </a:solidFill>
                <a:latin typeface="Times New Roman"/>
                <a:ea typeface="DejaVu Sans"/>
              </a:rPr>
              <a:t>// Operation executed only once per team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3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    </a:t>
            </a:r>
            <a:r>
              <a:rPr b="0" lang="en-US" sz="13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});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i="1" lang="en-US" sz="1300" spc="-1" strike="noStrike">
                <a:solidFill>
                  <a:srgbClr val="c9211e"/>
                </a:solidFill>
                <a:latin typeface="Times New Roman"/>
                <a:ea typeface="DejaVu Sans"/>
              </a:rPr>
              <a:t>    </a:t>
            </a:r>
            <a:r>
              <a:rPr b="1" i="1" lang="en-US" sz="1300" spc="-1" strike="noStrike">
                <a:solidFill>
                  <a:srgbClr val="c9211e"/>
                </a:solidFill>
                <a:latin typeface="Times New Roman"/>
                <a:ea typeface="DejaVu Sans"/>
              </a:rPr>
              <a:t>// ... Other parallel work ...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3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   </a:t>
            </a:r>
            <a:r>
              <a:rPr b="1" lang="en-US" sz="13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 </a:t>
            </a:r>
            <a:r>
              <a:rPr b="1" lang="en-US" sz="13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Kokkos::single</a:t>
            </a:r>
            <a:r>
              <a:rPr b="0" lang="en-US" sz="13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(</a:t>
            </a:r>
            <a:r>
              <a:rPr b="1" i="1" lang="en-US" sz="13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Kokkos::PerThread</a:t>
            </a:r>
            <a:r>
              <a:rPr b="0" lang="en-US" sz="13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(</a:t>
            </a:r>
            <a:r>
              <a:rPr b="1" lang="en-US" sz="1300" spc="-1" strike="noStrike">
                <a:solidFill>
                  <a:srgbClr val="3465a4"/>
                </a:solidFill>
                <a:latin typeface="Times New Roman"/>
                <a:ea typeface="DejaVu Sans"/>
              </a:rPr>
              <a:t>team_member</a:t>
            </a:r>
            <a:r>
              <a:rPr b="0" lang="en-US" sz="13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), [&amp;]() {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3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        </a:t>
            </a:r>
            <a:r>
              <a:rPr b="1" i="1" lang="en-US" sz="1300" spc="-1" strike="noStrike">
                <a:solidFill>
                  <a:srgbClr val="c9211e"/>
                </a:solidFill>
                <a:latin typeface="Times New Roman"/>
                <a:ea typeface="DejaVu Sans"/>
              </a:rPr>
              <a:t>// Operation executed once per thread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3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    </a:t>
            </a:r>
            <a:r>
              <a:rPr b="0" lang="en-US" sz="13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});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3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});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0" name=""/>
          <p:cNvSpPr/>
          <p:nvPr/>
        </p:nvSpPr>
        <p:spPr>
          <a:xfrm>
            <a:off x="360000" y="193320"/>
            <a:ext cx="5397840" cy="371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n-US" sz="2000" spc="-1" strike="noStrike">
                <a:solidFill>
                  <a:srgbClr val="000000"/>
                </a:solidFill>
                <a:latin typeface="Arial"/>
                <a:ea typeface="DejaVu Sans"/>
              </a:rPr>
              <a:t>Kokkos' hierarchical parallelism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11" name="Section-Cubes- 16" descr=""/>
          <p:cNvPicPr/>
          <p:nvPr/>
        </p:nvPicPr>
        <p:blipFill>
          <a:blip r:embed="rId1"/>
          <a:stretch/>
        </p:blipFill>
        <p:spPr>
          <a:xfrm>
            <a:off x="8928360" y="4242960"/>
            <a:ext cx="1185840" cy="1150560"/>
          </a:xfrm>
          <a:prstGeom prst="rect">
            <a:avLst/>
          </a:prstGeom>
          <a:ln w="0">
            <a:noFill/>
          </a:ln>
          <a:effectLst>
            <a:outerShdw blurRad="0" dir="2700000" dist="101823" rotWithShape="0">
              <a:srgbClr val="d0d0d0"/>
            </a:outerShdw>
          </a:effectLst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"/>
          <p:cNvSpPr/>
          <p:nvPr/>
        </p:nvSpPr>
        <p:spPr>
          <a:xfrm>
            <a:off x="2171880" y="2340000"/>
            <a:ext cx="6465960" cy="1415160"/>
          </a:xfrm>
          <a:prstGeom prst="rect">
            <a:avLst/>
          </a:prstGeom>
          <a:noFill/>
          <a:ln w="108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30000"/>
              </a:lnSpc>
              <a:tabLst>
                <a:tab algn="l" pos="0"/>
              </a:tabLst>
            </a:pPr>
            <a:r>
              <a:rPr b="1" lang="en-US" sz="2200" spc="-12" strike="noStrike">
                <a:solidFill>
                  <a:srgbClr val="c9211e"/>
                </a:solidFill>
                <a:latin typeface="Arial"/>
                <a:ea typeface="DejaVu Sans"/>
              </a:rPr>
              <a:t>M</a:t>
            </a:r>
            <a:r>
              <a:rPr b="1" lang="en-US" sz="2200" spc="-12" strike="noStrike">
                <a:solidFill>
                  <a:srgbClr val="000000"/>
                </a:solidFill>
                <a:latin typeface="Arial"/>
                <a:ea typeface="DejaVu Sans"/>
              </a:rPr>
              <a:t>ultidimensional </a:t>
            </a:r>
            <a:r>
              <a:rPr b="1" lang="en-US" sz="2200" spc="-12" strike="noStrike">
                <a:solidFill>
                  <a:srgbClr val="c9211e"/>
                </a:solidFill>
                <a:latin typeface="Arial"/>
                <a:ea typeface="DejaVu Sans"/>
              </a:rPr>
              <a:t>L</a:t>
            </a:r>
            <a:r>
              <a:rPr b="1" lang="en-US" sz="2200" spc="-12" strike="noStrike">
                <a:solidFill>
                  <a:srgbClr val="000000"/>
                </a:solidFill>
                <a:latin typeface="Arial"/>
                <a:ea typeface="DejaVu Sans"/>
              </a:rPr>
              <a:t>oops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30000"/>
              </a:lnSpc>
              <a:tabLst>
                <a:tab algn="l" pos="0"/>
              </a:tabLst>
            </a:pPr>
            <a:r>
              <a:rPr b="1" lang="en-US" sz="2200" spc="-12" strike="noStrike">
                <a:solidFill>
                  <a:srgbClr val="c9211e"/>
                </a:solidFill>
                <a:latin typeface="Arial"/>
                <a:ea typeface="DejaVu Sans"/>
              </a:rPr>
              <a:t>D</a:t>
            </a:r>
            <a:r>
              <a:rPr b="1" lang="en-US" sz="2200" spc="-12" strike="noStrike">
                <a:solidFill>
                  <a:srgbClr val="000000"/>
                </a:solidFill>
                <a:latin typeface="Arial"/>
                <a:ea typeface="DejaVu Sans"/>
              </a:rPr>
              <a:t>ata </a:t>
            </a:r>
            <a:r>
              <a:rPr b="1" lang="en-US" sz="2200" spc="-12" strike="noStrike">
                <a:solidFill>
                  <a:srgbClr val="c9211e"/>
                </a:solidFill>
                <a:latin typeface="Arial"/>
                <a:ea typeface="DejaVu Sans"/>
              </a:rPr>
              <a:t>S</a:t>
            </a:r>
            <a:r>
              <a:rPr b="1" lang="en-US" sz="2200" spc="-12" strike="noStrike">
                <a:solidFill>
                  <a:srgbClr val="000000"/>
                </a:solidFill>
                <a:latin typeface="Arial"/>
                <a:ea typeface="DejaVu Sans"/>
              </a:rPr>
              <a:t>tructures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13" name="" descr=""/>
          <p:cNvPicPr/>
          <p:nvPr/>
        </p:nvPicPr>
        <p:blipFill>
          <a:blip r:embed="rId1"/>
          <a:stretch/>
        </p:blipFill>
        <p:spPr>
          <a:xfrm>
            <a:off x="2052000" y="2484720"/>
            <a:ext cx="1411920" cy="1395720"/>
          </a:xfrm>
          <a:prstGeom prst="rect">
            <a:avLst/>
          </a:prstGeom>
          <a:ln w="0">
            <a:noFill/>
          </a:ln>
          <a:effectLst>
            <a:outerShdw blurRad="0" dir="2700000" dist="101823" rotWithShape="0">
              <a:srgbClr val="bababa"/>
            </a:outerShdw>
          </a:effectLst>
        </p:spPr>
      </p:pic>
      <p:pic>
        <p:nvPicPr>
          <p:cNvPr id="214" name="" descr=""/>
          <p:cNvPicPr/>
          <p:nvPr/>
        </p:nvPicPr>
        <p:blipFill>
          <a:blip r:embed="rId2"/>
          <a:stretch/>
        </p:blipFill>
        <p:spPr>
          <a:xfrm>
            <a:off x="7505280" y="2509200"/>
            <a:ext cx="1163160" cy="1113840"/>
          </a:xfrm>
          <a:prstGeom prst="rect">
            <a:avLst/>
          </a:prstGeom>
          <a:ln w="0">
            <a:noFill/>
          </a:ln>
        </p:spPr>
      </p:pic>
      <p:pic>
        <p:nvPicPr>
          <p:cNvPr id="215" name="Cycles- 5" descr=""/>
          <p:cNvPicPr/>
          <p:nvPr/>
        </p:nvPicPr>
        <p:blipFill>
          <a:blip r:embed="rId3"/>
          <a:stretch/>
        </p:blipFill>
        <p:spPr>
          <a:xfrm>
            <a:off x="7243200" y="2193120"/>
            <a:ext cx="1708920" cy="16830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"/>
          <p:cNvSpPr/>
          <p:nvPr/>
        </p:nvSpPr>
        <p:spPr>
          <a:xfrm>
            <a:off x="227160" y="180000"/>
            <a:ext cx="9141120" cy="371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n-US" sz="2000" spc="-1" strike="noStrike">
                <a:solidFill>
                  <a:srgbClr val="000000"/>
                </a:solidFill>
                <a:latin typeface="Arial"/>
                <a:ea typeface="DejaVu Sans"/>
              </a:rPr>
              <a:t>Kokkos Multidimensional Loops and Data Structures</a:t>
            </a:r>
            <a:endParaRPr b="1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7" name=""/>
          <p:cNvSpPr/>
          <p:nvPr/>
        </p:nvSpPr>
        <p:spPr>
          <a:xfrm>
            <a:off x="928440" y="1294200"/>
            <a:ext cx="8289000" cy="3476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n-US" sz="14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MDRangePolicy (Multidimensional Loop Policy):</a:t>
            </a:r>
            <a:r>
              <a:rPr b="0" lang="en-US" sz="14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MDRangePolicy is a feature of Kokkos that allows to parallelize tightly nested loops of 2 to 6 dimensions.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14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Views (Multidimensional Views):</a:t>
            </a:r>
            <a:r>
              <a:rPr b="0" lang="en-US" sz="14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Views in Kokkos are multidimensional data containers that adapt to the hardware.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14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Layouts (Memory layouts):</a:t>
            </a:r>
            <a:r>
              <a:rPr b="0" lang="en-US" sz="14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Layouts define how multidimensional data is organized in memory. Kokkos mainly offers two types of layouts: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marL="360000" indent="-216000">
              <a:lnSpc>
                <a:spcPct val="100000"/>
              </a:lnSpc>
              <a:buClr>
                <a:srgbClr val="000000"/>
              </a:buClr>
              <a:buFont typeface="Symbol"/>
              <a:buChar char=""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LayoutLeft: column-major order, optimal for some GPU types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marL="360000" indent="-216000">
              <a:lnSpc>
                <a:spcPct val="100000"/>
              </a:lnSpc>
              <a:buClr>
                <a:srgbClr val="000000"/>
              </a:buClr>
              <a:buFont typeface="Symbol"/>
              <a:buChar char=""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LayoutRight: row-major order, often preferred for CPUs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14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Subviews:</a:t>
            </a:r>
            <a:r>
              <a:rPr b="0" lang="en-US" sz="14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Allows you to create partial views of an existing view without copying data.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"/>
          <p:cNvSpPr/>
          <p:nvPr/>
        </p:nvSpPr>
        <p:spPr>
          <a:xfrm>
            <a:off x="227160" y="180000"/>
            <a:ext cx="9141120" cy="371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n-US" sz="2000" spc="-1" strike="noStrike">
                <a:solidFill>
                  <a:srgbClr val="000000"/>
                </a:solidFill>
                <a:latin typeface="Arial"/>
                <a:ea typeface="DejaVu Sans"/>
              </a:rPr>
              <a:t>Kokkos Multidimensional Loops and Data Structures</a:t>
            </a:r>
            <a:endParaRPr b="1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9" name=""/>
          <p:cNvSpPr/>
          <p:nvPr/>
        </p:nvSpPr>
        <p:spPr>
          <a:xfrm>
            <a:off x="1649880" y="1231920"/>
            <a:ext cx="7167960" cy="262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n-US" sz="13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Advanced usage of MDRangePolicy: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i="1" lang="en-US" sz="1300" spc="-1" strike="noStrike">
                <a:solidFill>
                  <a:srgbClr val="c9211e"/>
                </a:solidFill>
                <a:latin typeface="Times New Roman"/>
                <a:ea typeface="DejaVu Sans"/>
              </a:rPr>
              <a:t>// Defining an MDRange policy with tile size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3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using MDPolicyType = Kokkos::MDRangePolicy&lt;Kokkos::Rank&lt;3&gt;, Kokkos::IndexType&lt;int64_t&gt;&gt;;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3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MDPolicyType </a:t>
            </a:r>
            <a:r>
              <a:rPr b="1" lang="en-US" sz="1300" spc="-1" strike="noStrike">
                <a:solidFill>
                  <a:srgbClr val="3465a4"/>
                </a:solidFill>
                <a:latin typeface="Times New Roman"/>
                <a:ea typeface="DejaVu Sans"/>
              </a:rPr>
              <a:t>mdPolicy</a:t>
            </a:r>
            <a:r>
              <a:rPr b="0" lang="en-US" sz="13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({0,0,0}, {N0,N1,N2}, {16,16,4});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i="1" lang="en-US" sz="1300" spc="-1" strike="noStrike">
                <a:solidFill>
                  <a:srgbClr val="c9211e"/>
                </a:solidFill>
                <a:latin typeface="Times New Roman"/>
                <a:ea typeface="DejaVu Sans"/>
              </a:rPr>
              <a:t>// Parallelization with reduction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3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double sum = 0.0;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3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Kokkos::parallel_reduce("MDLoop",</a:t>
            </a:r>
            <a:r>
              <a:rPr b="1" lang="en-US" sz="1300" spc="-1" strike="noStrike">
                <a:solidFill>
                  <a:srgbClr val="3465a4"/>
                </a:solidFill>
                <a:latin typeface="Times New Roman"/>
                <a:ea typeface="DejaVu Sans"/>
              </a:rPr>
              <a:t>mdPolicy</a:t>
            </a:r>
            <a:r>
              <a:rPr b="0" lang="en-US" sz="13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,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3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    </a:t>
            </a:r>
            <a:r>
              <a:rPr b="0" lang="en-US" sz="13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KOKKOS_LAMBDA(const int i, const int j, const int k, double &amp; lsum) {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3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        </a:t>
            </a:r>
            <a:r>
              <a:rPr b="0" lang="en-US" sz="13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lsum += compute_value(i,j,k);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3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    </a:t>
            </a:r>
            <a:r>
              <a:rPr b="0" lang="en-US" sz="13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}, sum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3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);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20" name="Section-Cubes- 17" descr=""/>
          <p:cNvPicPr/>
          <p:nvPr/>
        </p:nvPicPr>
        <p:blipFill>
          <a:blip r:embed="rId1"/>
          <a:stretch/>
        </p:blipFill>
        <p:spPr>
          <a:xfrm>
            <a:off x="8928360" y="4242960"/>
            <a:ext cx="1185840" cy="1150560"/>
          </a:xfrm>
          <a:prstGeom prst="rect">
            <a:avLst/>
          </a:prstGeom>
          <a:ln w="0">
            <a:noFill/>
          </a:ln>
          <a:effectLst>
            <a:outerShdw blurRad="0" dir="2700000" dist="101823" rotWithShape="0">
              <a:srgbClr val="d0d0d0"/>
            </a:outerShdw>
          </a:effectLst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"/>
          <p:cNvSpPr/>
          <p:nvPr/>
        </p:nvSpPr>
        <p:spPr>
          <a:xfrm>
            <a:off x="227160" y="180000"/>
            <a:ext cx="9141120" cy="371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n-US" sz="2000" spc="-1" strike="noStrike">
                <a:solidFill>
                  <a:srgbClr val="000000"/>
                </a:solidFill>
                <a:latin typeface="Arial"/>
                <a:ea typeface="DejaVu Sans"/>
              </a:rPr>
              <a:t>Kokkos Multidimensional Loops and Data Structures</a:t>
            </a:r>
            <a:endParaRPr b="1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2" name=""/>
          <p:cNvSpPr/>
          <p:nvPr/>
        </p:nvSpPr>
        <p:spPr>
          <a:xfrm>
            <a:off x="360000" y="720000"/>
            <a:ext cx="8607960" cy="280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n-US" sz="13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Advanced creation and manipulation of multidimensional Views: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i="1" lang="en-US" sz="1300" spc="-1" strike="noStrike">
                <a:solidFill>
                  <a:srgbClr val="c9211e"/>
                </a:solidFill>
                <a:latin typeface="Times New Roman"/>
                <a:ea typeface="DejaVu Sans"/>
              </a:rPr>
              <a:t>// Creation of a 4D view with specific layout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3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Kokkos::View&lt;double****, Kokkos::LayoutRight, Kokkos::CudaSpace&gt; </a:t>
            </a:r>
            <a:r>
              <a:rPr b="1" lang="en-US" sz="1300" spc="-1" strike="noStrike">
                <a:solidFill>
                  <a:srgbClr val="069a2e"/>
                </a:solidFill>
                <a:latin typeface="Times New Roman"/>
                <a:ea typeface="DejaVu Sans"/>
              </a:rPr>
              <a:t>data4D</a:t>
            </a:r>
            <a:r>
              <a:rPr b="0" lang="en-US" sz="13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("data4D", N0, N1, N2, N3);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i="1" lang="en-US" sz="1300" spc="-1" strike="noStrike">
                <a:solidFill>
                  <a:srgbClr val="c9211e"/>
                </a:solidFill>
                <a:latin typeface="Times New Roman"/>
                <a:ea typeface="DejaVu Sans"/>
              </a:rPr>
              <a:t>// Create a mirror view on the host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3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car</a:t>
            </a:r>
            <a:r>
              <a:rPr b="1" lang="en-US" sz="1300" spc="-1" strike="noStrike">
                <a:solidFill>
                  <a:srgbClr val="3465a4"/>
                </a:solidFill>
                <a:latin typeface="Times New Roman"/>
                <a:ea typeface="DejaVu Sans"/>
              </a:rPr>
              <a:t>data4D_hos</a:t>
            </a:r>
            <a:r>
              <a:rPr b="0" lang="en-US" sz="13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t = Kokkos::create_mirror_view(</a:t>
            </a:r>
            <a:r>
              <a:rPr b="1" lang="en-US" sz="1300" spc="-1" strike="noStrike">
                <a:solidFill>
                  <a:srgbClr val="069a2e"/>
                </a:solidFill>
                <a:latin typeface="Times New Roman"/>
                <a:ea typeface="DejaVu Sans"/>
              </a:rPr>
              <a:t>data4D</a:t>
            </a:r>
            <a:r>
              <a:rPr b="0" lang="en-US" sz="13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);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i="1" lang="en-US" sz="1300" spc="-1" strike="noStrike">
                <a:solidFill>
                  <a:srgbClr val="c9211e"/>
                </a:solidFill>
                <a:latin typeface="Times New Roman"/>
                <a:ea typeface="DejaVu Sans"/>
              </a:rPr>
              <a:t>// Populating the view on the host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3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Kokkos::parallel_for("FillHost", Kokkos::MDRangePolicy&lt;Kokkos::Rank&lt;4&gt;&gt;({0,0,0,0}, {N0,N1,N2,N3}),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3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    </a:t>
            </a:r>
            <a:r>
              <a:rPr b="0" lang="en-US" sz="13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KOKKOS_LAMBDA(int i, int j, int k, int l) {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3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        </a:t>
            </a:r>
            <a:r>
              <a:rPr b="1" lang="en-US" sz="1300" spc="-1" strike="noStrike">
                <a:solidFill>
                  <a:srgbClr val="3465a4"/>
                </a:solidFill>
                <a:latin typeface="Times New Roman"/>
                <a:ea typeface="DejaVu Sans"/>
              </a:rPr>
              <a:t>data4D_host</a:t>
            </a:r>
            <a:r>
              <a:rPr b="0" lang="en-US" sz="13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(i,j,k,l) ​​= compute_initial_value(i,j,k,l);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3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    </a:t>
            </a:r>
            <a:r>
              <a:rPr b="0" lang="en-US" sz="13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}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3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);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3" name=""/>
          <p:cNvSpPr/>
          <p:nvPr/>
        </p:nvSpPr>
        <p:spPr>
          <a:xfrm>
            <a:off x="1909800" y="3315240"/>
            <a:ext cx="7808040" cy="190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i="1" lang="en-US" sz="1300" spc="-1" strike="noStrike">
                <a:solidFill>
                  <a:srgbClr val="c9211e"/>
                </a:solidFill>
                <a:latin typeface="Times New Roman"/>
                <a:ea typeface="DejaVu Sans"/>
              </a:rPr>
              <a:t>// Copy data to the device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3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Kokkos::deep_copy(</a:t>
            </a:r>
            <a:r>
              <a:rPr b="1" lang="en-US" sz="1300" spc="-1" strike="noStrike">
                <a:solidFill>
                  <a:srgbClr val="069a2e"/>
                </a:solidFill>
                <a:latin typeface="Times New Roman"/>
                <a:ea typeface="DejaVu Sans"/>
              </a:rPr>
              <a:t>data4D</a:t>
            </a:r>
            <a:r>
              <a:rPr b="0" lang="en-US" sz="13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,</a:t>
            </a:r>
            <a:r>
              <a:rPr b="1" lang="en-US" sz="1300" spc="-1" strike="noStrike">
                <a:solidFill>
                  <a:srgbClr val="3465a4"/>
                </a:solidFill>
                <a:latin typeface="Times New Roman"/>
                <a:ea typeface="DejaVu Sans"/>
              </a:rPr>
              <a:t>data4D_host</a:t>
            </a:r>
            <a:r>
              <a:rPr b="0" lang="en-US" sz="13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);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i="1" lang="en-US" sz="1300" spc="-1" strike="noStrike">
                <a:solidFill>
                  <a:srgbClr val="c9211e"/>
                </a:solidFill>
                <a:latin typeface="Times New Roman"/>
                <a:ea typeface="DejaVu Sans"/>
              </a:rPr>
              <a:t>// Processing on the device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3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Kokkos::parallel_for("ProcessDevice", Kokkos::MDRangePolicy&lt;Kokkos::Rank&lt;4&gt;&gt;({0,0,0,0}, {N0,N1,N2,N3}),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3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    </a:t>
            </a:r>
            <a:r>
              <a:rPr b="0" lang="en-US" sz="13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KOKKOS_LAMBDA(int i, int j, int k, int l) {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3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        </a:t>
            </a:r>
            <a:r>
              <a:rPr b="1" lang="en-US" sz="1300" spc="-1" strike="noStrike">
                <a:solidFill>
                  <a:srgbClr val="069a2e"/>
                </a:solidFill>
                <a:latin typeface="Times New Roman"/>
                <a:ea typeface="DejaVu Sans"/>
              </a:rPr>
              <a:t>data4D</a:t>
            </a:r>
            <a:r>
              <a:rPr b="0" lang="en-US" sz="13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(i,j,k,l) ​​= process_data(</a:t>
            </a:r>
            <a:r>
              <a:rPr b="1" lang="en-US" sz="1300" spc="-1" strike="noStrike">
                <a:solidFill>
                  <a:srgbClr val="069a2e"/>
                </a:solidFill>
                <a:latin typeface="Times New Roman"/>
                <a:ea typeface="DejaVu Sans"/>
              </a:rPr>
              <a:t>data4D</a:t>
            </a:r>
            <a:r>
              <a:rPr b="0" lang="en-US" sz="13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(i,j,k,l));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3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    </a:t>
            </a:r>
            <a:r>
              <a:rPr b="0" lang="en-US" sz="13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}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3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);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24" name="Section-Cubes- 18" descr=""/>
          <p:cNvPicPr/>
          <p:nvPr/>
        </p:nvPicPr>
        <p:blipFill>
          <a:blip r:embed="rId1"/>
          <a:stretch/>
        </p:blipFill>
        <p:spPr>
          <a:xfrm>
            <a:off x="8928360" y="4242960"/>
            <a:ext cx="1185840" cy="1150560"/>
          </a:xfrm>
          <a:prstGeom prst="rect">
            <a:avLst/>
          </a:prstGeom>
          <a:ln w="0">
            <a:noFill/>
          </a:ln>
          <a:effectLst>
            <a:outerShdw blurRad="0" dir="2700000" dist="101823" rotWithShape="0">
              <a:srgbClr val="d0d0d0"/>
            </a:outerShdw>
          </a:effectLst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"/>
          <p:cNvSpPr/>
          <p:nvPr/>
        </p:nvSpPr>
        <p:spPr>
          <a:xfrm>
            <a:off x="227160" y="180000"/>
            <a:ext cx="9141120" cy="371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n-US" sz="2000" spc="-1" strike="noStrike">
                <a:solidFill>
                  <a:srgbClr val="000000"/>
                </a:solidFill>
                <a:latin typeface="Arial"/>
                <a:ea typeface="DejaVu Sans"/>
              </a:rPr>
              <a:t>Kokkos Multidimensional Loops and Data Structures</a:t>
            </a:r>
            <a:endParaRPr b="1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6" name=""/>
          <p:cNvSpPr/>
          <p:nvPr/>
        </p:nvSpPr>
        <p:spPr>
          <a:xfrm>
            <a:off x="720000" y="1080000"/>
            <a:ext cx="8670600" cy="3417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n-US" sz="13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Advanced use of layouts and subviews: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1300" spc="-1" strike="noStrike">
                <a:solidFill>
                  <a:srgbClr val="c9211e"/>
                </a:solidFill>
                <a:latin typeface="Times New Roman"/>
                <a:ea typeface="DejaVu Sans"/>
              </a:rPr>
              <a:t>// Creating a view with LayoutStride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3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Kokkos::View&lt;double***, Kokkos::LayoutStride&gt; strided_view("strided",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3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    </a:t>
            </a:r>
            <a:r>
              <a:rPr b="0" lang="en-US" sz="13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Kokkos::LayoutStride::padding({N0,N1,N2}, {N1*N2, N2, 2}));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i="1" lang="en-US" sz="1300" spc="-1" strike="noStrike">
                <a:solidFill>
                  <a:srgbClr val="c9211e"/>
                </a:solidFill>
                <a:latin typeface="Times New Roman"/>
                <a:ea typeface="DejaVu Sans"/>
              </a:rPr>
              <a:t>// Creating a subview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3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car</a:t>
            </a:r>
            <a:r>
              <a:rPr b="1" lang="en-US" sz="1300" spc="-1" strike="noStrike">
                <a:solidFill>
                  <a:srgbClr val="3465a4"/>
                </a:solidFill>
                <a:latin typeface="Times New Roman"/>
                <a:ea typeface="DejaVu Sans"/>
              </a:rPr>
              <a:t>sub_view</a:t>
            </a:r>
            <a:r>
              <a:rPr b="0" lang="en-US" sz="13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= Kokkos::subview(data4D, Kokkos::ALL, Kokkos::ALL, 5, Kokkos::range(10,20));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i="1" lang="en-US" sz="1300" spc="-1" strike="noStrike">
                <a:solidFill>
                  <a:srgbClr val="c9211e"/>
                </a:solidFill>
                <a:latin typeface="Times New Roman"/>
                <a:ea typeface="DejaVu Sans"/>
              </a:rPr>
              <a:t>// Using the subview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3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Kokkos::parallel_for("SubviewProcess", Kokkos::MDRangePolicy&lt;Kokkos::Rank&lt;3&gt;&gt;({0,0,0}, {N0,N1,10}),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3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    </a:t>
            </a:r>
            <a:r>
              <a:rPr b="0" lang="en-US" sz="13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KOKKOS_LAMBDA(int i, int j, int k) {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3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        </a:t>
            </a:r>
            <a:r>
              <a:rPr b="1" lang="en-US" sz="1300" spc="-1" strike="noStrike">
                <a:solidFill>
                  <a:srgbClr val="3465a4"/>
                </a:solidFill>
                <a:latin typeface="Times New Roman"/>
                <a:ea typeface="DejaVu Sans"/>
              </a:rPr>
              <a:t>sub_view</a:t>
            </a:r>
            <a:r>
              <a:rPr b="0" lang="en-US" sz="13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(i,j,k) *= 2.0;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3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    </a:t>
            </a:r>
            <a:r>
              <a:rPr b="0" lang="en-US" sz="13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}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3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);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7" name=""/>
          <p:cNvSpPr/>
          <p:nvPr/>
        </p:nvSpPr>
        <p:spPr>
          <a:xfrm>
            <a:off x="609840" y="2799000"/>
            <a:ext cx="178920" cy="451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fr-FR" sz="13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28" name="Section-Cubes- 19" descr=""/>
          <p:cNvPicPr/>
          <p:nvPr/>
        </p:nvPicPr>
        <p:blipFill>
          <a:blip r:embed="rId1"/>
          <a:stretch/>
        </p:blipFill>
        <p:spPr>
          <a:xfrm>
            <a:off x="8928360" y="4242960"/>
            <a:ext cx="1185840" cy="1150560"/>
          </a:xfrm>
          <a:prstGeom prst="rect">
            <a:avLst/>
          </a:prstGeom>
          <a:ln w="0">
            <a:noFill/>
          </a:ln>
          <a:effectLst>
            <a:outerShdw blurRad="0" dir="2700000" dist="101823" rotWithShape="0">
              <a:srgbClr val="d0d0d0"/>
            </a:outerShdw>
          </a:effectLst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"/>
          <p:cNvSpPr/>
          <p:nvPr/>
        </p:nvSpPr>
        <p:spPr>
          <a:xfrm>
            <a:off x="227160" y="180000"/>
            <a:ext cx="9141120" cy="371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n-US" sz="2000" spc="-1" strike="noStrike">
                <a:solidFill>
                  <a:srgbClr val="000000"/>
                </a:solidFill>
                <a:latin typeface="Arial"/>
                <a:ea typeface="DejaVu Sans"/>
              </a:rPr>
              <a:t>Kokkos Multidimensional Loops and Data Structures</a:t>
            </a:r>
            <a:endParaRPr b="1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0" name=""/>
          <p:cNvSpPr/>
          <p:nvPr/>
        </p:nvSpPr>
        <p:spPr>
          <a:xfrm>
            <a:off x="415800" y="891720"/>
            <a:ext cx="9177840" cy="423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n-US" sz="13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Performance optimization: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i="1" lang="en-US" sz="1300" spc="-1" strike="noStrike">
                <a:solidFill>
                  <a:srgbClr val="c9211e"/>
                </a:solidFill>
                <a:latin typeface="Times New Roman"/>
                <a:ea typeface="DejaVu Sans"/>
              </a:rPr>
              <a:t>// Using the Unmanaged attribute to avoid memory allocation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3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double* raw_ptr = /* ... */;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3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Kokkos::View&lt;double**, Kokkos::LayoutRight, Kokkos::HostSpace, Kokkos::MemoryTraits&lt;Kokkos::Unmanaged&gt;&gt;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3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    </a:t>
            </a:r>
            <a:r>
              <a:rPr b="0" lang="en-US" sz="13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unmanaged_view(raw_ptr, N0, N1);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i="1" lang="en-US" sz="1300" spc="-1" strike="noStrike">
                <a:solidFill>
                  <a:srgbClr val="c9211e"/>
                </a:solidFill>
                <a:latin typeface="Times New Roman"/>
                <a:ea typeface="DejaVu Sans"/>
              </a:rPr>
              <a:t>// Using the RandomAccess attribute to optimize random accesses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3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Kokkos::View&lt;double**, Kokkos::LayoutRight, Kokkos::DefaultExecutionSpace::memory_space,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3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             </a:t>
            </a:r>
            <a:r>
              <a:rPr b="0" lang="en-US" sz="13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Kokkos::MemoryTraits&lt;Kokkos::RandomAccess&gt;&gt;</a:t>
            </a:r>
            <a:r>
              <a:rPr b="1" lang="en-US" sz="1300" spc="-1" strike="noStrike">
                <a:solidFill>
                  <a:srgbClr val="3465a4"/>
                </a:solidFill>
                <a:latin typeface="Times New Roman"/>
                <a:ea typeface="DejaVu Sans"/>
              </a:rPr>
              <a:t>random_access_view</a:t>
            </a:r>
            <a:r>
              <a:rPr b="0" lang="en-US" sz="13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("random", N0, N1);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i="1" lang="en-US" sz="1300" spc="-1" strike="noStrike">
                <a:solidFill>
                  <a:srgbClr val="c9211e"/>
                </a:solidFill>
                <a:latin typeface="Times New Roman"/>
                <a:ea typeface="DejaVu Sans"/>
              </a:rPr>
              <a:t>// Parallelization with optimized access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3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Kokkos::parallel_for("OptimizedAccess", Kokkos::RangePolicy&lt;&gt;(0, N),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3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    </a:t>
            </a:r>
            <a:r>
              <a:rPr b="0" lang="en-US" sz="13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KOKKOS_LAMBDA(const int i) {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3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        </a:t>
            </a:r>
            <a:r>
              <a:rPr b="0" lang="en-US" sz="13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int j = compute_index(i);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3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        </a:t>
            </a:r>
            <a:r>
              <a:rPr b="0" lang="en-US" sz="13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double value =</a:t>
            </a:r>
            <a:r>
              <a:rPr b="1" lang="en-US" sz="1300" spc="-1" strike="noStrike">
                <a:solidFill>
                  <a:srgbClr val="3465a4"/>
                </a:solidFill>
                <a:latin typeface="Times New Roman"/>
                <a:ea typeface="DejaVu Sans"/>
              </a:rPr>
              <a:t>random_access_view</a:t>
            </a:r>
            <a:r>
              <a:rPr b="0" lang="en-US" sz="13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(i, j);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3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        </a:t>
            </a:r>
            <a:r>
              <a:rPr b="1" i="1" lang="en-US" sz="1300" spc="-1" strike="noStrike">
                <a:solidFill>
                  <a:srgbClr val="bf0041"/>
                </a:solidFill>
                <a:latin typeface="Times New Roman"/>
                <a:ea typeface="DejaVu Sans"/>
              </a:rPr>
              <a:t>// Treatment...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3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    </a:t>
            </a:r>
            <a:r>
              <a:rPr b="0" lang="en-US" sz="13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}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3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);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31" name="Section-Cubes- 20" descr=""/>
          <p:cNvPicPr/>
          <p:nvPr/>
        </p:nvPicPr>
        <p:blipFill>
          <a:blip r:embed="rId1"/>
          <a:stretch/>
        </p:blipFill>
        <p:spPr>
          <a:xfrm>
            <a:off x="8928360" y="4242960"/>
            <a:ext cx="1185840" cy="1150560"/>
          </a:xfrm>
          <a:prstGeom prst="rect">
            <a:avLst/>
          </a:prstGeom>
          <a:ln w="0">
            <a:noFill/>
          </a:ln>
          <a:effectLst>
            <a:outerShdw blurRad="0" dir="2700000" dist="101823" rotWithShape="0">
              <a:srgbClr val="d0d0d0"/>
            </a:outerShdw>
          </a:effectLst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"/>
          <p:cNvSpPr/>
          <p:nvPr/>
        </p:nvSpPr>
        <p:spPr>
          <a:xfrm>
            <a:off x="2160000" y="2808000"/>
            <a:ext cx="6465960" cy="1415160"/>
          </a:xfrm>
          <a:prstGeom prst="rect">
            <a:avLst/>
          </a:prstGeom>
          <a:noFill/>
          <a:ln w="108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30000"/>
              </a:lnSpc>
              <a:spcBef>
                <a:spcPts val="479"/>
              </a:spcBef>
              <a:tabLst>
                <a:tab algn="l" pos="0"/>
              </a:tabLst>
            </a:pPr>
            <a:r>
              <a:rPr b="1" lang="en-US" sz="2200" spc="-12" strike="noStrike">
                <a:solidFill>
                  <a:srgbClr val="c9211e"/>
                </a:solidFill>
                <a:latin typeface="Arial"/>
                <a:ea typeface="DejaVu Sans"/>
              </a:rPr>
              <a:t>A</a:t>
            </a:r>
            <a:r>
              <a:rPr b="1" lang="en-US" sz="2200" spc="-12" strike="noStrike">
                <a:solidFill>
                  <a:srgbClr val="050505"/>
                </a:solidFill>
                <a:latin typeface="Arial"/>
                <a:ea typeface="DejaVu Sans"/>
              </a:rPr>
              <a:t>dvanced </a:t>
            </a:r>
            <a:r>
              <a:rPr b="1" lang="en-US" sz="2200" spc="-12" strike="noStrike">
                <a:solidFill>
                  <a:srgbClr val="c9211e"/>
                </a:solidFill>
                <a:latin typeface="Arial"/>
                <a:ea typeface="DejaVu Sans"/>
              </a:rPr>
              <a:t>R</a:t>
            </a:r>
            <a:r>
              <a:rPr b="1" lang="en-US" sz="2200" spc="-12" strike="noStrike">
                <a:solidFill>
                  <a:srgbClr val="050505"/>
                </a:solidFill>
                <a:latin typeface="Arial"/>
                <a:ea typeface="DejaVu Sans"/>
              </a:rPr>
              <a:t>eduction</a:t>
            </a:r>
            <a:r>
              <a:rPr b="1" lang="en-US" sz="2200" spc="-1" strike="noStrike">
                <a:solidFill>
                  <a:srgbClr val="000000"/>
                </a:solidFill>
                <a:latin typeface="Calibri"/>
                <a:ea typeface="Songti SC"/>
              </a:rPr>
              <a:t>  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30000"/>
              </a:lnSpc>
              <a:spcBef>
                <a:spcPts val="479"/>
              </a:spcBef>
              <a:tabLst>
                <a:tab algn="l" pos="0"/>
              </a:tabLs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33" name="" descr=""/>
          <p:cNvPicPr/>
          <p:nvPr/>
        </p:nvPicPr>
        <p:blipFill>
          <a:blip r:embed="rId1"/>
          <a:stretch/>
        </p:blipFill>
        <p:spPr>
          <a:xfrm>
            <a:off x="2052000" y="2484720"/>
            <a:ext cx="1411920" cy="1395720"/>
          </a:xfrm>
          <a:prstGeom prst="rect">
            <a:avLst/>
          </a:prstGeom>
          <a:ln w="0">
            <a:noFill/>
          </a:ln>
          <a:effectLst>
            <a:outerShdw blurRad="0" dir="2700000" dist="101823" rotWithShape="0">
              <a:srgbClr val="bababa"/>
            </a:outerShdw>
          </a:effectLst>
        </p:spPr>
      </p:pic>
      <p:pic>
        <p:nvPicPr>
          <p:cNvPr id="234" name="" descr=""/>
          <p:cNvPicPr/>
          <p:nvPr/>
        </p:nvPicPr>
        <p:blipFill>
          <a:blip r:embed="rId2"/>
          <a:stretch/>
        </p:blipFill>
        <p:spPr>
          <a:xfrm>
            <a:off x="7505280" y="2509200"/>
            <a:ext cx="1163160" cy="1113840"/>
          </a:xfrm>
          <a:prstGeom prst="rect">
            <a:avLst/>
          </a:prstGeom>
          <a:ln w="0">
            <a:noFill/>
          </a:ln>
        </p:spPr>
      </p:pic>
      <p:pic>
        <p:nvPicPr>
          <p:cNvPr id="235" name="Cycles- 1" descr=""/>
          <p:cNvPicPr/>
          <p:nvPr/>
        </p:nvPicPr>
        <p:blipFill>
          <a:blip r:embed="rId3"/>
          <a:stretch/>
        </p:blipFill>
        <p:spPr>
          <a:xfrm>
            <a:off x="7243200" y="2193120"/>
            <a:ext cx="1708920" cy="16830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PlaceHolder 6"/>
          <p:cNvSpPr/>
          <p:nvPr/>
        </p:nvSpPr>
        <p:spPr>
          <a:xfrm>
            <a:off x="275040" y="222480"/>
            <a:ext cx="4222080" cy="463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3320" bIns="0" anchor="t">
            <a:noAutofit/>
          </a:bodyPr>
          <a:p>
            <a:pPr marL="12600">
              <a:lnSpc>
                <a:spcPct val="100000"/>
              </a:lnSpc>
              <a:spcBef>
                <a:spcPts val="105"/>
              </a:spcBef>
              <a:tabLst>
                <a:tab algn="l" pos="0"/>
              </a:tabLst>
            </a:pPr>
            <a:r>
              <a:rPr b="1" lang="en-US" sz="2000" spc="-12" strike="noStrike">
                <a:solidFill>
                  <a:srgbClr val="050505"/>
                </a:solidFill>
                <a:latin typeface="Arial"/>
                <a:ea typeface="DejaVu Sans"/>
              </a:rPr>
              <a:t>Kokkos Advanced Reductions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37" name="" descr=""/>
          <p:cNvPicPr/>
          <p:nvPr/>
        </p:nvPicPr>
        <p:blipFill>
          <a:blip r:embed="rId1"/>
          <a:stretch/>
        </p:blipFill>
        <p:spPr>
          <a:xfrm>
            <a:off x="7992000" y="1620000"/>
            <a:ext cx="1725120" cy="1725120"/>
          </a:xfrm>
          <a:prstGeom prst="rect">
            <a:avLst/>
          </a:prstGeom>
          <a:ln w="0">
            <a:noFill/>
          </a:ln>
        </p:spPr>
      </p:pic>
      <p:sp>
        <p:nvSpPr>
          <p:cNvPr id="238" name=""/>
          <p:cNvSpPr/>
          <p:nvPr/>
        </p:nvSpPr>
        <p:spPr>
          <a:xfrm>
            <a:off x="324000" y="1080000"/>
            <a:ext cx="7902360" cy="3570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14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Parallel reductions</a:t>
            </a:r>
            <a:r>
              <a:rPr b="0" lang="en-US" sz="14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: Combining individual calculation results into a single value.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14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Main function</a:t>
            </a:r>
            <a:r>
              <a:rPr b="0" lang="en-US" sz="14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: Using `Kokkos::parallel_reduce` to consolidate data across multiple processing units.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14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Key concept of the "reducer"</a:t>
            </a:r>
            <a:r>
              <a:rPr b="0" lang="en-US" sz="14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: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  </a:t>
            </a:r>
            <a:r>
              <a:rPr b="0" lang="en-US" sz="14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- Logic of combining intermediate values.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  </a:t>
            </a:r>
            <a:r>
              <a:rPr b="0" lang="en-US" sz="14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- Definition of the merge operation.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  </a:t>
            </a:r>
            <a:r>
              <a:rPr b="0" lang="en-US" sz="14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- Initialization of private variables per thread.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  </a:t>
            </a:r>
            <a:r>
              <a:rPr b="0" lang="en-US" sz="14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- Management of the localization of the final result.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14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Benefits</a:t>
            </a:r>
            <a:r>
              <a:rPr b="0" lang="en-US" sz="14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: Provides a powerful framework for complex reduction operations, optimizing performance in high-performance computing applications.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marL="360000">
              <a:lnSpc>
                <a:spcPct val="100000"/>
              </a:lnSpc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marL="360000">
              <a:lnSpc>
                <a:spcPct val="100000"/>
              </a:lnSpc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PlaceHolder 24"/>
          <p:cNvSpPr/>
          <p:nvPr/>
        </p:nvSpPr>
        <p:spPr>
          <a:xfrm>
            <a:off x="275040" y="222480"/>
            <a:ext cx="4222080" cy="463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3320" bIns="0" anchor="t">
            <a:noAutofit/>
          </a:bodyPr>
          <a:p>
            <a:pPr marL="12600">
              <a:lnSpc>
                <a:spcPct val="100000"/>
              </a:lnSpc>
              <a:spcBef>
                <a:spcPts val="105"/>
              </a:spcBef>
              <a:tabLst>
                <a:tab algn="l" pos="0"/>
              </a:tabLst>
            </a:pPr>
            <a:r>
              <a:rPr b="1" lang="en-US" sz="2000" spc="-12" strike="noStrike">
                <a:solidFill>
                  <a:srgbClr val="050505"/>
                </a:solidFill>
                <a:latin typeface="Arial"/>
                <a:ea typeface="DejaVu Sans"/>
              </a:rPr>
              <a:t>Kokkos Advanced Reductions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0" name=""/>
          <p:cNvSpPr/>
          <p:nvPr/>
        </p:nvSpPr>
        <p:spPr>
          <a:xfrm>
            <a:off x="216360" y="830880"/>
            <a:ext cx="9796320" cy="421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241" name=""/>
          <p:cNvSpPr/>
          <p:nvPr/>
        </p:nvSpPr>
        <p:spPr>
          <a:xfrm>
            <a:off x="2235960" y="1651320"/>
            <a:ext cx="5696280" cy="1754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The "</a:t>
            </a:r>
            <a:r>
              <a:rPr b="1" lang="en-US" sz="14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Reducers</a:t>
            </a:r>
            <a:r>
              <a:rPr b="0" lang="en-US" sz="14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" are classes which: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marL="360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Provide information to combine (reduce) two values.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marL="360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 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marL="360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Know how to initialize private variables for each thread.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marL="360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 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marL="360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Determine where to store the final result of the reduction.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PlaceHolder 2"/>
          <p:cNvSpPr/>
          <p:nvPr/>
        </p:nvSpPr>
        <p:spPr>
          <a:xfrm>
            <a:off x="275040" y="222480"/>
            <a:ext cx="4222080" cy="463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3320" bIns="0" anchor="t">
            <a:noAutofit/>
          </a:bodyPr>
          <a:p>
            <a:pPr marL="12600">
              <a:lnSpc>
                <a:spcPct val="100000"/>
              </a:lnSpc>
              <a:spcBef>
                <a:spcPts val="105"/>
              </a:spcBef>
              <a:tabLst>
                <a:tab algn="l" pos="0"/>
              </a:tabLst>
            </a:pPr>
            <a:r>
              <a:rPr b="1" lang="en-US" sz="2000" spc="-12" strike="noStrike">
                <a:solidFill>
                  <a:srgbClr val="050505"/>
                </a:solidFill>
                <a:latin typeface="Arial"/>
                <a:ea typeface="DejaVu Sans"/>
              </a:rPr>
              <a:t>Kokkos Advanced Reductions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3" name=""/>
          <p:cNvSpPr/>
          <p:nvPr/>
        </p:nvSpPr>
        <p:spPr>
          <a:xfrm>
            <a:off x="216360" y="830880"/>
            <a:ext cx="9796320" cy="421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Kokkos provides </a:t>
            </a:r>
            <a:r>
              <a:rPr b="1" lang="en-US" sz="14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Reducers </a:t>
            </a:r>
            <a:r>
              <a:rPr b="0" lang="en-US" sz="14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for the most common types of reduction, such as: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marL="720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BAnd: Binary reduction "and"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marL="720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BOr: Binary reduction "or"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marL="720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LAnd: Logical reduction "and"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marL="720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LOr: Logical reduction "or"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marL="720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Max: Find the maximum value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marL="720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MaxLoc: Retrieve the maximum value and its associated index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marL="720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Min: Find the minimum value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marL="720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MinLoc: Retrieve the minimum value and its associated index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marL="720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MinMax: Find the minimum and maximum values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marL="720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MinMaxLoc: Find the maximum and minimum values ​​and their associated indices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marL="720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Prod: Calculate the product of all input values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marL="720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Sum: For simple summations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PlaceHolder 8"/>
          <p:cNvSpPr/>
          <p:nvPr/>
        </p:nvSpPr>
        <p:spPr>
          <a:xfrm>
            <a:off x="275040" y="222480"/>
            <a:ext cx="4222080" cy="463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3320" bIns="0" anchor="t">
            <a:noAutofit/>
          </a:bodyPr>
          <a:p>
            <a:pPr marL="12600">
              <a:lnSpc>
                <a:spcPct val="100000"/>
              </a:lnSpc>
              <a:spcBef>
                <a:spcPts val="105"/>
              </a:spcBef>
              <a:tabLst>
                <a:tab algn="l" pos="0"/>
              </a:tabLst>
            </a:pPr>
            <a:r>
              <a:rPr b="1" lang="en-US" sz="2000" spc="-12" strike="noStrike">
                <a:solidFill>
                  <a:srgbClr val="050505"/>
                </a:solidFill>
                <a:latin typeface="Arial"/>
                <a:ea typeface="DejaVu Sans"/>
              </a:rPr>
              <a:t>Kokkos Advanced Reductions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5" name=""/>
          <p:cNvSpPr/>
          <p:nvPr/>
        </p:nvSpPr>
        <p:spPr>
          <a:xfrm>
            <a:off x="794160" y="3044520"/>
            <a:ext cx="7990560" cy="209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n-US" sz="13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Multiple discounts:  </a:t>
            </a:r>
            <a:r>
              <a:rPr b="0" lang="en-US" sz="13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Kokkos allows you to perform multiple reductions at the same time.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3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For example, to calculate both the maximum value and the sum of the entries in a View: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marL="360000">
              <a:lnSpc>
                <a:spcPct val="100000"/>
              </a:lnSpc>
            </a:pPr>
            <a:r>
              <a:rPr b="0" lang="en-US" sz="13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double max_val, sum_val;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marL="360000">
              <a:lnSpc>
                <a:spcPct val="100000"/>
              </a:lnSpc>
            </a:pPr>
            <a:r>
              <a:rPr b="1" lang="en-US" sz="13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Kokkos::parallel_reduce</a:t>
            </a:r>
            <a:r>
              <a:rPr b="0" lang="en-US" sz="13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("MultiReduce", N, KOKKOS_LAMBDA (const int&amp; i, double&amp; lmax, double&amp; lsum) {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marL="360000">
              <a:lnSpc>
                <a:spcPct val="100000"/>
              </a:lnSpc>
            </a:pPr>
            <a:r>
              <a:rPr b="0" lang="en-US" sz="13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    </a:t>
            </a:r>
            <a:r>
              <a:rPr b="0" lang="en-US" sz="13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double val = a(i);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marL="360000">
              <a:lnSpc>
                <a:spcPct val="100000"/>
              </a:lnSpc>
            </a:pPr>
            <a:r>
              <a:rPr b="0" lang="en-US" sz="13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    </a:t>
            </a:r>
            <a:r>
              <a:rPr b="0" lang="en-US" sz="13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if (val &gt; lmax) lmax = val;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marL="360000">
              <a:lnSpc>
                <a:spcPct val="100000"/>
              </a:lnSpc>
            </a:pPr>
            <a:r>
              <a:rPr b="0" lang="en-US" sz="13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    </a:t>
            </a:r>
            <a:r>
              <a:rPr b="0" lang="en-US" sz="13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lsum += val;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marL="360000">
              <a:lnSpc>
                <a:spcPct val="100000"/>
              </a:lnSpc>
            </a:pPr>
            <a:r>
              <a:rPr b="0" lang="en-US" sz="13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},</a:t>
            </a:r>
            <a:r>
              <a:rPr b="1" lang="en-US" sz="13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Kokkos::Max</a:t>
            </a:r>
            <a:r>
              <a:rPr b="0" lang="en-US" sz="13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&lt;double&gt;(max_val),</a:t>
            </a:r>
            <a:r>
              <a:rPr b="1" lang="en-US" sz="13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Kokkos::Sum</a:t>
            </a:r>
            <a:r>
              <a:rPr b="0" lang="en-US" sz="13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&lt;double&gt;(sum_val)) ;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6" name=""/>
          <p:cNvSpPr/>
          <p:nvPr/>
        </p:nvSpPr>
        <p:spPr>
          <a:xfrm>
            <a:off x="236160" y="1016280"/>
            <a:ext cx="6587640" cy="192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n-US" sz="13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Using Built-in Reducers </a:t>
            </a:r>
            <a:r>
              <a:rPr b="0" lang="en-US" sz="13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to use a built-in Reducer: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3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double min;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13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Kokkos::parallel_reduce</a:t>
            </a:r>
            <a:r>
              <a:rPr b="0" lang="en-US" sz="13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("MinReduce", N, KOKKOS_LAMBDA (const int&amp; x, double&amp; lmin) {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3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    </a:t>
            </a:r>
            <a:r>
              <a:rPr b="0" lang="en-US" sz="13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double val = (1.0*x - 7.2) * (1.0*x - 7.2) + 3.5;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3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    </a:t>
            </a:r>
            <a:r>
              <a:rPr b="0" lang="en-US" sz="13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if (val &lt; lmin) lmin = val;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3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},</a:t>
            </a:r>
            <a:r>
              <a:rPr b="1" lang="en-US" sz="13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Kokkos::Min</a:t>
            </a:r>
            <a:r>
              <a:rPr b="0" lang="en-US" sz="13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&lt;double&gt;(min));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3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printf("Min: %lf\n", min);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47" name="Section-Cubes- 1" descr=""/>
          <p:cNvPicPr/>
          <p:nvPr/>
        </p:nvPicPr>
        <p:blipFill>
          <a:blip r:embed="rId1"/>
          <a:stretch/>
        </p:blipFill>
        <p:spPr>
          <a:xfrm>
            <a:off x="8892360" y="4206960"/>
            <a:ext cx="1185840" cy="1150560"/>
          </a:xfrm>
          <a:prstGeom prst="rect">
            <a:avLst/>
          </a:prstGeom>
          <a:ln w="0">
            <a:noFill/>
          </a:ln>
          <a:effectLst>
            <a:outerShdw blurRad="0" dir="2700000" dist="101823" rotWithShape="0">
              <a:srgbClr val="d0d0d0"/>
            </a:outerShdw>
          </a:effectLst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PlaceHolder 10"/>
          <p:cNvSpPr/>
          <p:nvPr/>
        </p:nvSpPr>
        <p:spPr>
          <a:xfrm>
            <a:off x="275040" y="222480"/>
            <a:ext cx="4222080" cy="463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3320" bIns="0" anchor="t">
            <a:noAutofit/>
          </a:bodyPr>
          <a:p>
            <a:pPr marL="12600">
              <a:lnSpc>
                <a:spcPct val="100000"/>
              </a:lnSpc>
              <a:spcBef>
                <a:spcPts val="105"/>
              </a:spcBef>
              <a:tabLst>
                <a:tab algn="l" pos="0"/>
              </a:tabLst>
            </a:pPr>
            <a:r>
              <a:rPr b="1" lang="en-US" sz="2000" spc="-12" strike="noStrike">
                <a:solidFill>
                  <a:srgbClr val="050505"/>
                </a:solidFill>
                <a:latin typeface="Arial"/>
                <a:ea typeface="DejaVu Sans"/>
              </a:rPr>
              <a:t>Kokkos Advanced Reductions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9" name=""/>
          <p:cNvSpPr/>
          <p:nvPr/>
        </p:nvSpPr>
        <p:spPr>
          <a:xfrm>
            <a:off x="180000" y="1330920"/>
            <a:ext cx="9357120" cy="3255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n-US" sz="13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Using Reducers with localization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3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For the `MinLoc`, `MaxLoc`, and `MinMaxLoc` Reducers, the reduction type is a complex scalar type that contains `val` and `loc` members to store the reduction value and index, respectively. Here is an example: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3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typedef Kokkos::MinLoc&lt;double,int&gt;::value_type minloc_type;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3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minloc_type minloc;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13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Kokkos::parallel_reduce</a:t>
            </a:r>
            <a:r>
              <a:rPr b="0" lang="en-US" sz="13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("MinLocReduce", N, KOKKOS_LAMBDA (const int&amp; x, minloc_type&amp; lminloc) {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3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    </a:t>
            </a:r>
            <a:r>
              <a:rPr b="0" lang="en-US" sz="13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double val = (1.0*x - 7.2) * (1.0*x - 7.2) + 3.5;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3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    </a:t>
            </a:r>
            <a:r>
              <a:rPr b="0" lang="en-US" sz="13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if (val &lt; lminloc.val) {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3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        </a:t>
            </a:r>
            <a:r>
              <a:rPr b="0" lang="en-US" sz="13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lminloc.val = val;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3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        </a:t>
            </a:r>
            <a:r>
              <a:rPr b="0" lang="en-US" sz="13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lminloc.loc = x;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3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    </a:t>
            </a:r>
            <a:r>
              <a:rPr b="0" lang="en-US" sz="13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}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3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},</a:t>
            </a:r>
            <a:r>
              <a:rPr b="1" lang="en-US" sz="13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Kokkos::MinLoc</a:t>
            </a:r>
            <a:r>
              <a:rPr b="0" lang="en-US" sz="13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&lt;double,int&gt;(minloc));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3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printf("Min: %lf at %i\n", minloc.val, minloc.loc);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50" name="Section-Cubes- 2" descr=""/>
          <p:cNvPicPr/>
          <p:nvPr/>
        </p:nvPicPr>
        <p:blipFill>
          <a:blip r:embed="rId1"/>
          <a:stretch/>
        </p:blipFill>
        <p:spPr>
          <a:xfrm>
            <a:off x="8892360" y="4206960"/>
            <a:ext cx="1185840" cy="1150560"/>
          </a:xfrm>
          <a:prstGeom prst="rect">
            <a:avLst/>
          </a:prstGeom>
          <a:ln w="0">
            <a:noFill/>
          </a:ln>
          <a:effectLst>
            <a:outerShdw blurRad="0" dir="2700000" dist="101823" rotWithShape="0">
              <a:srgbClr val="d0d0d0"/>
            </a:outerShdw>
          </a:effectLst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PlaceHolder 9"/>
          <p:cNvSpPr/>
          <p:nvPr/>
        </p:nvSpPr>
        <p:spPr>
          <a:xfrm>
            <a:off x="275040" y="222480"/>
            <a:ext cx="5148000" cy="463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3320" bIns="0" anchor="t">
            <a:noAutofit/>
          </a:bodyPr>
          <a:p>
            <a:pPr marL="12600">
              <a:lnSpc>
                <a:spcPct val="100000"/>
              </a:lnSpc>
              <a:spcBef>
                <a:spcPts val="105"/>
              </a:spcBef>
              <a:tabLst>
                <a:tab algn="l" pos="0"/>
              </a:tabLst>
            </a:pPr>
            <a:r>
              <a:rPr b="1" lang="en-US" sz="2000" spc="-12" strike="noStrike">
                <a:solidFill>
                  <a:srgbClr val="050505"/>
                </a:solidFill>
                <a:latin typeface="Arial"/>
                <a:ea typeface="DejaVu Sans"/>
              </a:rPr>
              <a:t>Kokkos Personalized Reductions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2" name=""/>
          <p:cNvSpPr/>
          <p:nvPr/>
        </p:nvSpPr>
        <p:spPr>
          <a:xfrm>
            <a:off x="180000" y="674280"/>
            <a:ext cx="10019880" cy="454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3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For completely arbitrary reductions, you must provide an implementation of a Reducer class.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3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template&lt;class Scalar&gt;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3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Structure </a:t>
            </a:r>
            <a:r>
              <a:rPr b="1" lang="en-US" sz="13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CustomReducer</a:t>
            </a:r>
            <a:r>
              <a:rPr b="0" lang="en-US" sz="13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{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3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    </a:t>
            </a:r>
            <a:r>
              <a:rPr b="0" lang="en-US" sz="13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typedef CustomReducer reducer;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3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    </a:t>
            </a:r>
            <a:r>
              <a:rPr b="0" lang="en-US" sz="13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typedef Scalar value_type;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3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    </a:t>
            </a:r>
            <a:r>
              <a:rPr b="0" lang="en-US" sz="13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Scalar&amp; value;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3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    </a:t>
            </a:r>
            <a:r>
              <a:rPr b="0" lang="en-US" sz="13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KOKKOS_INLINE_FUNCTION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3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    </a:t>
            </a:r>
            <a:r>
              <a:rPr b="0" lang="en-US" sz="13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CustomReducer(Scalar&amp; value_) : value(value_) {}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3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    </a:t>
            </a:r>
            <a:r>
              <a:rPr b="0" lang="en-US" sz="13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KOKKOS_INLINE_FUNCTION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3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    </a:t>
            </a:r>
            <a:r>
              <a:rPr b="0" lang="en-US" sz="13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void join(Scalar&amp; dest, const Scalar&amp; src) const {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3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      </a:t>
            </a:r>
            <a:r>
              <a:rPr b="0" i="1" lang="en-US" sz="13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  </a:t>
            </a:r>
            <a:r>
              <a:rPr b="1" i="1" lang="en-US" sz="1300" spc="-1" strike="noStrike">
                <a:solidFill>
                  <a:srgbClr val="c9211e"/>
                </a:solidFill>
                <a:latin typeface="Times New Roman"/>
                <a:ea typeface="DejaVu Sans"/>
              </a:rPr>
              <a:t>// Define your custom reduction operation here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3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        </a:t>
            </a:r>
            <a:r>
              <a:rPr b="0" lang="en-US" sz="13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dest =</a:t>
            </a:r>
            <a:r>
              <a:rPr b="0" i="1" lang="en-US" sz="13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 </a:t>
            </a:r>
            <a:r>
              <a:rPr b="1" i="1" lang="en-US" sz="1300" spc="-1" strike="noStrike">
                <a:solidFill>
                  <a:srgbClr val="bf0041"/>
                </a:solidFill>
                <a:latin typeface="Times New Roman"/>
                <a:ea typeface="DejaVu Sans"/>
              </a:rPr>
              <a:t>/* your operation */;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3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    </a:t>
            </a:r>
            <a:r>
              <a:rPr b="0" lang="en-US" sz="13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}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3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    </a:t>
            </a:r>
            <a:r>
              <a:rPr b="0" lang="en-US" sz="13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KOKKOS_INLINE_FUNCTION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3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    </a:t>
            </a:r>
            <a:r>
              <a:rPr b="0" lang="en-US" sz="13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void init(Scalar&amp; val) const {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3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        </a:t>
            </a:r>
            <a:r>
              <a:rPr b="1" lang="en-US" sz="1300" spc="-1" strike="noStrike">
                <a:solidFill>
                  <a:srgbClr val="c9211e"/>
                </a:solidFill>
                <a:latin typeface="Times New Roman"/>
                <a:ea typeface="DejaVu Sans"/>
              </a:rPr>
              <a:t>// Initialize the reduction value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3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        </a:t>
            </a:r>
            <a:r>
              <a:rPr b="0" lang="en-US" sz="13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val =</a:t>
            </a:r>
            <a:r>
              <a:rPr b="1" i="1" lang="en-US" sz="1300" spc="-1" strike="noStrike">
                <a:solidFill>
                  <a:srgbClr val="bf0041"/>
                </a:solidFill>
                <a:latin typeface="Times New Roman"/>
                <a:ea typeface="DejaVu Sans"/>
              </a:rPr>
              <a:t>/* initial value */;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3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    </a:t>
            </a:r>
            <a:r>
              <a:rPr b="0" lang="en-US" sz="13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}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3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};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3" name=""/>
          <p:cNvSpPr/>
          <p:nvPr/>
        </p:nvSpPr>
        <p:spPr>
          <a:xfrm>
            <a:off x="4776480" y="1800360"/>
            <a:ext cx="5156640" cy="2264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3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// Use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3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Scalar result;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13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Kokkos::parallel_reduce</a:t>
            </a:r>
            <a:r>
              <a:rPr b="0" lang="en-US" sz="13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("CustomReduce", N, KOKKOS_LAMBDA (const int&amp; i, Scalar&amp; update) {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3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    </a:t>
            </a:r>
            <a:r>
              <a:rPr b="1" i="1" lang="en-US" sz="1300" spc="-1" strike="noStrike">
                <a:solidFill>
                  <a:srgbClr val="bf0041"/>
                </a:solidFill>
                <a:latin typeface="Times New Roman"/>
                <a:ea typeface="DejaVu Sans"/>
              </a:rPr>
              <a:t>// Your discount code here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3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},</a:t>
            </a:r>
            <a:r>
              <a:rPr b="1" lang="en-US" sz="13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CustomReducer</a:t>
            </a:r>
            <a:r>
              <a:rPr b="0" lang="en-US" sz="13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&lt;Scalar&gt;(result));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3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This approach allows you to define completely arbitrary reduction operations tailored to your specific needs.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54" name="Section-Cubes- 3" descr=""/>
          <p:cNvPicPr/>
          <p:nvPr/>
        </p:nvPicPr>
        <p:blipFill>
          <a:blip r:embed="rId1"/>
          <a:stretch/>
        </p:blipFill>
        <p:spPr>
          <a:xfrm>
            <a:off x="8892360" y="4206960"/>
            <a:ext cx="1185840" cy="1150560"/>
          </a:xfrm>
          <a:prstGeom prst="rect">
            <a:avLst/>
          </a:prstGeom>
          <a:ln w="0">
            <a:noFill/>
          </a:ln>
          <a:effectLst>
            <a:outerShdw blurRad="0" dir="2700000" dist="101823" rotWithShape="0">
              <a:srgbClr val="d0d0d0"/>
            </a:outerShdw>
          </a:effectLst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5" name="" descr=""/>
          <p:cNvPicPr/>
          <p:nvPr/>
        </p:nvPicPr>
        <p:blipFill>
          <a:blip r:embed="rId1"/>
          <a:stretch/>
        </p:blipFill>
        <p:spPr>
          <a:xfrm>
            <a:off x="7943760" y="4543200"/>
            <a:ext cx="1869840" cy="829080"/>
          </a:xfrm>
          <a:prstGeom prst="rect">
            <a:avLst/>
          </a:prstGeom>
          <a:ln w="10800">
            <a:noFill/>
          </a:ln>
        </p:spPr>
      </p:pic>
      <p:pic>
        <p:nvPicPr>
          <p:cNvPr id="256" name="" descr=""/>
          <p:cNvPicPr/>
          <p:nvPr/>
        </p:nvPicPr>
        <p:blipFill>
          <a:blip r:embed="rId2"/>
          <a:stretch/>
        </p:blipFill>
        <p:spPr>
          <a:xfrm>
            <a:off x="2120400" y="2340000"/>
            <a:ext cx="1467000" cy="1810080"/>
          </a:xfrm>
          <a:prstGeom prst="rect">
            <a:avLst/>
          </a:prstGeom>
          <a:ln w="0">
            <a:noFill/>
          </a:ln>
        </p:spPr>
      </p:pic>
      <p:sp>
        <p:nvSpPr>
          <p:cNvPr id="257" name=""/>
          <p:cNvSpPr/>
          <p:nvPr/>
        </p:nvSpPr>
        <p:spPr>
          <a:xfrm>
            <a:off x="4174560" y="3054960"/>
            <a:ext cx="3192840" cy="352440"/>
          </a:xfrm>
          <a:custGeom>
            <a:avLst/>
            <a:gdLst>
              <a:gd name="textAreaLeft" fmla="*/ 0 w 3192840"/>
              <a:gd name="textAreaRight" fmla="*/ 3200400 w 3192840"/>
              <a:gd name="textAreaTop" fmla="*/ 0 h 352440"/>
              <a:gd name="textAreaBottom" fmla="*/ 360000 h 352440"/>
            </a:gdLst>
            <a:ah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noAutofit/>
          </a:bodyPr>
          <a:p>
            <a:pPr>
              <a:lnSpc>
                <a:spcPct val="100000"/>
              </a:lnSpc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  <a:tab algn="l" pos="9601200"/>
                <a:tab algn="l" pos="10058400"/>
                <a:tab algn="l" pos="1051560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源ノ角ゴシック Normal"/>
              </a:rPr>
              <a:t>Thank you for your attention!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6350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6350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6350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6350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2607</TotalTime>
  <Application>LibreOffice/7.5.3.2$MacOSX_X86_64 LibreOffice_project/9f56dff12ba03b9acd7730a5a481eea045e468f3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2023-07-07T10:09:38Z</dcterms:created>
  <dc:creator/>
  <dc:description/>
  <dc:language>fr-FR</dc:language>
  <cp:lastModifiedBy/>
  <cp:lastPrinted>2025-02-09T19:03:01Z</cp:lastPrinted>
  <dcterms:modified xsi:type="dcterms:W3CDTF">2025-02-18T13:43:03Z</dcterms:modified>
  <cp:revision>486</cp:revision>
  <dc:subject/>
  <dc:title>Midnightblue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