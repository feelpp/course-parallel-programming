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media/image6.jpeg" ContentType="image/jpeg"/>
  <Override PartName="/ppt/media/image2.png" ContentType="image/png"/>
  <Override PartName="/ppt/media/image12.png" ContentType="image/png"/>
  <Override PartName="/ppt/media/image10.png" ContentType="image/png"/>
  <Override PartName="/ppt/media/image13.png" ContentType="image/png"/>
  <Override PartName="/ppt/media/image3.png" ContentType="image/png"/>
  <Override PartName="/ppt/media/image11.png" ContentType="image/png"/>
  <Override PartName="/ppt/media/image1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8.jpeg" ContentType="image/jpeg"/>
  <Override PartName="/ppt/media/image7.jpeg" ContentType="image/jpeg"/>
  <Override PartName="/ppt/media/image9.png" ContentType="image/png"/>
  <Override PartName="/ppt/_rels/presentation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_rels/slideLayout7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9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s/_rels/slide1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6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5.xml.rels" ContentType="application/vnd.openxmlformats-package.relationships+xml"/>
  <Override PartName="/ppt/slides/_rels/slide11.xml.rels" ContentType="application/vnd.openxmlformats-package.relationships+xml"/>
  <Override PartName="/ppt/slides/_rels/slide4.xml.rels" ContentType="application/vnd.openxmlformats-package.relationships+xml"/>
  <Override PartName="/ppt/slides/_rels/slide10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0083800" cy="56769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B7CB000-6FD0-4D6D-9158-D0E4F2CE7F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DCFBFD-9E10-4275-B717-A6988F2BB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1EB9333-4781-48AF-9D6C-821DA37AD5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48F75B-162A-4A0A-8395-9C2FBDF584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C1167BC-40E9-484B-934A-BFD81D107A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1EB3E51-07E5-4969-B8A6-1311DBF9B3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B526643-40AA-4159-BCB1-58FEB23D86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4A371FE-2C04-497A-8225-8B51D901C4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2F3F97D-C956-4F31-9AC7-6A4910E03D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C3996D-CBCC-4947-9B23-76C7D0DBE4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7D7C138-CFD0-45EF-A8AF-1A4C0813A7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1DB117F-881F-44CE-AEF4-3E389F88EF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9AAB24D-729F-4CFD-9AAF-C83E0D8697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18BE7AB-4B97-4B9A-9315-88B93FBB55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792E0C7-1140-471C-961F-318E30452B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6D61CE2-7859-407A-B1EA-041D76480A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A988647-55F4-45D7-B626-A79D52CCB8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D454B51-798B-41B1-9542-781A397401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E183452-1A20-4E2F-BEA6-3934EBA62C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8267E28-20D5-448F-8289-C9225F539B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424F0B9-7554-4A3F-B322-5AF8111317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9E1E6F2-B183-4AE6-A31F-91F5BFA14C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CEB2D36-A5EA-4658-AD33-DC52283A49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495C04C-7B10-4101-8732-8A6BBC35A6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EB7198-9D03-4990-9C9C-06B9604B06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E60621-6177-406E-A399-2A9028DE3F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3A0B406-4269-454A-B733-92D22FCDAF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F7A4969-9121-4C86-AB74-5C6DCFB993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0E42C71-9A66-4827-8321-42DAD0313F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3BF832F-D0D5-4ACE-A927-0E4E26A266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9A42B2A-9152-41F5-B7DA-1CFEA2B68C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822639-903C-4A4B-B187-A577A1D281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F9CC03E-FDD0-4A89-939F-5B89528755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7CB574-D18F-4F7E-839A-C4626EB0CD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A1AD538-5B4B-47B7-AB54-6FF75EC657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9986DC-96CC-4133-A13A-E91FB280BD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ubTitle"/>
          </p:nvPr>
        </p:nvSpPr>
        <p:spPr>
          <a:xfrm>
            <a:off x="504000" y="226440"/>
            <a:ext cx="9074880" cy="439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504000" y="3047760"/>
            <a:ext cx="907488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5154120" y="132804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50400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5154120" y="3047760"/>
            <a:ext cx="44283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50400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357228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6640560" y="132804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50400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/>
          </p:nvPr>
        </p:nvSpPr>
        <p:spPr>
          <a:xfrm>
            <a:off x="357228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7"/>
          <p:cNvSpPr>
            <a:spLocks noGrp="1"/>
          </p:cNvSpPr>
          <p:nvPr>
            <p:ph/>
          </p:nvPr>
        </p:nvSpPr>
        <p:spPr>
          <a:xfrm>
            <a:off x="6640560" y="3047760"/>
            <a:ext cx="2921760" cy="15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5760"/>
            <a:ext cx="10074960" cy="2620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74960" cy="120816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21080" y="5405760"/>
            <a:ext cx="3232800" cy="2620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fr-FR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>
          <a:xfrm>
            <a:off x="360000" y="5405760"/>
            <a:ext cx="2872800" cy="2620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0" y="5400000"/>
            <a:ext cx="10067040" cy="257760"/>
          </a:xfrm>
          <a:custGeom>
            <a:avLst/>
            <a:gdLst>
              <a:gd name="textAreaLeft" fmla="*/ 0 w 10067040"/>
              <a:gd name="textAreaRight" fmla="*/ 10068480 w 10067040"/>
              <a:gd name="textAreaTop" fmla="*/ 0 h 257760"/>
              <a:gd name="textAreaBottom" fmla="*/ 259200 h 257760"/>
            </a:gdLst>
            <a:ahLst/>
            <a:rect l="textAreaLeft" t="textAreaTop" r="textAreaRight" b="textAreaBottom"/>
            <a:pathLst>
              <a:path w="10068560" h="259079">
                <a:moveTo>
                  <a:pt x="10068483" y="0"/>
                </a:moveTo>
                <a:lnTo>
                  <a:pt x="0" y="0"/>
                </a:lnTo>
                <a:lnTo>
                  <a:pt x="0" y="258483"/>
                </a:lnTo>
                <a:lnTo>
                  <a:pt x="5034241" y="258483"/>
                </a:lnTo>
                <a:lnTo>
                  <a:pt x="10068483" y="258483"/>
                </a:lnTo>
                <a:lnTo>
                  <a:pt x="10068483" y="0"/>
                </a:lnTo>
                <a:close/>
              </a:path>
            </a:pathLst>
          </a:custGeom>
          <a:solidFill>
            <a:srgbClr val="2b3d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3"/>
          </p:nvPr>
        </p:nvSpPr>
        <p:spPr>
          <a:xfrm>
            <a:off x="3428640" y="5279400"/>
            <a:ext cx="322524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4"/>
          </p:nvPr>
        </p:nvSpPr>
        <p:spPr>
          <a:xfrm>
            <a:off x="726048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F7D98C-251D-4B35-B2A5-87C0E9EB3231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5"/>
          </p:nvPr>
        </p:nvSpPr>
        <p:spPr>
          <a:xfrm>
            <a:off x="50436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g object 16"/>
          <p:cNvSpPr/>
          <p:nvPr/>
        </p:nvSpPr>
        <p:spPr>
          <a:xfrm>
            <a:off x="0" y="5400000"/>
            <a:ext cx="10067040" cy="257760"/>
          </a:xfrm>
          <a:custGeom>
            <a:avLst/>
            <a:gdLst>
              <a:gd name="textAreaLeft" fmla="*/ 0 w 10067040"/>
              <a:gd name="textAreaRight" fmla="*/ 10068480 w 10067040"/>
              <a:gd name="textAreaTop" fmla="*/ 0 h 257760"/>
              <a:gd name="textAreaBottom" fmla="*/ 259200 h 257760"/>
            </a:gdLst>
            <a:ahLst/>
            <a:rect l="textAreaLeft" t="textAreaTop" r="textAreaRight" b="textAreaBottom"/>
            <a:pathLst>
              <a:path w="10068560" h="259079">
                <a:moveTo>
                  <a:pt x="10068483" y="0"/>
                </a:moveTo>
                <a:lnTo>
                  <a:pt x="0" y="0"/>
                </a:lnTo>
                <a:lnTo>
                  <a:pt x="0" y="258483"/>
                </a:lnTo>
                <a:lnTo>
                  <a:pt x="5034241" y="258483"/>
                </a:lnTo>
                <a:lnTo>
                  <a:pt x="10068483" y="258483"/>
                </a:lnTo>
                <a:lnTo>
                  <a:pt x="10068483" y="0"/>
                </a:lnTo>
                <a:close/>
              </a:path>
            </a:pathLst>
          </a:custGeom>
          <a:solidFill>
            <a:srgbClr val="2b3d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ftr" idx="6"/>
          </p:nvPr>
        </p:nvSpPr>
        <p:spPr>
          <a:xfrm>
            <a:off x="3428640" y="5279400"/>
            <a:ext cx="322524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726048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B2514C-8D5E-424A-88D5-32AA80B9BB21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8"/>
          </p:nvPr>
        </p:nvSpPr>
        <p:spPr>
          <a:xfrm>
            <a:off x="50436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5405760"/>
            <a:ext cx="10068840" cy="25596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0068840" cy="120204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ftr" idx="9"/>
          </p:nvPr>
        </p:nvSpPr>
        <p:spPr>
          <a:xfrm>
            <a:off x="3421080" y="5405760"/>
            <a:ext cx="3226680" cy="25596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fr-FR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dt" idx="10"/>
          </p:nvPr>
        </p:nvSpPr>
        <p:spPr>
          <a:xfrm>
            <a:off x="360000" y="5405760"/>
            <a:ext cx="2866680" cy="25596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bg object 16"/>
          <p:cNvSpPr/>
          <p:nvPr/>
        </p:nvSpPr>
        <p:spPr>
          <a:xfrm>
            <a:off x="0" y="5400000"/>
            <a:ext cx="10067040" cy="257760"/>
          </a:xfrm>
          <a:custGeom>
            <a:avLst/>
            <a:gdLst>
              <a:gd name="textAreaLeft" fmla="*/ 0 w 10067040"/>
              <a:gd name="textAreaRight" fmla="*/ 10068480 w 10067040"/>
              <a:gd name="textAreaTop" fmla="*/ 0 h 257760"/>
              <a:gd name="textAreaBottom" fmla="*/ 259200 h 257760"/>
            </a:gdLst>
            <a:ahLst/>
            <a:rect l="textAreaLeft" t="textAreaTop" r="textAreaRight" b="textAreaBottom"/>
            <a:pathLst>
              <a:path w="10068560" h="259079">
                <a:moveTo>
                  <a:pt x="10068483" y="0"/>
                </a:moveTo>
                <a:lnTo>
                  <a:pt x="0" y="0"/>
                </a:lnTo>
                <a:lnTo>
                  <a:pt x="0" y="258483"/>
                </a:lnTo>
                <a:lnTo>
                  <a:pt x="5034241" y="258483"/>
                </a:lnTo>
                <a:lnTo>
                  <a:pt x="10068483" y="258483"/>
                </a:lnTo>
                <a:lnTo>
                  <a:pt x="10068483" y="0"/>
                </a:lnTo>
                <a:close/>
              </a:path>
            </a:pathLst>
          </a:custGeom>
          <a:solidFill>
            <a:srgbClr val="2b3d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ftr" idx="11"/>
          </p:nvPr>
        </p:nvSpPr>
        <p:spPr>
          <a:xfrm>
            <a:off x="3428640" y="5279400"/>
            <a:ext cx="322524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12"/>
          </p:nvPr>
        </p:nvSpPr>
        <p:spPr>
          <a:xfrm>
            <a:off x="726048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9A551B-A0CD-4CEA-9AB1-078B3866CE0F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13"/>
          </p:nvPr>
        </p:nvSpPr>
        <p:spPr>
          <a:xfrm>
            <a:off x="504360" y="5279400"/>
            <a:ext cx="2317680" cy="2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title"/>
          </p:nvPr>
        </p:nvSpPr>
        <p:spPr>
          <a:xfrm>
            <a:off x="504000" y="22644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504000" y="132804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5405760"/>
            <a:ext cx="10076760" cy="2638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0076760" cy="120996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ftr" idx="14"/>
          </p:nvPr>
        </p:nvSpPr>
        <p:spPr>
          <a:xfrm>
            <a:off x="3421080" y="5405760"/>
            <a:ext cx="3234600" cy="2638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fr-FR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dt" idx="15"/>
          </p:nvPr>
        </p:nvSpPr>
        <p:spPr>
          <a:xfrm>
            <a:off x="360000" y="5405760"/>
            <a:ext cx="2874600" cy="2638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504000" y="1327680"/>
            <a:ext cx="9074880" cy="32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hyperlink" Target="https://github.com/kokkos/kokkos" TargetMode="External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156320" cy="4318200"/>
          </a:xfrm>
          <a:prstGeom prst="rect">
            <a:avLst/>
          </a:prstGeom>
          <a:ln w="10800">
            <a:noFill/>
          </a:ln>
        </p:spPr>
      </p:pic>
      <p:sp>
        <p:nvSpPr>
          <p:cNvPr id="253" name=""/>
          <p:cNvSpPr/>
          <p:nvPr/>
        </p:nvSpPr>
        <p:spPr>
          <a:xfrm>
            <a:off x="714600" y="4396680"/>
            <a:ext cx="935640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ff0000"/>
                </a:solidFill>
                <a:latin typeface="Source Sans Pro Black"/>
                <a:ea typeface="DejaVu Sans"/>
              </a:rPr>
              <a:t>P</a:t>
            </a:r>
            <a:r>
              <a:rPr b="1" lang="en-US" sz="2700" spc="-1" strike="noStrike">
                <a:solidFill>
                  <a:srgbClr val="000000"/>
                </a:solidFill>
                <a:latin typeface="Source Sans Pro Black"/>
                <a:ea typeface="DejaVu Sans"/>
              </a:rPr>
              <a:t>ARALLEL </a:t>
            </a:r>
            <a:r>
              <a:rPr b="1" lang="en-US" sz="2700" spc="-1" strike="noStrike">
                <a:solidFill>
                  <a:srgbClr val="ff0000"/>
                </a:solidFill>
                <a:latin typeface="Source Sans Pro Black"/>
                <a:ea typeface="DejaVu Sans"/>
              </a:rPr>
              <a:t>P</a:t>
            </a:r>
            <a:r>
              <a:rPr b="1" lang="en-US" sz="2700" spc="-1" strike="noStrike">
                <a:solidFill>
                  <a:srgbClr val="000000"/>
                </a:solidFill>
                <a:latin typeface="Source Sans Pro Black"/>
                <a:ea typeface="DejaVu Sans"/>
              </a:rPr>
              <a:t>ROGRAMMING... 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3240720" y="5060520"/>
            <a:ext cx="3447720" cy="268560"/>
          </a:xfrm>
          <a:custGeom>
            <a:avLst/>
            <a:gdLst>
              <a:gd name="textAreaLeft" fmla="*/ 0 w 3447720"/>
              <a:gd name="textAreaRight" fmla="*/ 3448080 w 3447720"/>
              <a:gd name="textAreaTop" fmla="*/ 0 h 268560"/>
              <a:gd name="textAreaBottom" fmla="*/ 268920 h 26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源ノ角ゴシック Normal"/>
              </a:rPr>
              <a:t>By Patrick Lemoine 2025.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720640" y="4825440"/>
            <a:ext cx="1278360" cy="47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27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3421080" y="108000"/>
            <a:ext cx="3270240" cy="1245960"/>
          </a:xfrm>
          <a:prstGeom prst="rect">
            <a:avLst/>
          </a:prstGeom>
          <a:ln w="0">
            <a:noFill/>
          </a:ln>
        </p:spPr>
      </p:pic>
      <p:sp>
        <p:nvSpPr>
          <p:cNvPr id="257" name="PlaceHolder 1"/>
          <p:cNvSpPr>
            <a:spLocks noGrp="1"/>
          </p:cNvSpPr>
          <p:nvPr>
            <p:ph/>
          </p:nvPr>
        </p:nvSpPr>
        <p:spPr>
          <a:xfrm>
            <a:off x="2556720" y="1488600"/>
            <a:ext cx="7009200" cy="37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</a:rPr>
              <a:t>K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okkos?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</a:rPr>
              <a:t>B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asic Concepts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Views,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Memory spaces,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Memory access patterns,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Mirrors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  <a:ea typeface="Songti SC"/>
              </a:rPr>
              <a:t>A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Songti SC"/>
              </a:rPr>
              <a:t>dvanced </a:t>
            </a:r>
            <a:r>
              <a:rPr b="1" lang="en-US" sz="1600" spc="-1" strike="noStrike">
                <a:solidFill>
                  <a:srgbClr val="c9211e"/>
                </a:solidFill>
                <a:latin typeface="Times New Roman"/>
                <a:ea typeface="Songti SC"/>
              </a:rPr>
              <a:t>C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Songti SC"/>
              </a:rPr>
              <a:t>oncepts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Asynchronicity, Streams and Task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Multi-level hierarchical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Multidimensional Loops and Data Structures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Advanced Reductions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MPI (Message Passing Interface) and PGAS (Partitioned Global Address Spaces)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Times New Roman"/>
                <a:ea typeface="Songti SC"/>
              </a:rPr>
              <a:t>SIM (Single Instruction Multiple Data) Task Flow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Picture 2" descr=""/>
          <p:cNvPicPr/>
          <p:nvPr/>
        </p:nvPicPr>
        <p:blipFill>
          <a:blip r:embed="rId2"/>
          <a:srcRect l="5861" t="0" r="3730" b="0"/>
          <a:stretch/>
        </p:blipFill>
        <p:spPr>
          <a:xfrm>
            <a:off x="828000" y="2289960"/>
            <a:ext cx="1069200" cy="2639520"/>
          </a:xfrm>
          <a:prstGeom prst="rect">
            <a:avLst/>
          </a:prstGeom>
          <a:ln w="0">
            <a:noFill/>
          </a:ln>
        </p:spPr>
      </p:pic>
      <p:sp>
        <p:nvSpPr>
          <p:cNvPr id="259" name="Text Box 2"/>
          <p:cNvSpPr/>
          <p:nvPr/>
        </p:nvSpPr>
        <p:spPr>
          <a:xfrm>
            <a:off x="1167480" y="2106000"/>
            <a:ext cx="1406520" cy="466920"/>
          </a:xfrm>
          <a:custGeom>
            <a:avLst/>
            <a:gdLst>
              <a:gd name="textAreaLeft" fmla="*/ 0 w 1406520"/>
              <a:gd name="textAreaRight" fmla="*/ 1414440 w 1406520"/>
              <a:gd name="textAreaTop" fmla="*/ 0 h 466920"/>
              <a:gd name="textAreaBottom" fmla="*/ 474840 h 466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000" spc="-1" strike="noStrike">
                <a:solidFill>
                  <a:srgbClr val="ff0000"/>
                </a:solidFill>
                <a:latin typeface="Source Sans Pro"/>
                <a:ea typeface="DejaVu Sans"/>
              </a:rPr>
              <a:t>G</a:t>
            </a:r>
            <a:r>
              <a:rPr b="1" lang="en-US" sz="2000" spc="-1" strike="noStrike">
                <a:solidFill>
                  <a:srgbClr val="000000"/>
                </a:solidFill>
                <a:latin typeface="Source Sans Pro"/>
                <a:ea typeface="DejaVu Sans"/>
              </a:rPr>
              <a:t>OAL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/>
          <p:nvPr/>
        </p:nvSpPr>
        <p:spPr>
          <a:xfrm>
            <a:off x="8462520" y="1297080"/>
            <a:ext cx="14994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ff"/>
                </a:solidFill>
                <a:latin typeface="Liberation Serif;Times New Roman"/>
                <a:ea typeface="Songti SC"/>
              </a:rPr>
              <a:t>S</a:t>
            </a:r>
            <a:r>
              <a:rPr b="1" lang="en-US" sz="1600" spc="-1" strike="noStrike">
                <a:solidFill>
                  <a:srgbClr val="000000"/>
                </a:solidFill>
                <a:latin typeface="Liberation Serif;Times New Roman"/>
                <a:ea typeface="Songti SC"/>
              </a:rPr>
              <a:t>ESSION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592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592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object 2"/>
          <p:cNvGrpSpPr/>
          <p:nvPr/>
        </p:nvGrpSpPr>
        <p:grpSpPr>
          <a:xfrm>
            <a:off x="9030600" y="91800"/>
            <a:ext cx="968400" cy="957960"/>
            <a:chOff x="9030600" y="91800"/>
            <a:chExt cx="968400" cy="957960"/>
          </a:xfrm>
        </p:grpSpPr>
        <p:pic>
          <p:nvPicPr>
            <p:cNvPr id="262" name="object 3" descr=""/>
            <p:cNvPicPr/>
            <p:nvPr/>
          </p:nvPicPr>
          <p:blipFill>
            <a:blip r:embed="rId1"/>
            <a:stretch/>
          </p:blipFill>
          <p:spPr>
            <a:xfrm>
              <a:off x="9102600" y="163800"/>
              <a:ext cx="896400" cy="885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3" name="object 4" descr=""/>
            <p:cNvPicPr/>
            <p:nvPr/>
          </p:nvPicPr>
          <p:blipFill>
            <a:blip r:embed="rId2"/>
            <a:stretch/>
          </p:blipFill>
          <p:spPr>
            <a:xfrm>
              <a:off x="9030600" y="91800"/>
              <a:ext cx="896400" cy="885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275040" y="248400"/>
            <a:ext cx="368496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66" strike="noStrike">
                <a:solidFill>
                  <a:srgbClr val="050505"/>
                </a:solidFill>
                <a:latin typeface="Arial"/>
              </a:rPr>
              <a:t>Introduction</a:t>
            </a:r>
            <a:r>
              <a:rPr b="1" lang="en-US" sz="1800" spc="-111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1800" spc="-60" strike="noStrike">
                <a:solidFill>
                  <a:srgbClr val="050505"/>
                </a:solidFill>
                <a:latin typeface="Arial"/>
              </a:rPr>
              <a:t>to</a:t>
            </a:r>
            <a:r>
              <a:rPr b="1" lang="en-US" sz="1800" spc="-111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1800" spc="-120" strike="noStrike">
                <a:solidFill>
                  <a:srgbClr val="050505"/>
                </a:solidFill>
                <a:latin typeface="Arial"/>
              </a:rPr>
              <a:t>Kokkos</a:t>
            </a:r>
            <a:endParaRPr b="1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object 6"/>
          <p:cNvSpPr/>
          <p:nvPr/>
        </p:nvSpPr>
        <p:spPr>
          <a:xfrm>
            <a:off x="1181160" y="1691280"/>
            <a:ext cx="7358760" cy="27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Kokkos</a:t>
            </a:r>
            <a:r>
              <a:rPr b="0" lang="en-US" sz="1400" spc="63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is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a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46" strike="noStrike">
                <a:solidFill>
                  <a:srgbClr val="414144"/>
                </a:solidFill>
                <a:latin typeface="Times New Roman"/>
                <a:ea typeface="DejaVu Sans"/>
              </a:rPr>
              <a:t>C++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414144"/>
                </a:solidFill>
                <a:latin typeface="Times New Roman"/>
                <a:ea typeface="DejaVu Sans"/>
              </a:rPr>
              <a:t>library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designed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for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parallel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414144"/>
                </a:solidFill>
                <a:latin typeface="Times New Roman"/>
                <a:ea typeface="DejaVu Sans"/>
              </a:rPr>
              <a:t>programming,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allowing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developers</a:t>
            </a:r>
            <a:r>
              <a:rPr b="0" lang="en-US" sz="1400" spc="69" strike="noStrike">
                <a:solidFill>
                  <a:srgbClr val="414144"/>
                </a:solidFill>
                <a:latin typeface="Times New Roman"/>
                <a:ea typeface="DejaVu Sans"/>
              </a:rPr>
              <a:t> to </a:t>
            </a:r>
            <a:r>
              <a:rPr b="0" lang="en-US" sz="1400" spc="43" strike="noStrike">
                <a:solidFill>
                  <a:srgbClr val="414144"/>
                </a:solidFill>
                <a:latin typeface="Times New Roman"/>
                <a:ea typeface="DejaVu Sans"/>
              </a:rPr>
              <a:t>write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performance-</a:t>
            </a:r>
            <a:r>
              <a:rPr b="0" lang="en-US" sz="1400" spc="49" strike="noStrike">
                <a:solidFill>
                  <a:srgbClr val="414144"/>
                </a:solidFill>
                <a:latin typeface="Times New Roman"/>
                <a:ea typeface="DejaVu Sans"/>
              </a:rPr>
              <a:t>portable</a:t>
            </a:r>
            <a:r>
              <a:rPr b="0" lang="en-US" sz="1400" spc="103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code</a:t>
            </a:r>
            <a:r>
              <a:rPr b="0" lang="en-US" sz="1400" spc="10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across</a:t>
            </a:r>
            <a:r>
              <a:rPr b="0" lang="en-US" sz="1400" spc="103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various</a:t>
            </a:r>
            <a:r>
              <a:rPr b="0" lang="en-US" sz="1400" spc="10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414144"/>
                </a:solidFill>
                <a:latin typeface="Times New Roman"/>
                <a:ea typeface="DejaVu Sans"/>
              </a:rPr>
              <a:t>hardware</a:t>
            </a:r>
            <a:r>
              <a:rPr b="0" lang="en-US" sz="1400" spc="103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architectures,</a:t>
            </a:r>
            <a:r>
              <a:rPr b="0" lang="en-US" sz="1400" spc="10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including</a:t>
            </a:r>
            <a:r>
              <a:rPr b="0" lang="en-US" sz="1400" spc="103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60" strike="noStrike">
                <a:solidFill>
                  <a:srgbClr val="414144"/>
                </a:solidFill>
                <a:latin typeface="Times New Roman"/>
                <a:ea typeface="DejaVu Sans"/>
              </a:rPr>
              <a:t>CPUs,</a:t>
            </a:r>
            <a:r>
              <a:rPr b="0" lang="en-US" sz="1400" spc="10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414144"/>
                </a:solidFill>
                <a:latin typeface="Times New Roman"/>
                <a:ea typeface="DejaVu Sans"/>
              </a:rPr>
              <a:t>GPUs,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and</a:t>
            </a:r>
            <a:r>
              <a:rPr b="0" lang="en-US" sz="1400" spc="4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414144"/>
                </a:solidFill>
                <a:latin typeface="Times New Roman"/>
                <a:ea typeface="DejaVu Sans"/>
              </a:rPr>
              <a:t>multi-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core</a:t>
            </a:r>
            <a:r>
              <a:rPr b="0" lang="en-US" sz="1400" spc="49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414144"/>
                </a:solidFill>
                <a:latin typeface="Times New Roman"/>
                <a:ea typeface="DejaVu Sans"/>
              </a:rPr>
              <a:t>processors.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79"/>
              </a:spcBef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4040">
              <a:lnSpc>
                <a:spcPct val="100000"/>
              </a:lnSpc>
            </a:pP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Developed</a:t>
            </a:r>
            <a:r>
              <a:rPr b="0" lang="en-US" sz="1400" spc="120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at</a:t>
            </a:r>
            <a:r>
              <a:rPr b="0" lang="en-US" sz="1400" spc="126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Sandia</a:t>
            </a:r>
            <a:r>
              <a:rPr b="0" lang="en-US" sz="1400" spc="120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National</a:t>
            </a:r>
            <a:r>
              <a:rPr b="0" lang="en-US" sz="1400" spc="126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Laboratories</a:t>
            </a:r>
            <a:r>
              <a:rPr b="0" lang="en-US" sz="1400" spc="120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46" strike="noStrike">
                <a:solidFill>
                  <a:srgbClr val="414144"/>
                </a:solidFill>
                <a:latin typeface="Times New Roman"/>
                <a:ea typeface="DejaVu Sans"/>
              </a:rPr>
              <a:t>(SNL)</a:t>
            </a:r>
            <a:r>
              <a:rPr b="0" lang="en-US" sz="1400" spc="126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in</a:t>
            </a:r>
            <a:r>
              <a:rPr b="0" lang="en-US" sz="1400" spc="120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414144"/>
                </a:solidFill>
                <a:latin typeface="Times New Roman"/>
                <a:ea typeface="DejaVu Sans"/>
              </a:rPr>
              <a:t>the</a:t>
            </a:r>
            <a:r>
              <a:rPr b="0" lang="en-US" sz="1400" spc="126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United</a:t>
            </a:r>
            <a:r>
              <a:rPr b="0" lang="en-US" sz="1400" spc="120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414144"/>
                </a:solidFill>
                <a:latin typeface="Times New Roman"/>
                <a:ea typeface="DejaVu Sans"/>
              </a:rPr>
              <a:t>States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4040">
              <a:lnSpc>
                <a:spcPct val="100000"/>
              </a:lnSpc>
              <a:spcBef>
                <a:spcPts val="20"/>
              </a:spcBef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4040">
              <a:lnSpc>
                <a:spcPct val="100000"/>
              </a:lnSpc>
              <a:spcBef>
                <a:spcPts val="6"/>
              </a:spcBef>
            </a:pP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An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open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 source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project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414144"/>
                </a:solidFill>
                <a:latin typeface="Times New Roman"/>
                <a:ea typeface="DejaVu Sans"/>
              </a:rPr>
              <a:t>with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 a </a:t>
            </a:r>
            <a:r>
              <a:rPr b="0" lang="en-US" sz="1400" spc="60" strike="noStrike">
                <a:solidFill>
                  <a:srgbClr val="414144"/>
                </a:solidFill>
                <a:latin typeface="Times New Roman"/>
                <a:ea typeface="DejaVu Sans"/>
              </a:rPr>
              <a:t>growing</a:t>
            </a:r>
            <a:r>
              <a:rPr b="0" lang="en-US" sz="1400" spc="-1" strike="noStrike">
                <a:solidFill>
                  <a:srgbClr val="414144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414144"/>
                </a:solidFill>
                <a:latin typeface="Times New Roman"/>
                <a:ea typeface="DejaVu Sans"/>
              </a:rPr>
              <a:t>community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4040" indent="6480">
              <a:lnSpc>
                <a:spcPct val="107000"/>
              </a:lnSpc>
              <a:spcBef>
                <a:spcPts val="1191"/>
              </a:spcBef>
              <a:tabLst>
                <a:tab algn="l" pos="0"/>
              </a:tabLst>
            </a:pP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The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main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goal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Kokkos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is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facilitate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the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development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high-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</a:t>
            </a:r>
            <a:r>
              <a:rPr b="0" lang="en-US" sz="1400" spc="2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applications</a:t>
            </a:r>
            <a:r>
              <a:rPr b="0" lang="en-US" sz="1400" spc="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that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can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efficiently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utilize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 the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capabilities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various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computing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resources.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4040" indent="6480">
              <a:lnSpc>
                <a:spcPct val="100000"/>
              </a:lnSpc>
              <a:spcBef>
                <a:spcPts val="930"/>
              </a:spcBef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 indent="648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14144"/>
                </a:solidFill>
                <a:latin typeface="Arial"/>
                <a:ea typeface="DejaVu Sans"/>
              </a:rPr>
              <a:t>Kokkos-Core</a:t>
            </a:r>
            <a:r>
              <a:rPr b="0" lang="en-US" sz="1050" spc="231" strike="noStrike">
                <a:solidFill>
                  <a:srgbClr val="414144"/>
                </a:solidFill>
                <a:latin typeface="Arial"/>
                <a:ea typeface="DejaVu Sans"/>
              </a:rPr>
              <a:t>  </a:t>
            </a:r>
            <a:r>
              <a:rPr b="0" lang="en-US" sz="1050" spc="-1" strike="noStrike">
                <a:solidFill>
                  <a:srgbClr val="414144"/>
                </a:solidFill>
                <a:latin typeface="Arial"/>
                <a:ea typeface="DejaVu Sans"/>
              </a:rPr>
              <a:t>Github</a:t>
            </a:r>
            <a:r>
              <a:rPr b="0" lang="en-US" sz="1050" spc="233" strike="noStrike">
                <a:solidFill>
                  <a:srgbClr val="414144"/>
                </a:solidFill>
                <a:latin typeface="Arial"/>
                <a:ea typeface="DejaVu Sans"/>
              </a:rPr>
              <a:t>  </a:t>
            </a:r>
            <a:r>
              <a:rPr b="0" lang="en-US" sz="1050" spc="-12" strike="noStrike">
                <a:solidFill>
                  <a:srgbClr val="414144"/>
                </a:solidFill>
                <a:latin typeface="Arial"/>
                <a:ea typeface="DejaVu Sans"/>
              </a:rPr>
              <a:t>Repository:</a:t>
            </a:r>
            <a:r>
              <a:rPr b="0" lang="en-US" sz="1050" spc="-12" strike="noStrike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ea typeface="DejaVu Sans"/>
                <a:hlinkClick r:id="rId3"/>
              </a:rPr>
              <a:t>https://github.com/kokkos/kokkos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object 2" descr=""/>
          <p:cNvPicPr/>
          <p:nvPr/>
        </p:nvPicPr>
        <p:blipFill>
          <a:blip r:embed="rId1"/>
          <a:stretch/>
        </p:blipFill>
        <p:spPr>
          <a:xfrm>
            <a:off x="4662000" y="639720"/>
            <a:ext cx="5415840" cy="2879280"/>
          </a:xfrm>
          <a:prstGeom prst="rect">
            <a:avLst/>
          </a:prstGeom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75040" y="235440"/>
            <a:ext cx="303192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900" spc="-160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1900" spc="-12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1900" spc="-151" strike="noStrike">
                <a:solidFill>
                  <a:srgbClr val="050505"/>
                </a:solidFill>
                <a:latin typeface="Arial"/>
              </a:rPr>
              <a:t>Ecosystem</a:t>
            </a:r>
            <a:endParaRPr b="1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4"/>
          <p:cNvSpPr/>
          <p:nvPr/>
        </p:nvSpPr>
        <p:spPr>
          <a:xfrm>
            <a:off x="149400" y="984960"/>
            <a:ext cx="9254880" cy="42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37880" indent="-102960">
              <a:lnSpc>
                <a:spcPct val="100000"/>
              </a:lnSpc>
              <a:buClr>
                <a:srgbClr val="000000"/>
              </a:buClr>
              <a:buSzPct val="108000"/>
              <a:buFont typeface="Arial"/>
              <a:buChar char="-"/>
              <a:tabLst>
                <a:tab algn="l" pos="137880"/>
              </a:tabLst>
            </a:pPr>
            <a:r>
              <a:rPr b="1" lang="en-US" sz="1400" spc="-114" strike="noStrike">
                <a:solidFill>
                  <a:srgbClr val="000000"/>
                </a:solidFill>
                <a:latin typeface="Times New Roman"/>
                <a:ea typeface="DejaVu Sans"/>
              </a:rPr>
              <a:t>Kokkos</a:t>
            </a:r>
            <a:r>
              <a:rPr b="1" lang="en-US" sz="14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Core: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22840" indent="-99000">
              <a:lnSpc>
                <a:spcPct val="100000"/>
              </a:lnSpc>
              <a:spcBef>
                <a:spcPts val="45"/>
              </a:spcBef>
              <a:buClr>
                <a:srgbClr val="000000"/>
              </a:buClr>
              <a:buFont typeface="OpenSymbol"/>
              <a:buChar char="-"/>
              <a:tabLst>
                <a:tab algn="l" pos="222840"/>
              </a:tabLst>
            </a:pP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Programming model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for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parallel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execution.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08800" indent="-84960">
              <a:lnSpc>
                <a:spcPct val="100000"/>
              </a:lnSpc>
              <a:spcBef>
                <a:spcPts val="261"/>
              </a:spcBef>
              <a:buClr>
                <a:srgbClr val="000000"/>
              </a:buClr>
              <a:buFont typeface="OpenSymbol"/>
              <a:buChar char="-"/>
              <a:tabLst>
                <a:tab algn="l" pos="2088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Efficient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data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management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across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different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architectures.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20880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37880" indent="-102960">
              <a:lnSpc>
                <a:spcPct val="100000"/>
              </a:lnSpc>
              <a:buClr>
                <a:srgbClr val="000000"/>
              </a:buClr>
              <a:buSzPct val="112000"/>
              <a:buFont typeface="Arial"/>
              <a:buChar char="-"/>
              <a:tabLst>
                <a:tab algn="l" pos="137880"/>
              </a:tabLst>
            </a:pPr>
            <a:r>
              <a:rPr b="1" lang="en-US" sz="1400" spc="-111" strike="noStrike">
                <a:solidFill>
                  <a:srgbClr val="000000"/>
                </a:solidFill>
                <a:latin typeface="Times New Roman"/>
                <a:ea typeface="DejaVu Sans"/>
              </a:rPr>
              <a:t>Kokkos</a:t>
            </a:r>
            <a:r>
              <a:rPr b="1" lang="en-US" sz="14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Kernels: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22840" indent="-99000">
              <a:lnSpc>
                <a:spcPct val="100000"/>
              </a:lnSpc>
              <a:spcBef>
                <a:spcPts val="45"/>
              </a:spcBef>
              <a:buClr>
                <a:srgbClr val="000000"/>
              </a:buClr>
              <a:buFont typeface="Arial"/>
              <a:buChar char="-"/>
              <a:tabLst>
                <a:tab algn="l" pos="222840"/>
              </a:tabLst>
            </a:pP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Optimized</a:t>
            </a:r>
            <a:r>
              <a:rPr b="0" lang="en-US" sz="1400" spc="13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math</a:t>
            </a:r>
            <a:r>
              <a:rPr b="0" lang="en-US" sz="1400" spc="14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library.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2284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Arial"/>
              <a:buChar char="-"/>
              <a:tabLst>
                <a:tab algn="l" pos="2228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Provides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basic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routines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for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increased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31"/>
              </a:spcBef>
              <a:tabLst>
                <a:tab algn="l" pos="22284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15560" indent="-102960">
              <a:lnSpc>
                <a:spcPct val="100000"/>
              </a:lnSpc>
              <a:buClr>
                <a:srgbClr val="000000"/>
              </a:buClr>
              <a:buSzPct val="112000"/>
              <a:buFont typeface="Arial"/>
              <a:buChar char="-"/>
              <a:tabLst>
                <a:tab algn="l" pos="115560"/>
              </a:tabLst>
            </a:pPr>
            <a:r>
              <a:rPr b="1" lang="en-US" sz="1400" spc="-111" strike="noStrike">
                <a:solidFill>
                  <a:srgbClr val="000000"/>
                </a:solidFill>
                <a:latin typeface="Times New Roman"/>
                <a:ea typeface="DejaVu Sans"/>
              </a:rPr>
              <a:t>Kokkos</a:t>
            </a:r>
            <a:r>
              <a:rPr b="1" lang="en-US" sz="14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Tools: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00160" indent="-99000">
              <a:lnSpc>
                <a:spcPct val="100000"/>
              </a:lnSpc>
              <a:spcBef>
                <a:spcPts val="51"/>
              </a:spcBef>
              <a:buClr>
                <a:srgbClr val="000000"/>
              </a:buClr>
              <a:buFont typeface="Arial"/>
              <a:buChar char="-"/>
              <a:tabLst>
                <a:tab algn="l" pos="200160"/>
              </a:tabLst>
            </a:pP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Profiling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tools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analyze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application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20016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Arial"/>
              <a:buChar char="-"/>
              <a:tabLst>
                <a:tab algn="l" pos="200160"/>
              </a:tabLst>
            </a:pP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Debugging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tools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facilitate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development.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tabLst>
                <a:tab algn="l" pos="20016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15560" indent="-102960">
              <a:lnSpc>
                <a:spcPct val="100000"/>
              </a:lnSpc>
              <a:buClr>
                <a:srgbClr val="000000"/>
              </a:buClr>
              <a:buSzPct val="117000"/>
              <a:buFont typeface="Arial"/>
              <a:buChar char="-"/>
              <a:tabLst>
                <a:tab algn="l" pos="115560"/>
              </a:tabLst>
            </a:pP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Portability: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189360" indent="-88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-"/>
              <a:tabLst>
                <a:tab algn="l" pos="1893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Enables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development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52" strike="noStrike">
                <a:solidFill>
                  <a:srgbClr val="000000"/>
                </a:solidFill>
                <a:latin typeface="Times New Roman"/>
                <a:ea typeface="DejaVu Sans"/>
              </a:rPr>
              <a:t>HPC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applications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on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various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architectures</a:t>
            </a:r>
            <a:r>
              <a:rPr b="0" lang="en-US" sz="1400" spc="15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without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rewriting</a:t>
            </a:r>
            <a:r>
              <a:rPr b="0" lang="en-US" sz="1400" spc="148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code.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334"/>
              </a:spcBef>
              <a:tabLst>
                <a:tab algn="l" pos="18936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15560" indent="-102960">
              <a:lnSpc>
                <a:spcPct val="100000"/>
              </a:lnSpc>
              <a:buClr>
                <a:srgbClr val="000000"/>
              </a:buClr>
              <a:buSzPct val="122000"/>
              <a:buFont typeface="Arial"/>
              <a:buChar char="-"/>
              <a:tabLst>
                <a:tab algn="l" pos="115560"/>
              </a:tabLst>
            </a:pPr>
            <a:r>
              <a:rPr b="1" lang="en-US" sz="1400" spc="-66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</a:t>
            </a:r>
            <a:r>
              <a:rPr b="1" lang="en-US" sz="1400" spc="-1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52" strike="noStrike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lvl="1" marL="196920" indent="-9576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-"/>
              <a:tabLst>
                <a:tab algn="l" pos="1969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Optimized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maximize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efficiency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on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</a:t>
            </a:r>
            <a:r>
              <a:rPr b="0" lang="en-US" sz="1400" spc="8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variety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systems,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from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60" strike="noStrike">
                <a:solidFill>
                  <a:srgbClr val="000000"/>
                </a:solidFill>
                <a:latin typeface="Times New Roman"/>
                <a:ea typeface="DejaVu Sans"/>
              </a:rPr>
              <a:t>CPUs</a:t>
            </a:r>
            <a:r>
              <a:rPr b="0" lang="en-US" sz="1400" spc="8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86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GPUs.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49"/>
              </a:spcBef>
              <a:tabLst>
                <a:tab algn="l" pos="19692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2600">
              <a:lnSpc>
                <a:spcPct val="100000"/>
              </a:lnSpc>
              <a:tabLst>
                <a:tab algn="l" pos="196920"/>
              </a:tabLst>
            </a:pP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This</a:t>
            </a:r>
            <a:r>
              <a:rPr b="0" lang="en-US" sz="1400" spc="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ecosystem is designed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to</a:t>
            </a:r>
            <a:r>
              <a:rPr b="0" lang="en-US" sz="1400" spc="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simplify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the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development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scientific applications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while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ensuring</a:t>
            </a:r>
            <a:r>
              <a:rPr b="0" lang="en-US" sz="1400" spc="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high</a:t>
            </a:r>
            <a:r>
              <a:rPr b="0" lang="en-US" sz="1400" spc="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75040" y="235440"/>
            <a:ext cx="2964600" cy="4842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60" strike="noStrike">
                <a:solidFill>
                  <a:srgbClr val="050505"/>
                </a:solidFill>
                <a:latin typeface="Arial"/>
              </a:rPr>
              <a:t>Why</a:t>
            </a:r>
            <a:r>
              <a:rPr b="1" lang="en-US" sz="2000" spc="-126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45" strike="noStrike">
                <a:solidFill>
                  <a:srgbClr val="050505"/>
                </a:solidFill>
                <a:latin typeface="Arial"/>
              </a:rPr>
              <a:t>use</a:t>
            </a:r>
            <a:r>
              <a:rPr b="1" lang="en-US" sz="2000" spc="-12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57" strike="noStrike">
                <a:solidFill>
                  <a:srgbClr val="050505"/>
                </a:solidFill>
                <a:latin typeface="Arial"/>
              </a:rPr>
              <a:t>Kokkos?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object 3"/>
          <p:cNvSpPr/>
          <p:nvPr/>
        </p:nvSpPr>
        <p:spPr>
          <a:xfrm>
            <a:off x="305640" y="1278000"/>
            <a:ext cx="7991280" cy="17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Benefits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560160" indent="-187920">
              <a:lnSpc>
                <a:spcPct val="100000"/>
              </a:lnSpc>
              <a:spcBef>
                <a:spcPts val="54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60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Unified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code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base: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write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once,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80" strike="noStrike">
                <a:solidFill>
                  <a:srgbClr val="000000"/>
                </a:solidFill>
                <a:latin typeface="Times New Roman"/>
                <a:ea typeface="DejaVu Sans"/>
              </a:rPr>
              <a:t>run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on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CPU,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46" strike="noStrike">
                <a:solidFill>
                  <a:srgbClr val="000000"/>
                </a:solidFill>
                <a:latin typeface="Times New Roman"/>
                <a:ea typeface="DejaVu Sans"/>
              </a:rPr>
              <a:t>GPU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or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other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accelerators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without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rewriting.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560160" indent="-18792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60160"/>
              </a:tabLst>
            </a:pP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High</a:t>
            </a:r>
            <a:r>
              <a:rPr b="0" lang="en-US" sz="1400" spc="9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performance:</a:t>
            </a:r>
            <a:r>
              <a:rPr b="0" lang="en-US" sz="1400" spc="9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optimizes</a:t>
            </a:r>
            <a:r>
              <a:rPr b="0" lang="en-US" sz="1400" spc="10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resource</a:t>
            </a:r>
            <a:r>
              <a:rPr b="0" lang="en-US" sz="1400" spc="9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usage</a:t>
            </a:r>
            <a:r>
              <a:rPr b="0" lang="en-US" sz="1400" spc="10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(e.g.</a:t>
            </a:r>
            <a:r>
              <a:rPr b="0" lang="en-US" sz="1400" spc="9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multi-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core</a:t>
            </a:r>
            <a:r>
              <a:rPr b="0" lang="en-US" sz="1400" spc="9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55" strike="noStrike">
                <a:solidFill>
                  <a:srgbClr val="000000"/>
                </a:solidFill>
                <a:latin typeface="Times New Roman"/>
                <a:ea typeface="DejaVu Sans"/>
              </a:rPr>
              <a:t>CPU,</a:t>
            </a:r>
            <a:r>
              <a:rPr b="0" lang="en-US" sz="1400" spc="10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GPU).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560160" indent="-18792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560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Scalability: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Supports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single-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node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and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55" strike="noStrike">
                <a:solidFill>
                  <a:srgbClr val="000000"/>
                </a:solidFill>
                <a:latin typeface="Times New Roman"/>
                <a:ea typeface="DejaVu Sans"/>
              </a:rPr>
              <a:t>multi-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node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systems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with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complex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memory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hierarchies.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11"/>
              </a:spcBef>
              <a:tabLst>
                <a:tab algn="l" pos="560160"/>
              </a:tabLst>
            </a:pP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tabLst>
                <a:tab algn="l" pos="560160"/>
              </a:tabLst>
            </a:pP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Adoption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372240">
              <a:lnSpc>
                <a:spcPct val="100000"/>
              </a:lnSpc>
              <a:spcBef>
                <a:spcPts val="96"/>
              </a:spcBef>
              <a:tabLst>
                <a:tab algn="l" pos="560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Used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by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hundreds </a:t>
            </a:r>
            <a:r>
              <a:rPr b="0" lang="en-US" sz="1400" spc="60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75" strike="noStrike">
                <a:solidFill>
                  <a:srgbClr val="000000"/>
                </a:solidFill>
                <a:latin typeface="Times New Roman"/>
                <a:ea typeface="DejaVu Sans"/>
              </a:rPr>
              <a:t>HPC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developers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 worldwide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object 4"/>
          <p:cNvSpPr/>
          <p:nvPr/>
        </p:nvSpPr>
        <p:spPr>
          <a:xfrm>
            <a:off x="404280" y="3439080"/>
            <a:ext cx="31572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0" anchor="t">
            <a:spAutoFit/>
          </a:bodyPr>
          <a:p>
            <a:pPr marL="12600">
              <a:lnSpc>
                <a:spcPct val="100000"/>
              </a:lnSpc>
              <a:spcBef>
                <a:spcPts val="215"/>
              </a:spcBef>
            </a:pPr>
            <a:r>
              <a:rPr b="1" lang="en-US" sz="1400" spc="-100" strike="noStrike">
                <a:solidFill>
                  <a:srgbClr val="000000"/>
                </a:solidFill>
                <a:latin typeface="Times New Roman"/>
                <a:ea typeface="DejaVu Sans"/>
              </a:rPr>
              <a:t>Examples</a:t>
            </a:r>
            <a:r>
              <a:rPr b="1" lang="en-US" sz="1400" spc="-7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35" strike="noStrike">
                <a:solidFill>
                  <a:srgbClr val="000000"/>
                </a:solidFill>
                <a:latin typeface="Times New Roman"/>
                <a:ea typeface="DejaVu Sans"/>
              </a:rPr>
              <a:t>of</a:t>
            </a:r>
            <a:r>
              <a:rPr b="1" lang="en-US" sz="1400" spc="-75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60" strike="noStrike">
                <a:solidFill>
                  <a:srgbClr val="000000"/>
                </a:solidFill>
                <a:latin typeface="Times New Roman"/>
                <a:ea typeface="DejaVu Sans"/>
              </a:rPr>
              <a:t>supported</a:t>
            </a:r>
            <a:r>
              <a:rPr b="1" lang="en-US" sz="1400" spc="-72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backends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68000" indent="-95760">
              <a:lnSpc>
                <a:spcPct val="100000"/>
              </a:lnSpc>
              <a:spcBef>
                <a:spcPts val="119"/>
              </a:spcBef>
              <a:buClr>
                <a:srgbClr val="000000"/>
              </a:buClr>
              <a:buFont typeface="OpenSymbol"/>
              <a:buChar char="-"/>
              <a:tabLst>
                <a:tab algn="l" pos="468000"/>
              </a:tabLst>
            </a:pPr>
            <a:r>
              <a:rPr b="0" lang="en-US" sz="1400" spc="-32" strike="noStrike">
                <a:solidFill>
                  <a:srgbClr val="000000"/>
                </a:solidFill>
                <a:latin typeface="Times New Roman"/>
                <a:ea typeface="DejaVu Sans"/>
              </a:rPr>
              <a:t>CUDA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(NVIDIA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graphics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processor)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68000" indent="-95760">
              <a:lnSpc>
                <a:spcPct val="100000"/>
              </a:lnSpc>
              <a:spcBef>
                <a:spcPts val="119"/>
              </a:spcBef>
              <a:buClr>
                <a:srgbClr val="000000"/>
              </a:buClr>
              <a:buFont typeface="OpenSymbol"/>
              <a:buChar char="-"/>
              <a:tabLst>
                <a:tab algn="l" pos="4680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HIP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(AMD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graphics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processor)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60440" indent="-8820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OpenSymbol"/>
              <a:buChar char="-"/>
              <a:tabLst>
                <a:tab algn="l" pos="4604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OpenMP</a:t>
            </a:r>
            <a:r>
              <a:rPr b="0" lang="en-US" sz="1400" spc="10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35" strike="noStrike">
                <a:solidFill>
                  <a:srgbClr val="000000"/>
                </a:solidFill>
                <a:latin typeface="Times New Roman"/>
                <a:ea typeface="DejaVu Sans"/>
              </a:rPr>
              <a:t>(multi-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core</a:t>
            </a:r>
            <a:r>
              <a:rPr b="0" lang="en-US" sz="1400" spc="11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processor)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60440" indent="-88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OpenSymbol"/>
              <a:buChar char="-"/>
              <a:tabLst>
                <a:tab algn="l" pos="460440"/>
              </a:tabLst>
            </a:pPr>
            <a:r>
              <a:rPr b="0" lang="en-US" sz="1400" spc="-111" strike="noStrike">
                <a:solidFill>
                  <a:srgbClr val="000000"/>
                </a:solidFill>
                <a:latin typeface="Times New Roman"/>
                <a:ea typeface="DejaVu Sans"/>
              </a:rPr>
              <a:t>SYCL</a:t>
            </a:r>
            <a:r>
              <a:rPr b="0" lang="en-US" sz="1400" spc="-7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52" strike="noStrike">
                <a:solidFill>
                  <a:srgbClr val="000000"/>
                </a:solidFill>
                <a:latin typeface="Times New Roman"/>
                <a:ea typeface="DejaVu Sans"/>
              </a:rPr>
              <a:t>(GPU</a:t>
            </a:r>
            <a:r>
              <a:rPr b="0" lang="en-US" sz="1400" spc="-7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and</a:t>
            </a:r>
            <a:r>
              <a:rPr b="0" lang="en-US" sz="1400" spc="-7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Intel</a:t>
            </a:r>
            <a:r>
              <a:rPr b="0" lang="en-US" sz="1400" spc="-7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accelerators)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object 5"/>
          <p:cNvSpPr/>
          <p:nvPr/>
        </p:nvSpPr>
        <p:spPr>
          <a:xfrm>
            <a:off x="4755960" y="3481200"/>
            <a:ext cx="3838320" cy="11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3040" bIns="0" anchor="t">
            <a:spAutoFit/>
          </a:bodyPr>
          <a:p>
            <a:pPr marL="12600">
              <a:lnSpc>
                <a:spcPct val="100000"/>
              </a:lnSpc>
              <a:spcBef>
                <a:spcPts val="181"/>
              </a:spcBef>
            </a:pPr>
            <a:r>
              <a:rPr b="1" lang="en-US" sz="1400" spc="-114" strike="noStrike">
                <a:solidFill>
                  <a:srgbClr val="000000"/>
                </a:solidFill>
                <a:latin typeface="Times New Roman"/>
                <a:ea typeface="DejaVu Sans"/>
              </a:rPr>
              <a:t>Key</a:t>
            </a:r>
            <a:r>
              <a:rPr b="1" lang="en-US" sz="1400" spc="-80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components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71240" indent="-99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OpenSymbol"/>
              <a:buChar char="-"/>
              <a:tabLst>
                <a:tab algn="l" pos="471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Core: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Basic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3" strike="noStrike">
                <a:solidFill>
                  <a:srgbClr val="000000"/>
                </a:solidFill>
                <a:latin typeface="Times New Roman"/>
                <a:ea typeface="DejaVu Sans"/>
              </a:rPr>
              <a:t>programming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model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47124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OpenSymbol"/>
              <a:buChar char="-"/>
              <a:tabLst>
                <a:tab algn="l" pos="4712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Kernels: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9" strike="noStrike">
                <a:solidFill>
                  <a:srgbClr val="000000"/>
                </a:solidFill>
                <a:latin typeface="Times New Roman"/>
                <a:ea typeface="DejaVu Sans"/>
              </a:rPr>
              <a:t>portable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69" strike="noStrike">
                <a:solidFill>
                  <a:srgbClr val="000000"/>
                </a:solidFill>
                <a:latin typeface="Times New Roman"/>
                <a:ea typeface="DejaVu Sans"/>
              </a:rPr>
              <a:t>math</a:t>
            </a:r>
            <a:r>
              <a:rPr b="0" lang="en-US" sz="1400" spc="24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35" strike="noStrike">
                <a:solidFill>
                  <a:srgbClr val="000000"/>
                </a:solidFill>
                <a:latin typeface="Times New Roman"/>
                <a:ea typeface="DejaVu Sans"/>
              </a:rPr>
              <a:t>library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  <a:p>
            <a:pPr marL="372240" indent="95760">
              <a:lnSpc>
                <a:spcPts val="1681"/>
              </a:lnSpc>
              <a:spcBef>
                <a:spcPts val="60"/>
              </a:spcBef>
              <a:buClr>
                <a:srgbClr val="000000"/>
              </a:buClr>
              <a:buFont typeface="OpenSymbol"/>
              <a:buChar char="-"/>
              <a:tabLst>
                <a:tab algn="l" pos="4680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Tools: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3" strike="noStrike">
                <a:solidFill>
                  <a:srgbClr val="000000"/>
                </a:solidFill>
                <a:latin typeface="Times New Roman"/>
                <a:ea typeface="DejaVu Sans"/>
              </a:rPr>
              <a:t>Debugging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41" strike="noStrike">
                <a:solidFill>
                  <a:srgbClr val="000000"/>
                </a:solidFill>
                <a:latin typeface="Times New Roman"/>
                <a:ea typeface="DejaVu Sans"/>
              </a:rPr>
              <a:t>and</a:t>
            </a:r>
            <a:r>
              <a:rPr b="0" lang="en-US" sz="1400" spc="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29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analysis</a:t>
            </a:r>
            <a:r>
              <a:rPr b="0" lang="en-US" sz="1400" spc="103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Times New Roman"/>
                <a:ea typeface="DejaVu Sans"/>
              </a:rPr>
              <a:t>tools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object 2" descr=""/>
          <p:cNvPicPr/>
          <p:nvPr/>
        </p:nvPicPr>
        <p:blipFill>
          <a:blip r:embed="rId1"/>
          <a:stretch/>
        </p:blipFill>
        <p:spPr>
          <a:xfrm>
            <a:off x="856800" y="892440"/>
            <a:ext cx="8435880" cy="3844800"/>
          </a:xfrm>
          <a:prstGeom prst="rect">
            <a:avLst/>
          </a:prstGeom>
          <a:ln w="0">
            <a:noFill/>
          </a:ln>
        </p:spPr>
      </p:pic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74680" y="273600"/>
            <a:ext cx="440532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00" strike="noStrike">
                <a:solidFill>
                  <a:srgbClr val="050505"/>
                </a:solidFill>
                <a:latin typeface="Arial"/>
              </a:rPr>
              <a:t>Abstractions</a:t>
            </a:r>
            <a:r>
              <a:rPr b="1" lang="en-US" sz="2000" spc="-9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46" strike="noStrike">
                <a:solidFill>
                  <a:srgbClr val="050505"/>
                </a:solidFill>
                <a:latin typeface="Arial"/>
              </a:rPr>
              <a:t>of</a:t>
            </a:r>
            <a:r>
              <a:rPr b="1" lang="en-US" sz="2000" spc="-92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60" strike="noStrike">
                <a:solidFill>
                  <a:srgbClr val="050505"/>
                </a:solidFill>
                <a:latin typeface="Arial"/>
              </a:rPr>
              <a:t>the</a:t>
            </a:r>
            <a:r>
              <a:rPr b="1" lang="en-US" sz="2000" spc="-92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37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2000" spc="-92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35" strike="noStrike">
                <a:solidFill>
                  <a:srgbClr val="050505"/>
                </a:solidFill>
                <a:latin typeface="Arial"/>
              </a:rPr>
              <a:t>kernel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object 4"/>
          <p:cNvSpPr/>
          <p:nvPr/>
        </p:nvSpPr>
        <p:spPr>
          <a:xfrm>
            <a:off x="901440" y="4808880"/>
            <a:ext cx="76089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</a:pP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Kokkos </a:t>
            </a:r>
            <a:r>
              <a:rPr b="0" lang="en-US" sz="1200" spc="21" strike="noStrike">
                <a:solidFill>
                  <a:srgbClr val="000000"/>
                </a:solidFill>
                <a:latin typeface="Arial"/>
                <a:ea typeface="DejaVu Sans"/>
              </a:rPr>
              <a:t>provides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powerful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1" strike="noStrike">
                <a:solidFill>
                  <a:srgbClr val="000000"/>
                </a:solidFill>
                <a:latin typeface="Arial"/>
                <a:ea typeface="DejaVu Sans"/>
              </a:rPr>
              <a:t>abstraction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60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1" strike="noStrike">
                <a:solidFill>
                  <a:srgbClr val="000000"/>
                </a:solidFill>
                <a:latin typeface="Arial"/>
                <a:ea typeface="DejaVu Sans"/>
              </a:rPr>
              <a:t>development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55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1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  <a:ea typeface="DejaVu Sans"/>
              </a:rPr>
              <a:t>algorithms,</a:t>
            </a:r>
            <a:r>
              <a:rPr b="0" lang="en-US" sz="12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  <a:ea typeface="DejaVu Sans"/>
              </a:rPr>
              <a:t>enabling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performance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portability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across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diverse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55" strike="noStrike">
                <a:solidFill>
                  <a:srgbClr val="000000"/>
                </a:solidFill>
                <a:latin typeface="Arial"/>
                <a:ea typeface="DejaVu Sans"/>
              </a:rPr>
              <a:t>computing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architectures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69" strike="noStrike">
                <a:solidFill>
                  <a:srgbClr val="000000"/>
                </a:solidFill>
                <a:latin typeface="Arial"/>
                <a:ea typeface="DejaVu Sans"/>
              </a:rPr>
              <a:t>through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its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execution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  <a:ea typeface="DejaVu Sans"/>
              </a:rPr>
              <a:t>management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000000"/>
                </a:solidFill>
                <a:latin typeface="Arial"/>
                <a:ea typeface="DejaVu Sans"/>
              </a:rPr>
              <a:t>models.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75040" y="220320"/>
            <a:ext cx="310824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5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900" spc="-80" strike="noStrike">
                <a:solidFill>
                  <a:srgbClr val="050505"/>
                </a:solidFill>
                <a:latin typeface="Arial"/>
              </a:rPr>
              <a:t>Fundamental</a:t>
            </a:r>
            <a:r>
              <a:rPr b="1" lang="en-US" sz="1900" spc="-9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1900" spc="-151" strike="noStrike">
                <a:solidFill>
                  <a:srgbClr val="050505"/>
                </a:solidFill>
                <a:latin typeface="Arial"/>
              </a:rPr>
              <a:t>Concepts</a:t>
            </a:r>
            <a:r>
              <a:rPr b="1" lang="en-US" sz="1900" spc="-92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1900" spc="-26" strike="noStrike">
                <a:solidFill>
                  <a:srgbClr val="050505"/>
                </a:solidFill>
                <a:latin typeface="Arial"/>
              </a:rPr>
              <a:t>of </a:t>
            </a:r>
            <a:r>
              <a:rPr b="1" lang="en-US" sz="1900" spc="-12" strike="noStrike">
                <a:solidFill>
                  <a:srgbClr val="050505"/>
                </a:solidFill>
                <a:latin typeface="Arial"/>
              </a:rPr>
              <a:t>Kokkos</a:t>
            </a:r>
            <a:endParaRPr b="1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object 3"/>
          <p:cNvSpPr/>
          <p:nvPr/>
        </p:nvSpPr>
        <p:spPr>
          <a:xfrm>
            <a:off x="4824000" y="236880"/>
            <a:ext cx="40924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350" spc="-97" strike="noStrike">
                <a:solidFill>
                  <a:srgbClr val="000000"/>
                </a:solidFill>
                <a:latin typeface="Arial Black"/>
                <a:ea typeface="DejaVu Sans"/>
              </a:rPr>
              <a:t>Execution</a:t>
            </a:r>
            <a:r>
              <a:rPr b="0" lang="en-US" sz="1350" spc="29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52" strike="noStrike">
                <a:solidFill>
                  <a:srgbClr val="000000"/>
                </a:solidFill>
                <a:latin typeface="Arial Black"/>
                <a:ea typeface="DejaVu Sans"/>
              </a:rPr>
              <a:t>spaces:</a:t>
            </a:r>
            <a:r>
              <a:rPr b="0" lang="en-US" sz="1350" spc="-52" strike="noStrike">
                <a:solidFill>
                  <a:srgbClr val="000000"/>
                </a:solidFill>
                <a:latin typeface="Arial"/>
                <a:ea typeface="DejaVu Sans"/>
              </a:rPr>
              <a:t>Define</a:t>
            </a:r>
            <a:r>
              <a:rPr b="0" lang="en-US" sz="1350" spc="10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  <a:ea typeface="DejaVu Sans"/>
              </a:rPr>
              <a:t>where</a:t>
            </a:r>
            <a:r>
              <a:rPr b="0" lang="en-US" sz="1350" spc="10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350" spc="10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builds</a:t>
            </a:r>
            <a:r>
              <a:rPr b="0" lang="en-US" sz="1350" spc="10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26" strike="noStrike">
                <a:solidFill>
                  <a:srgbClr val="000000"/>
                </a:solidFill>
                <a:latin typeface="Arial"/>
                <a:ea typeface="DejaVu Sans"/>
              </a:rPr>
              <a:t>are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executed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object 4"/>
          <p:cNvSpPr/>
          <p:nvPr/>
        </p:nvSpPr>
        <p:spPr>
          <a:xfrm>
            <a:off x="215640" y="930600"/>
            <a:ext cx="4027680" cy="21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350" spc="-55" strike="noStrike">
                <a:solidFill>
                  <a:srgbClr val="000000"/>
                </a:solidFill>
                <a:latin typeface="Arial Black"/>
                <a:ea typeface="DejaVu Sans"/>
              </a:rPr>
              <a:t>Memory</a:t>
            </a:r>
            <a:r>
              <a:rPr b="0" lang="en-US" sz="1350" spc="-7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26" strike="noStrike">
                <a:solidFill>
                  <a:srgbClr val="000000"/>
                </a:solidFill>
                <a:latin typeface="Arial Black"/>
                <a:ea typeface="DejaVu Sans"/>
              </a:rPr>
              <a:t>spaces:</a:t>
            </a:r>
            <a:r>
              <a:rPr b="0" lang="en-US" sz="1350" spc="-26" strike="noStrike">
                <a:solidFill>
                  <a:srgbClr val="000000"/>
                </a:solidFill>
                <a:latin typeface="Arial"/>
                <a:ea typeface="DejaVu Sans"/>
              </a:rPr>
              <a:t>Determine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  <a:ea typeface="DejaVu Sans"/>
              </a:rPr>
              <a:t>where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35" strike="noStrike">
                <a:solidFill>
                  <a:srgbClr val="000000"/>
                </a:solidFill>
                <a:latin typeface="Arial"/>
                <a:ea typeface="DejaVu Sans"/>
              </a:rPr>
              <a:t>how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13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allocated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4"/>
              </a:spcBef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11600" indent="-990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algn="l" pos="111600"/>
              </a:tabLst>
            </a:pPr>
            <a:r>
              <a:rPr b="0" lang="en-US" sz="1350" spc="43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options: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1" marL="176400" indent="-8496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OpenSymbol"/>
              <a:buChar char="-"/>
              <a:tabLst>
                <a:tab algn="l" pos="17640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Kokkos::CudaSpace</a:t>
            </a:r>
            <a:r>
              <a:rPr b="0" lang="en-US" sz="11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(NVIDIA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41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11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memory)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lvl="1" marL="176400" indent="-8496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OpenSymbol"/>
              <a:buChar char="-"/>
              <a:tabLst>
                <a:tab algn="l" pos="17640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Kokkos::HostSpace</a:t>
            </a:r>
            <a:r>
              <a:rPr b="0" lang="en-US" sz="115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52" strike="noStrike">
                <a:solidFill>
                  <a:srgbClr val="000000"/>
                </a:solidFill>
                <a:latin typeface="Arial"/>
                <a:ea typeface="DejaVu Sans"/>
              </a:rPr>
              <a:t>(CPU</a:t>
            </a:r>
            <a:r>
              <a:rPr b="0" lang="en-US" sz="115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memory)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lvl="1" marL="176400" indent="-8496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OpenSymbol"/>
              <a:buChar char="-"/>
              <a:tabLst>
                <a:tab algn="l" pos="17640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Kokkos::CudaUVMSpace</a:t>
            </a:r>
            <a:r>
              <a:rPr b="0" lang="en-US" sz="11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52" strike="noStrike">
                <a:solidFill>
                  <a:srgbClr val="000000"/>
                </a:solidFill>
                <a:latin typeface="Arial"/>
                <a:ea typeface="DejaVu Sans"/>
              </a:rPr>
              <a:t>(CPU-</a:t>
            </a:r>
            <a:r>
              <a:rPr b="0" lang="en-US" sz="1150" spc="-41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  <a:ea typeface="DejaVu Sans"/>
              </a:rPr>
              <a:t>unified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 memory)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lvl="1" marL="179640" indent="-8820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Font typeface="OpenSymbol"/>
              <a:buChar char="-"/>
              <a:tabLst>
                <a:tab algn="l" pos="1796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Kokkos::CudaHostPinnedSpace</a:t>
            </a:r>
            <a:r>
              <a:rPr b="0" lang="en-US" sz="1200" spc="18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(pinned</a:t>
            </a:r>
            <a:r>
              <a:rPr b="0" lang="en-US" sz="1200" spc="18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60" strike="noStrike">
                <a:solidFill>
                  <a:srgbClr val="000000"/>
                </a:solidFill>
                <a:latin typeface="Arial"/>
                <a:ea typeface="DejaVu Sans"/>
              </a:rPr>
              <a:t>CPU</a:t>
            </a:r>
            <a:r>
              <a:rPr b="0" lang="en-US" sz="1200" spc="18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memory)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91440" indent="92160">
              <a:lnSpc>
                <a:spcPct val="111000"/>
              </a:lnSpc>
              <a:spcBef>
                <a:spcPts val="11"/>
              </a:spcBef>
              <a:buClr>
                <a:srgbClr val="000000"/>
              </a:buClr>
              <a:buFont typeface="OpenSymbol"/>
              <a:buChar char="-"/>
              <a:tabLst>
                <a:tab algn="l" pos="183600"/>
              </a:tabLst>
            </a:pPr>
            <a:r>
              <a:rPr b="0" lang="en-US" sz="1250" spc="9" strike="noStrike">
                <a:solidFill>
                  <a:srgbClr val="000000"/>
                </a:solidFill>
                <a:latin typeface="Arial"/>
                <a:ea typeface="DejaVu Sans"/>
              </a:rPr>
              <a:t>Kokkos::DefaultMemorySpace</a:t>
            </a:r>
            <a:r>
              <a:rPr b="0" lang="en-US" sz="1250" spc="1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  <a:ea typeface="DejaVu Sans"/>
              </a:rPr>
              <a:t>(default</a:t>
            </a:r>
            <a:r>
              <a:rPr b="0" lang="en-US" sz="125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memory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space)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object 5"/>
          <p:cNvSpPr/>
          <p:nvPr/>
        </p:nvSpPr>
        <p:spPr>
          <a:xfrm>
            <a:off x="4824000" y="838080"/>
            <a:ext cx="4416840" cy="15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11600" indent="-99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-"/>
              <a:tabLst>
                <a:tab algn="l" pos="111600"/>
              </a:tabLst>
            </a:pPr>
            <a:r>
              <a:rPr b="0" lang="en-US" sz="1350" spc="43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options: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1" marL="176400" indent="-84960">
              <a:lnSpc>
                <a:spcPct val="100000"/>
              </a:lnSpc>
              <a:spcBef>
                <a:spcPts val="261"/>
              </a:spcBef>
              <a:buClr>
                <a:srgbClr val="000000"/>
              </a:buClr>
              <a:buFont typeface="OpenSymbol"/>
              <a:buChar char="-"/>
              <a:tabLst>
                <a:tab algn="l" pos="17640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</a:t>
            </a:r>
            <a:r>
              <a:rPr b="0" lang="en-US" sz="115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(NVIDIA</a:t>
            </a:r>
            <a:r>
              <a:rPr b="0" lang="en-US" sz="115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21" strike="noStrike">
                <a:solidFill>
                  <a:srgbClr val="000000"/>
                </a:solidFill>
                <a:latin typeface="Arial"/>
                <a:ea typeface="DejaVu Sans"/>
              </a:rPr>
              <a:t>GPU)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lvl="1" marL="183600" indent="-9216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OpenSymbol"/>
              <a:buChar char="-"/>
              <a:tabLst>
                <a:tab algn="l" pos="183600"/>
              </a:tabLst>
            </a:pP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Kokkos::HIP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(AMD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graphics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processor)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lvl="1" marL="179640" indent="-88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OpenSymbol"/>
              <a:buChar char="-"/>
              <a:tabLst>
                <a:tab algn="l" pos="1796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Kokkos::OpenMP</a:t>
            </a:r>
            <a:r>
              <a:rPr b="0" lang="en-US" sz="120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35" strike="noStrike">
                <a:solidFill>
                  <a:srgbClr val="000000"/>
                </a:solidFill>
                <a:latin typeface="Arial"/>
                <a:ea typeface="DejaVu Sans"/>
              </a:rPr>
              <a:t>(multi-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core</a:t>
            </a:r>
            <a:r>
              <a:rPr b="0" lang="en-US" sz="120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171360" indent="-7992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OpenSymbol"/>
              <a:buChar char="-"/>
              <a:tabLst>
                <a:tab algn="l" pos="17136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Kokkos::Threads</a:t>
            </a:r>
            <a:r>
              <a:rPr b="0" lang="en-US" sz="11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00" spc="41" strike="noStrike">
                <a:solidFill>
                  <a:srgbClr val="000000"/>
                </a:solidFill>
                <a:latin typeface="Arial"/>
                <a:ea typeface="DejaVu Sans"/>
              </a:rPr>
              <a:t>(multithreaded</a:t>
            </a:r>
            <a:r>
              <a:rPr b="0" lang="en-US" sz="11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000000"/>
                </a:solidFill>
                <a:latin typeface="Arial"/>
                <a:ea typeface="DejaVu Sans"/>
              </a:rPr>
              <a:t>processor)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lvl="1" marL="168120" indent="-7668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OpenSymbol"/>
              <a:buChar char="-"/>
              <a:tabLst>
                <a:tab algn="l" pos="16812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Kokkos::Serial</a:t>
            </a:r>
            <a:r>
              <a:rPr b="0" lang="en-US" sz="1050" spc="14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1" strike="noStrike">
                <a:solidFill>
                  <a:srgbClr val="000000"/>
                </a:solidFill>
                <a:latin typeface="Arial"/>
                <a:ea typeface="DejaVu Sans"/>
              </a:rPr>
              <a:t>(single-threaded</a:t>
            </a:r>
            <a:r>
              <a:rPr b="0" lang="en-US" sz="1050" spc="14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21" strike="noStrike">
                <a:solidFill>
                  <a:srgbClr val="000000"/>
                </a:solidFill>
                <a:latin typeface="Arial"/>
                <a:ea typeface="DejaVu Sans"/>
              </a:rPr>
              <a:t>CPU)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04760" indent="-9216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OpenSymbol"/>
              <a:buChar char="-"/>
              <a:tabLst>
                <a:tab algn="l" pos="104760"/>
              </a:tabLst>
            </a:pPr>
            <a:r>
              <a:rPr b="0" lang="en-US" sz="1250" spc="1" strike="noStrike">
                <a:solidFill>
                  <a:srgbClr val="000000"/>
                </a:solidFill>
                <a:latin typeface="Arial"/>
                <a:ea typeface="DejaVu Sans"/>
              </a:rPr>
              <a:t>Kokkos::DefaultExecutionSpace</a:t>
            </a:r>
            <a:r>
              <a:rPr b="0" lang="en-US" sz="1250" spc="14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1" strike="noStrike">
                <a:solidFill>
                  <a:srgbClr val="000000"/>
                </a:solidFill>
                <a:latin typeface="Arial"/>
                <a:ea typeface="DejaVu Sans"/>
              </a:rPr>
              <a:t>(default</a:t>
            </a:r>
            <a:r>
              <a:rPr b="0" lang="en-US" sz="1250" spc="14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1" strike="noStrike">
                <a:solidFill>
                  <a:srgbClr val="000000"/>
                </a:solidFill>
                <a:latin typeface="Arial"/>
                <a:ea typeface="DejaVu Sans"/>
              </a:rPr>
              <a:t>execution</a:t>
            </a:r>
            <a:r>
              <a:rPr b="0" lang="en-US" sz="1250" spc="14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space)</a:t>
            </a:r>
            <a:r>
              <a:rPr b="0" lang="en-US" sz="1600" spc="-12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object 6"/>
          <p:cNvSpPr/>
          <p:nvPr/>
        </p:nvSpPr>
        <p:spPr>
          <a:xfrm>
            <a:off x="4896720" y="2941920"/>
            <a:ext cx="4799880" cy="21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350" spc="-72" strike="noStrike">
                <a:solidFill>
                  <a:srgbClr val="000000"/>
                </a:solidFill>
                <a:latin typeface="Arial Black"/>
                <a:ea typeface="DejaVu Sans"/>
              </a:rPr>
              <a:t>Parallel</a:t>
            </a:r>
            <a:r>
              <a:rPr b="0" lang="en-US" sz="1350" spc="-3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26" strike="noStrike">
                <a:solidFill>
                  <a:srgbClr val="000000"/>
                </a:solidFill>
                <a:latin typeface="Arial Black"/>
                <a:ea typeface="DejaVu Sans"/>
              </a:rPr>
              <a:t>models:</a:t>
            </a:r>
            <a:r>
              <a:rPr b="0" lang="en-US" sz="1350" spc="-26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35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models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135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high-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level</a:t>
            </a:r>
            <a:r>
              <a:rPr b="0" lang="en-US" sz="135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abstractions </a:t>
            </a:r>
            <a:r>
              <a:rPr b="0" lang="en-US" sz="1350" spc="63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35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simplify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  <a:ea typeface="DejaVu Sans"/>
              </a:rPr>
              <a:t>implementation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35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algorithms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in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Kokkos.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5"/>
              </a:spcBef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4000"/>
              </a:lnSpc>
            </a:pPr>
            <a:r>
              <a:rPr b="0" lang="en-US" sz="900" spc="-1" strike="noStrike">
                <a:solidFill>
                  <a:srgbClr val="414141"/>
                </a:solidFill>
                <a:latin typeface="Arial"/>
                <a:ea typeface="DejaVu Sans"/>
              </a:rPr>
              <a:t>Parallel</a:t>
            </a:r>
            <a:r>
              <a:rPr b="0" lang="en-US" sz="900" spc="-1" strike="noStrike">
                <a:solidFill>
                  <a:srgbClr val="2c2c2c"/>
                </a:solidFill>
                <a:latin typeface="Arial"/>
                <a:ea typeface="DejaVu Sans"/>
              </a:rPr>
              <a:t>For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model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loop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60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be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executed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parallel.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Distributes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iterations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across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available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threads.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5"/>
              </a:spcBef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4000"/>
              </a:lnSpc>
            </a:pPr>
            <a:r>
              <a:rPr b="0" lang="en-US" sz="900" spc="1" strike="noStrike">
                <a:solidFill>
                  <a:srgbClr val="414141"/>
                </a:solidFill>
                <a:latin typeface="Arial"/>
                <a:ea typeface="DejaVu Sans"/>
              </a:rPr>
              <a:t>Parallel</a:t>
            </a:r>
            <a:r>
              <a:rPr b="0" lang="en-US" sz="900" spc="1" strike="noStrike">
                <a:solidFill>
                  <a:srgbClr val="2c2c2c"/>
                </a:solidFill>
                <a:latin typeface="Arial"/>
                <a:ea typeface="DejaVu Sans"/>
              </a:rPr>
              <a:t>Red</a:t>
            </a:r>
            <a:r>
              <a:rPr b="0" lang="en-US" sz="900" spc="1" strike="noStrike">
                <a:solidFill>
                  <a:srgbClr val="131313"/>
                </a:solidFill>
                <a:latin typeface="Arial"/>
                <a:ea typeface="DejaVu Sans"/>
              </a:rPr>
              <a:t>u</a:t>
            </a:r>
            <a:r>
              <a:rPr b="0" lang="en-US" sz="900" spc="1" strike="noStrike">
                <a:solidFill>
                  <a:srgbClr val="2c2c2c"/>
                </a:solidFill>
                <a:latin typeface="Arial"/>
                <a:ea typeface="DejaVu Sans"/>
              </a:rPr>
              <a:t>This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combines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results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multiple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threads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into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single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output,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useful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55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operations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such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adding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an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array.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1"/>
              </a:spcBef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4000"/>
              </a:lnSpc>
            </a:pPr>
            <a:r>
              <a:rPr b="0" lang="en-US" sz="900" spc="-1" strike="noStrike">
                <a:solidFill>
                  <a:srgbClr val="414141"/>
                </a:solidFill>
                <a:latin typeface="Arial"/>
                <a:ea typeface="DejaVu Sans"/>
              </a:rPr>
              <a:t>Parallel</a:t>
            </a:r>
            <a:r>
              <a:rPr b="0" lang="en-US" sz="900" spc="-1" strike="noStrike">
                <a:solidFill>
                  <a:srgbClr val="2c2c2c"/>
                </a:solidFill>
                <a:latin typeface="Arial"/>
                <a:ea typeface="DejaVu Sans"/>
              </a:rPr>
              <a:t>Scan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000" spc="11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computes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prefix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sums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000" spc="11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parallel,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allowing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efficient</a:t>
            </a:r>
            <a:r>
              <a:rPr b="0" lang="en-US" sz="1000" spc="12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  <a:ea typeface="DejaVu Sans"/>
              </a:rPr>
              <a:t>data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processing</a:t>
            </a:r>
            <a:r>
              <a:rPr b="0" lang="en-US" sz="10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0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algorithms</a:t>
            </a:r>
            <a:r>
              <a:rPr b="0" lang="en-US" sz="10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require</a:t>
            </a:r>
            <a:r>
              <a:rPr b="0" lang="en-US" sz="10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cumulative</a:t>
            </a:r>
            <a:r>
              <a:rPr b="0" lang="en-US" sz="10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results.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object 7"/>
          <p:cNvSpPr/>
          <p:nvPr/>
        </p:nvSpPr>
        <p:spPr>
          <a:xfrm>
            <a:off x="228240" y="3474720"/>
            <a:ext cx="4192560" cy="15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5760">
              <a:lnSpc>
                <a:spcPct val="106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900" spc="-1" strike="noStrike">
                <a:solidFill>
                  <a:srgbClr val="2c2c2c"/>
                </a:solidFill>
                <a:latin typeface="Arial"/>
                <a:ea typeface="DejaVu Sans"/>
              </a:rPr>
              <a:t>Host</a:t>
            </a:r>
            <a:r>
              <a:rPr b="0" lang="en-US" sz="900" spc="-1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900" spc="-1" strike="noStrike">
                <a:solidFill>
                  <a:srgbClr val="414141"/>
                </a:solidFill>
                <a:latin typeface="Arial"/>
                <a:ea typeface="DejaVu Sans"/>
              </a:rPr>
              <a:t>e</a:t>
            </a:r>
            <a:r>
              <a:rPr b="0" lang="en-US" sz="900" spc="-1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900" spc="-1" strike="noStrike">
                <a:solidFill>
                  <a:srgbClr val="2c2c2c"/>
                </a:solidFill>
                <a:latin typeface="Arial"/>
                <a:ea typeface="DejaVu Sans"/>
              </a:rPr>
              <a:t>ory: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standard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00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accessible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00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  <a:ea typeface="DejaVu Sans"/>
              </a:rPr>
              <a:t>CPU.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Used</a:t>
            </a:r>
            <a:r>
              <a:rPr b="0" lang="en-US" sz="100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55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10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  <a:ea typeface="DejaVu Sans"/>
              </a:rPr>
              <a:t>data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55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require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high-speed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access.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 indent="5760">
              <a:lnSpc>
                <a:spcPct val="100000"/>
              </a:lnSpc>
              <a:spcBef>
                <a:spcPts val="510"/>
              </a:spcBef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 indent="5760">
              <a:lnSpc>
                <a:spcPct val="112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2c2c2c"/>
                </a:solidFill>
                <a:latin typeface="Arial"/>
                <a:ea typeface="DejaVu Sans"/>
              </a:rPr>
              <a:t>Device</a:t>
            </a:r>
            <a:r>
              <a:rPr b="0" lang="en-US" sz="850" spc="-1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850" spc="-1" strike="noStrike">
                <a:solidFill>
                  <a:srgbClr val="2c2c2c"/>
                </a:solidFill>
                <a:latin typeface="Arial"/>
                <a:ea typeface="DejaVu Sans"/>
              </a:rPr>
              <a:t>e</a:t>
            </a:r>
            <a:r>
              <a:rPr b="0" lang="en-US" sz="850" spc="-1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850" spc="-1" strike="noStrike">
                <a:solidFill>
                  <a:srgbClr val="2c2c2c"/>
                </a:solidFill>
                <a:latin typeface="Arial"/>
                <a:ea typeface="DejaVu Sans"/>
              </a:rPr>
              <a:t>ory: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allocated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41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26" strike="noStrike">
                <a:solidFill>
                  <a:srgbClr val="000000"/>
                </a:solidFill>
                <a:latin typeface="Arial"/>
                <a:ea typeface="DejaVu Sans"/>
              </a:rPr>
              <a:t>GPUs.</a:t>
            </a:r>
            <a:r>
              <a:rPr b="0" lang="en-US" sz="950" spc="14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Provide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faster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2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9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24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calculations</a:t>
            </a:r>
            <a:r>
              <a:rPr b="0" lang="en-US" sz="950" spc="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43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9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take</a:t>
            </a:r>
            <a:r>
              <a:rPr b="0" lang="en-US" sz="9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advantage</a:t>
            </a:r>
            <a:r>
              <a:rPr b="0" lang="en-US" sz="9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43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35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9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2" strike="noStrike">
                <a:solidFill>
                  <a:srgbClr val="000000"/>
                </a:solidFill>
                <a:latin typeface="Arial"/>
                <a:ea typeface="DejaVu Sans"/>
              </a:rPr>
              <a:t>capabilities.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12600" indent="5760">
              <a:lnSpc>
                <a:spcPct val="100000"/>
              </a:lnSpc>
              <a:spcBef>
                <a:spcPts val="590"/>
              </a:spcBef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12600" indent="5760">
              <a:lnSpc>
                <a:spcPct val="106000"/>
              </a:lnSpc>
              <a:tabLst>
                <a:tab algn="l" pos="0"/>
              </a:tabLst>
            </a:pPr>
            <a:r>
              <a:rPr b="0" lang="en-US" sz="900" spc="9" strike="noStrike">
                <a:solidFill>
                  <a:srgbClr val="414141"/>
                </a:solidFill>
                <a:latin typeface="Arial"/>
                <a:ea typeface="DejaVu Sans"/>
              </a:rPr>
              <a:t>Pinned</a:t>
            </a:r>
            <a:r>
              <a:rPr b="0" lang="en-US" sz="900" spc="9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900" spc="9" strike="noStrike">
                <a:solidFill>
                  <a:srgbClr val="2c2c2c"/>
                </a:solidFill>
                <a:latin typeface="Arial"/>
                <a:ea typeface="DejaVu Sans"/>
              </a:rPr>
              <a:t>e</a:t>
            </a:r>
            <a:r>
              <a:rPr b="0" lang="en-US" sz="900" spc="9" strike="noStrike">
                <a:solidFill>
                  <a:srgbClr val="131313"/>
                </a:solidFill>
                <a:latin typeface="Arial"/>
                <a:ea typeface="DejaVu Sans"/>
              </a:rPr>
              <a:t>m</a:t>
            </a:r>
            <a:r>
              <a:rPr b="0" lang="en-US" sz="900" spc="9" strike="noStrike">
                <a:solidFill>
                  <a:srgbClr val="2c2c2c"/>
                </a:solidFill>
                <a:latin typeface="Arial"/>
                <a:ea typeface="DejaVu Sans"/>
              </a:rPr>
              <a:t>ory: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special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type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host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9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faster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000000"/>
                </a:solidFill>
                <a:latin typeface="Arial"/>
                <a:ea typeface="DejaVu Sans"/>
              </a:rPr>
              <a:t>data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transfer between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3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host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and </a:t>
            </a:r>
            <a:r>
              <a:rPr b="0" lang="en-US" sz="1000" spc="9" strike="noStrike">
                <a:solidFill>
                  <a:srgbClr val="000000"/>
                </a:solidFill>
                <a:latin typeface="Arial"/>
                <a:ea typeface="DejaVu Sans"/>
              </a:rPr>
              <a:t>device.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Improved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performance</a:t>
            </a:r>
            <a:r>
              <a:rPr b="0" lang="en-US" sz="10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4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0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data- </a:t>
            </a:r>
            <a:r>
              <a:rPr b="0" lang="en-US" sz="1000" spc="1" strike="noStrike">
                <a:solidFill>
                  <a:srgbClr val="000000"/>
                </a:solidFill>
                <a:latin typeface="Arial"/>
                <a:ea typeface="DejaVu Sans"/>
              </a:rPr>
              <a:t>intensive</a:t>
            </a:r>
            <a:r>
              <a:rPr b="0" lang="en-US" sz="1000" spc="14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applications.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275040" y="261000"/>
            <a:ext cx="404460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45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2000" spc="-10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31" strike="noStrike">
                <a:solidFill>
                  <a:srgbClr val="050505"/>
                </a:solidFill>
                <a:latin typeface="Arial"/>
              </a:rPr>
              <a:t>“View”</a:t>
            </a:r>
            <a:r>
              <a:rPr b="1" lang="en-US" sz="2000" spc="-10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06" strike="noStrike">
                <a:solidFill>
                  <a:srgbClr val="050505"/>
                </a:solidFill>
                <a:latin typeface="Arial"/>
              </a:rPr>
              <a:t>Concept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object 3"/>
          <p:cNvSpPr/>
          <p:nvPr/>
        </p:nvSpPr>
        <p:spPr>
          <a:xfrm>
            <a:off x="6185880" y="621360"/>
            <a:ext cx="3257280" cy="22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b="0" lang="en-US" sz="1050" spc="89" strike="noStrike">
                <a:solidFill>
                  <a:srgbClr val="c9201e"/>
                </a:solidFill>
                <a:latin typeface="Arial"/>
                <a:ea typeface="DejaVu Sans"/>
              </a:rPr>
              <a:t>//</a:t>
            </a:r>
            <a:r>
              <a:rPr b="0" lang="en-US" sz="1050" spc="4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Allocate</a:t>
            </a:r>
            <a:r>
              <a:rPr b="0" lang="en-US" sz="1050" spc="4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x,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y</a:t>
            </a:r>
            <a:r>
              <a:rPr b="0" lang="en-US" sz="1050" spc="4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vectors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and</a:t>
            </a:r>
            <a:r>
              <a:rPr b="0" lang="en-US" sz="1050" spc="4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Matix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A</a:t>
            </a:r>
            <a:r>
              <a:rPr b="0" lang="en-US" sz="1050" spc="41" strike="noStrike">
                <a:solidFill>
                  <a:srgbClr val="c9201e"/>
                </a:solidFill>
                <a:latin typeface="Arial"/>
                <a:ea typeface="DejaVu Sans"/>
              </a:rPr>
              <a:t> on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c9201e"/>
                </a:solidFill>
                <a:latin typeface="Arial"/>
                <a:ea typeface="DejaVu Sans"/>
              </a:rPr>
              <a:t>device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using</a:t>
            </a:r>
            <a:r>
              <a:rPr b="0" lang="en-US" sz="1050" spc="2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vector</a:t>
            </a:r>
            <a:r>
              <a:rPr b="0" lang="en-US" sz="1050" spc="3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050" spc="3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kokkos::view&lt;double</a:t>
            </a:r>
            <a:r>
              <a:rPr b="0" lang="en-US" sz="1050" spc="2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*&gt;;</a:t>
            </a:r>
            <a:r>
              <a:rPr b="0" lang="en-US" sz="1050" spc="3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c9201e"/>
                </a:solidFill>
                <a:latin typeface="Arial"/>
                <a:ea typeface="DejaVu Sans"/>
              </a:rPr>
              <a:t>using 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matrix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kokkos::view&lt;double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43" strike="noStrike">
                <a:solidFill>
                  <a:srgbClr val="c9201e"/>
                </a:solidFill>
                <a:latin typeface="Arial"/>
                <a:ea typeface="DejaVu Sans"/>
              </a:rPr>
              <a:t>**&gt;;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vector</a:t>
            </a:r>
            <a:r>
              <a:rPr b="0" lang="en-US" sz="1100" spc="18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c9201e"/>
                </a:solidFill>
                <a:latin typeface="Arial"/>
                <a:ea typeface="DejaVu Sans"/>
              </a:rPr>
              <a:t>y(“y”,N);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vector</a:t>
            </a:r>
            <a:r>
              <a:rPr b="0" lang="en-US" sz="1100" spc="18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c9201e"/>
                </a:solidFill>
                <a:latin typeface="Arial"/>
                <a:ea typeface="DejaVu Sans"/>
              </a:rPr>
              <a:t>x(“x”,M);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US" sz="1100" spc="43" strike="noStrike">
                <a:solidFill>
                  <a:srgbClr val="c9201e"/>
                </a:solidFill>
                <a:latin typeface="Arial"/>
                <a:ea typeface="DejaVu Sans"/>
              </a:rPr>
              <a:t>matrix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c9201e"/>
                </a:solidFill>
                <a:latin typeface="Arial"/>
                <a:ea typeface="DejaVu Sans"/>
              </a:rPr>
              <a:t>A(“A”,N,M);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9"/>
              </a:spcBef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14000"/>
              </a:lnSpc>
            </a:pPr>
            <a:r>
              <a:rPr b="0" lang="en-US" sz="1050" spc="89" strike="noStrike">
                <a:solidFill>
                  <a:srgbClr val="c9201e"/>
                </a:solidFill>
                <a:latin typeface="Arial"/>
                <a:ea typeface="DejaVu Sans"/>
              </a:rPr>
              <a:t>//</a:t>
            </a:r>
            <a:r>
              <a:rPr b="0" lang="en-US" sz="1050" spc="5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Initialize</a:t>
            </a:r>
            <a:r>
              <a:rPr b="0" lang="en-US" sz="1050" spc="5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y</a:t>
            </a:r>
            <a:r>
              <a:rPr b="0" lang="en-US" sz="1050" spc="6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vector</a:t>
            </a:r>
            <a:r>
              <a:rPr b="0" lang="en-US" sz="1050" spc="5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26" strike="noStrike">
                <a:solidFill>
                  <a:srgbClr val="c9201e"/>
                </a:solidFill>
                <a:latin typeface="Arial"/>
                <a:ea typeface="DejaVu Sans"/>
              </a:rPr>
              <a:t>For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(int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i=0;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i&lt;N;</a:t>
            </a:r>
            <a:r>
              <a:rPr b="0" lang="en-US" sz="1050" spc="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++i)</a:t>
            </a:r>
            <a:r>
              <a:rPr b="0" lang="en-US" sz="1050" spc="1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52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 indent="213480">
              <a:lnSpc>
                <a:spcPct val="104000"/>
              </a:lnSpc>
              <a:spcBef>
                <a:spcPts val="20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y(i) = </a:t>
            </a:r>
            <a:r>
              <a:rPr b="0" lang="en-US" sz="1100" spc="-72" strike="noStrike">
                <a:solidFill>
                  <a:srgbClr val="c9201e"/>
                </a:solidFill>
                <a:latin typeface="Arial"/>
                <a:ea typeface="DejaVu Sans"/>
              </a:rPr>
              <a:t>1;</a:t>
            </a:r>
            <a:r>
              <a:rPr b="0" i="1" lang="en-US" sz="1150" spc="-72" strike="noStrike">
                <a:solidFill>
                  <a:srgbClr val="c9201e"/>
                </a:solidFill>
                <a:latin typeface="Verdana"/>
                <a:ea typeface="DejaVu Sans"/>
              </a:rPr>
              <a:t>//can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60" strike="noStrike">
                <a:solidFill>
                  <a:srgbClr val="c9201e"/>
                </a:solidFill>
                <a:latin typeface="Verdana"/>
                <a:ea typeface="DejaVu Sans"/>
              </a:rPr>
              <a:t>potentially</a:t>
            </a:r>
            <a:r>
              <a:rPr b="0" i="1" lang="en-US" sz="1150" spc="-97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60" strike="noStrike">
                <a:solidFill>
                  <a:srgbClr val="c9201e"/>
                </a:solidFill>
                <a:latin typeface="Verdana"/>
                <a:ea typeface="DejaVu Sans"/>
              </a:rPr>
              <a:t>lead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55" strike="noStrike">
                <a:solidFill>
                  <a:srgbClr val="c9201e"/>
                </a:solidFill>
                <a:latin typeface="Verdana"/>
                <a:ea typeface="DejaVu Sans"/>
              </a:rPr>
              <a:t>to</a:t>
            </a:r>
            <a:r>
              <a:rPr b="0" i="1" lang="en-US" sz="1150" spc="-97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52" strike="noStrike">
                <a:solidFill>
                  <a:srgbClr val="c9201e"/>
                </a:solidFill>
                <a:latin typeface="Verdana"/>
                <a:ea typeface="DejaVu Sans"/>
              </a:rPr>
              <a:t>illegal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86" strike="noStrike">
                <a:solidFill>
                  <a:srgbClr val="c9201e"/>
                </a:solidFill>
                <a:latin typeface="Verdana"/>
                <a:ea typeface="DejaVu Sans"/>
              </a:rPr>
              <a:t>access</a:t>
            </a:r>
            <a:r>
              <a:rPr b="0" i="1" lang="en-US" sz="1150" spc="-97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26" strike="noStrike">
                <a:solidFill>
                  <a:srgbClr val="c9201e"/>
                </a:solidFill>
                <a:latin typeface="Verdana"/>
                <a:ea typeface="DejaVu Sans"/>
              </a:rPr>
              <a:t>if </a:t>
            </a:r>
            <a:r>
              <a:rPr b="0" i="1" lang="en-US" sz="1150" spc="-75" strike="noStrike">
                <a:solidFill>
                  <a:srgbClr val="c9201e"/>
                </a:solidFill>
                <a:latin typeface="Verdana"/>
                <a:ea typeface="DejaVu Sans"/>
              </a:rPr>
              <a:t>DefaultSpace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60" strike="noStrike">
                <a:solidFill>
                  <a:srgbClr val="c9201e"/>
                </a:solidFill>
                <a:latin typeface="Verdana"/>
                <a:ea typeface="DejaVu Sans"/>
              </a:rPr>
              <a:t>is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52" strike="noStrike">
                <a:solidFill>
                  <a:srgbClr val="c9201e"/>
                </a:solidFill>
                <a:latin typeface="Verdana"/>
                <a:ea typeface="DejaVu Sans"/>
              </a:rPr>
              <a:t>not</a:t>
            </a:r>
            <a:r>
              <a:rPr b="0" i="1" lang="en-US" sz="1150" spc="-97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72" strike="noStrike">
                <a:solidFill>
                  <a:srgbClr val="c9201e"/>
                </a:solidFill>
                <a:latin typeface="Verdana"/>
                <a:ea typeface="DejaVu Sans"/>
              </a:rPr>
              <a:t>accessible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86" strike="noStrike">
                <a:solidFill>
                  <a:srgbClr val="c9201e"/>
                </a:solidFill>
                <a:latin typeface="Verdana"/>
                <a:ea typeface="DejaVu Sans"/>
              </a:rPr>
              <a:t>by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66" strike="noStrike">
                <a:solidFill>
                  <a:srgbClr val="c9201e"/>
                </a:solidFill>
                <a:latin typeface="Verdana"/>
                <a:ea typeface="DejaVu Sans"/>
              </a:rPr>
              <a:t>the</a:t>
            </a:r>
            <a:r>
              <a:rPr b="0" i="1" lang="en-US" sz="115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50" spc="-12" strike="noStrike">
                <a:solidFill>
                  <a:srgbClr val="c9201e"/>
                </a:solidFill>
                <a:latin typeface="Verdana"/>
                <a:ea typeface="DejaVu Sans"/>
              </a:rPr>
              <a:t>CPU!!!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2600" indent="213480">
              <a:lnSpc>
                <a:spcPct val="100000"/>
              </a:lnSpc>
              <a:spcBef>
                <a:spcPts val="1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c9201e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52440" y="861840"/>
            <a:ext cx="4371120" cy="3870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11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250" spc="-52" strike="noStrike">
                <a:solidFill>
                  <a:srgbClr val="000000"/>
                </a:solidFill>
                <a:latin typeface="Arial Black"/>
              </a:rPr>
              <a:t>Multidimensional</a:t>
            </a:r>
            <a:r>
              <a:rPr b="0" lang="en-US" sz="1250" spc="-46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 Black"/>
              </a:rPr>
              <a:t>array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2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</a:rPr>
              <a:t>management</a:t>
            </a:r>
            <a:r>
              <a:rPr b="0" lang="en-US" sz="12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2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29" strike="noStrike">
                <a:solidFill>
                  <a:srgbClr val="000000"/>
                </a:solidFill>
                <a:latin typeface="Arial"/>
              </a:rPr>
              <a:t>compilation </a:t>
            </a:r>
            <a:r>
              <a:rPr b="0" lang="en-US" sz="1250" spc="1" strike="noStrike">
                <a:solidFill>
                  <a:srgbClr val="000000"/>
                </a:solidFill>
                <a:latin typeface="Arial"/>
              </a:rPr>
              <a:t>provisions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</a:rPr>
              <a:t>memory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</a:rPr>
              <a:t>space.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564"/>
              </a:spcBef>
              <a:buNone/>
              <a:tabLst>
                <a:tab algn="l" pos="0"/>
              </a:tabLst>
            </a:pP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81080" indent="-7992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algn="l" pos="18108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Type</a:t>
            </a:r>
            <a:r>
              <a:rPr b="0" lang="en-US" sz="11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00" spc="49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1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00" spc="-12" strike="noStrike">
                <a:solidFill>
                  <a:srgbClr val="000000"/>
                </a:solidFill>
                <a:latin typeface="Arial"/>
              </a:rPr>
              <a:t>entries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86120" indent="-84960">
              <a:lnSpc>
                <a:spcPct val="100000"/>
              </a:lnSpc>
              <a:spcBef>
                <a:spcPts val="309"/>
              </a:spcBef>
              <a:buClr>
                <a:srgbClr val="000000"/>
              </a:buClr>
              <a:buFont typeface="OpenSymbol"/>
              <a:buChar char="-"/>
              <a:tabLst>
                <a:tab algn="l" pos="186120"/>
              </a:tabLst>
            </a:pPr>
            <a:r>
              <a:rPr b="0" lang="en-US" sz="1150" spc="49" strike="noStrike">
                <a:solidFill>
                  <a:srgbClr val="000000"/>
                </a:solidFill>
                <a:latin typeface="Arial"/>
              </a:rPr>
              <a:t>Number</a:t>
            </a:r>
            <a:r>
              <a:rPr b="0" lang="en-US" sz="115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49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15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</a:rPr>
              <a:t>dimensions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86120" indent="-8496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OpenSymbol"/>
              <a:buChar char="-"/>
              <a:tabLst>
                <a:tab algn="l" pos="18612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Arial"/>
              </a:rPr>
              <a:t>Arrangement</a:t>
            </a:r>
            <a:r>
              <a:rPr b="0" lang="en-US" sz="1150" spc="27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-60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en-US" sz="1150" spc="-60" strike="noStrike">
                <a:solidFill>
                  <a:srgbClr val="000000"/>
                </a:solidFill>
                <a:latin typeface="Arial Black"/>
              </a:rPr>
              <a:t>LayoutLeft,</a:t>
            </a:r>
            <a:r>
              <a:rPr b="0" lang="en-US" sz="1150" spc="225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 Black"/>
              </a:rPr>
              <a:t>LayoutRight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</a:rPr>
              <a:t>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484560" indent="0">
              <a:lnSpc>
                <a:spcPct val="111000"/>
              </a:lnSpc>
              <a:spcBef>
                <a:spcPts val="819"/>
              </a:spcBef>
              <a:buNone/>
              <a:tabLst>
                <a:tab algn="l" pos="0"/>
              </a:tabLst>
            </a:pP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Kokkos::View&lt;double,</a:t>
            </a:r>
            <a:r>
              <a:rPr b="0" lang="en-US" sz="900" spc="35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Kokkos::LayoutRight&gt;</a:t>
            </a:r>
            <a:r>
              <a:rPr b="0" lang="en-US" sz="900" spc="35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cpuView("cpuData",</a:t>
            </a:r>
            <a:r>
              <a:rPr b="0" lang="en-US" sz="900" spc="35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N,</a:t>
            </a:r>
            <a:r>
              <a:rPr b="0" lang="en-US" sz="900" spc="41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c9201e"/>
                </a:solidFill>
                <a:latin typeface="Arial"/>
              </a:rPr>
              <a:t>M); </a:t>
            </a: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Kokkos::View&lt;double,</a:t>
            </a:r>
            <a:r>
              <a:rPr b="0" lang="en-US" sz="900" spc="43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1" strike="noStrike">
                <a:solidFill>
                  <a:srgbClr val="c9201e"/>
                </a:solidFill>
                <a:latin typeface="Arial"/>
              </a:rPr>
              <a:t>Kokkos::LayoutLeft&gt;</a:t>
            </a:r>
            <a:r>
              <a:rPr b="0" lang="en-US" sz="900" spc="43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9" strike="noStrike">
                <a:solidFill>
                  <a:srgbClr val="c9201e"/>
                </a:solidFill>
                <a:latin typeface="Arial"/>
              </a:rPr>
              <a:t>gpuView("gpuData",</a:t>
            </a:r>
            <a:r>
              <a:rPr b="0" lang="en-US" sz="900" spc="43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9" strike="noStrike">
                <a:solidFill>
                  <a:srgbClr val="c9201e"/>
                </a:solidFill>
                <a:latin typeface="Arial"/>
              </a:rPr>
              <a:t>N,</a:t>
            </a:r>
            <a:r>
              <a:rPr b="0" lang="en-US" sz="900" spc="43" strike="noStrike">
                <a:solidFill>
                  <a:srgbClr val="c9201e"/>
                </a:solidFill>
                <a:latin typeface="Arial"/>
              </a:rPr>
              <a:t> </a:t>
            </a:r>
            <a:r>
              <a:rPr b="0" lang="en-US" sz="900" spc="-26" strike="noStrike">
                <a:solidFill>
                  <a:srgbClr val="c9201e"/>
                </a:solidFill>
                <a:latin typeface="Arial"/>
              </a:rPr>
              <a:t>M);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marL="484560" indent="0">
              <a:lnSpc>
                <a:spcPct val="100000"/>
              </a:lnSpc>
              <a:spcBef>
                <a:spcPts val="819"/>
              </a:spcBef>
              <a:buNone/>
              <a:tabLst>
                <a:tab algn="l" pos="0"/>
              </a:tabLst>
            </a:pP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3000"/>
              </a:lnSpc>
              <a:buNone/>
              <a:tabLst>
                <a:tab algn="l" pos="0"/>
              </a:tabLst>
            </a:pPr>
            <a:r>
              <a:rPr b="0" lang="en-US" sz="1350" spc="-52" strike="noStrike">
                <a:solidFill>
                  <a:srgbClr val="000000"/>
                </a:solidFill>
                <a:latin typeface="Arial Black"/>
              </a:rPr>
              <a:t>Views:</a:t>
            </a:r>
            <a:r>
              <a:rPr b="0" lang="en-US" sz="1350" spc="-52" strike="noStrike">
                <a:solidFill>
                  <a:srgbClr val="000000"/>
                </a:solidFill>
                <a:latin typeface="Arial"/>
              </a:rPr>
              <a:t>Work</a:t>
            </a:r>
            <a:r>
              <a:rPr b="0" lang="en-US" sz="13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like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pointers,</a:t>
            </a:r>
            <a:r>
              <a:rPr b="0" lang="en-US" sz="13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</a:rPr>
              <a:t>but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carry</a:t>
            </a:r>
            <a:r>
              <a:rPr b="0" lang="en-US" sz="1350" spc="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much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</a:rPr>
              <a:t>more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information: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1" marL="281160" indent="-9216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OpenSymbol"/>
              <a:buChar char="-"/>
              <a:tabLst>
                <a:tab algn="l" pos="281160"/>
              </a:tabLst>
            </a:pP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DataType:</a:t>
            </a:r>
            <a:r>
              <a:rPr b="0" lang="en-US" sz="125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type</a:t>
            </a:r>
            <a:r>
              <a:rPr b="0" lang="en-US" sz="125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25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25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</a:rPr>
              <a:t>contained.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lvl="1" marL="288360" indent="-99000">
              <a:lnSpc>
                <a:spcPct val="100000"/>
              </a:lnSpc>
              <a:spcBef>
                <a:spcPts val="74"/>
              </a:spcBef>
              <a:buClr>
                <a:srgbClr val="000000"/>
              </a:buClr>
              <a:buFont typeface="OpenSymbol"/>
              <a:buChar char="-"/>
              <a:tabLst>
                <a:tab algn="l" pos="28836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LayoutType: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layout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</a:rPr>
              <a:t> in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memory.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1" marL="28836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OpenSymbol"/>
              <a:buChar char="-"/>
              <a:tabLst>
                <a:tab algn="l" pos="28836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MemorySpace:</a:t>
            </a:r>
            <a:r>
              <a:rPr b="0" lang="en-US" sz="1350" spc="21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350" spc="21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storage</a:t>
            </a:r>
            <a:r>
              <a:rPr b="0" lang="en-US" sz="1350" spc="22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</a:rPr>
              <a:t>location.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lvl="1" marL="28836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OpenSymbol"/>
              <a:buChar char="-"/>
              <a:tabLst>
                <a:tab algn="l" pos="28836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MemoryTraits:</a:t>
            </a:r>
            <a:r>
              <a:rPr b="0" lang="en-US" sz="1350" spc="1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350" spc="1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</a:rPr>
              <a:t>access</a:t>
            </a:r>
            <a:r>
              <a:rPr b="0" lang="en-US" sz="1350" spc="19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</a:rPr>
              <a:t>characteristics.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30"/>
              </a:spcBef>
              <a:buNone/>
              <a:tabLst>
                <a:tab algn="l" pos="0"/>
              </a:tabLst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Only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type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</a:rPr>
              <a:t>must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</a:rPr>
              <a:t>specified.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object 5"/>
          <p:cNvSpPr/>
          <p:nvPr/>
        </p:nvSpPr>
        <p:spPr>
          <a:xfrm>
            <a:off x="5587920" y="3446280"/>
            <a:ext cx="407916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View&lt;double***&gt;</a:t>
            </a:r>
            <a:r>
              <a:rPr b="0" lang="en-US" sz="950" spc="10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data("label",</a:t>
            </a:r>
            <a:r>
              <a:rPr b="0" lang="en-US" sz="950" spc="10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N,</a:t>
            </a:r>
            <a:r>
              <a:rPr b="0" lang="en-US" sz="950" spc="10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M,</a:t>
            </a:r>
            <a:r>
              <a:rPr b="0" lang="en-US" sz="950" spc="10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72" strike="noStrike">
                <a:solidFill>
                  <a:srgbClr val="c9201e"/>
                </a:solidFill>
                <a:latin typeface="Arial"/>
                <a:ea typeface="DejaVu Sans"/>
              </a:rPr>
              <a:t>K);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//3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at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runtime,</a:t>
            </a:r>
            <a:r>
              <a:rPr b="0" i="1" lang="en-US" sz="1000" spc="2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106" strike="noStrike">
                <a:solidFill>
                  <a:srgbClr val="c9201e"/>
                </a:solidFill>
                <a:latin typeface="Verdana"/>
                <a:ea typeface="DejaVu Sans"/>
              </a:rPr>
              <a:t>0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at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compile</a:t>
            </a:r>
            <a:r>
              <a:rPr b="0" i="1" lang="en-US" sz="1000" spc="2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21" strike="noStrike">
                <a:solidFill>
                  <a:srgbClr val="c9201e"/>
                </a:solidFill>
                <a:latin typeface="Verdana"/>
                <a:ea typeface="DejaVu Sans"/>
              </a:rPr>
              <a:t>time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"/>
              </a:spcBef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View&lt;double**[K]&gt;</a:t>
            </a:r>
            <a:r>
              <a:rPr b="0" lang="en-US" sz="950" spc="9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data("label",</a:t>
            </a:r>
            <a:r>
              <a:rPr b="0" lang="en-US" sz="950" spc="10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N,</a:t>
            </a:r>
            <a:r>
              <a:rPr b="0" lang="en-US" sz="950" spc="9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52" strike="noStrike">
                <a:solidFill>
                  <a:srgbClr val="c9201e"/>
                </a:solidFill>
                <a:latin typeface="Arial"/>
                <a:ea typeface="DejaVu Sans"/>
              </a:rPr>
              <a:t>M);</a:t>
            </a:r>
            <a:r>
              <a:rPr b="0" i="1" lang="en-US" sz="1000" spc="-52" strike="noStrike">
                <a:solidFill>
                  <a:srgbClr val="c9201e"/>
                </a:solidFill>
                <a:latin typeface="Verdana"/>
                <a:ea typeface="DejaVu Sans"/>
              </a:rPr>
              <a:t>//2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at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runtime,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106" strike="noStrike">
                <a:solidFill>
                  <a:srgbClr val="c9201e"/>
                </a:solidFill>
                <a:latin typeface="Verdana"/>
                <a:ea typeface="DejaVu Sans"/>
              </a:rPr>
              <a:t>1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at</a:t>
            </a:r>
            <a:r>
              <a:rPr b="0" i="1" lang="en-US" sz="1000" spc="15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compile</a:t>
            </a:r>
            <a:r>
              <a:rPr b="0" i="1" lang="en-US" sz="1000" spc="9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21" strike="noStrike">
                <a:solidFill>
                  <a:srgbClr val="c9201e"/>
                </a:solidFill>
                <a:latin typeface="Verdana"/>
                <a:ea typeface="DejaVu Sans"/>
              </a:rPr>
              <a:t>time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"/>
              </a:spcBef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View&lt;double[N][M][K]&gt;</a:t>
            </a:r>
            <a:r>
              <a:rPr b="0" lang="en-US" sz="950" spc="180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c9201e"/>
                </a:solidFill>
                <a:latin typeface="Arial"/>
                <a:ea typeface="DejaVu Sans"/>
              </a:rPr>
              <a:t>data("label");</a:t>
            </a:r>
            <a:r>
              <a:rPr b="0" i="1" lang="en-US" sz="1000" spc="-1" strike="noStrike">
                <a:solidFill>
                  <a:srgbClr val="c9201e"/>
                </a:solidFill>
                <a:latin typeface="Verdana"/>
                <a:ea typeface="DejaVu Sans"/>
              </a:rPr>
              <a:t>//3</a:t>
            </a:r>
            <a:r>
              <a:rPr b="0" i="1" lang="en-US" sz="1000" spc="94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6" strike="noStrike">
                <a:solidFill>
                  <a:srgbClr val="c9201e"/>
                </a:solidFill>
                <a:latin typeface="Verdana"/>
                <a:ea typeface="DejaVu Sans"/>
              </a:rPr>
              <a:t>at</a:t>
            </a:r>
            <a:r>
              <a:rPr b="0" i="1" lang="en-US" sz="1000" spc="10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12" strike="noStrike">
                <a:solidFill>
                  <a:srgbClr val="c9201e"/>
                </a:solidFill>
                <a:latin typeface="Verdana"/>
                <a:ea typeface="DejaVu Sans"/>
              </a:rPr>
              <a:t>compilation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object 2" descr=""/>
          <p:cNvPicPr/>
          <p:nvPr/>
        </p:nvPicPr>
        <p:blipFill>
          <a:blip r:embed="rId1"/>
          <a:stretch/>
        </p:blipFill>
        <p:spPr>
          <a:xfrm>
            <a:off x="157680" y="1448640"/>
            <a:ext cx="4500360" cy="2512440"/>
          </a:xfrm>
          <a:prstGeom prst="rect">
            <a:avLst/>
          </a:prstGeom>
          <a:ln w="0">
            <a:noFill/>
          </a:ln>
        </p:spPr>
      </p:pic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75040" y="235440"/>
            <a:ext cx="303192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97" strike="noStrike">
                <a:solidFill>
                  <a:srgbClr val="050505"/>
                </a:solidFill>
                <a:latin typeface="Arial"/>
              </a:rPr>
              <a:t>LayoutLeft,</a:t>
            </a:r>
            <a:r>
              <a:rPr b="1" lang="en-US" sz="2000" spc="-35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86" strike="noStrike">
                <a:solidFill>
                  <a:srgbClr val="050505"/>
                </a:solidFill>
                <a:latin typeface="Arial"/>
              </a:rPr>
              <a:t>LayoutRight?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object 4"/>
          <p:cNvSpPr/>
          <p:nvPr/>
        </p:nvSpPr>
        <p:spPr>
          <a:xfrm>
            <a:off x="929160" y="804960"/>
            <a:ext cx="8282880" cy="15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350" spc="-75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0" lang="en-US" sz="1350" spc="-75" strike="noStrike">
                <a:solidFill>
                  <a:srgbClr val="000000"/>
                </a:solidFill>
                <a:latin typeface="Arial Black"/>
                <a:ea typeface="DejaVu Sans"/>
              </a:rPr>
              <a:t>adaptable</a:t>
            </a:r>
            <a:r>
              <a:rPr b="0" lang="en-US" sz="1350" spc="-7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55" strike="noStrike">
                <a:solidFill>
                  <a:srgbClr val="000000"/>
                </a:solidFill>
                <a:latin typeface="Arial Black"/>
                <a:ea typeface="DejaVu Sans"/>
              </a:rPr>
              <a:t>memory</a:t>
            </a:r>
            <a:r>
              <a:rPr b="0" lang="en-US" sz="1350" spc="-7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 Black"/>
                <a:ea typeface="DejaVu Sans"/>
              </a:rPr>
              <a:t>layouts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determine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 how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135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organized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 memory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Kokkos,</a:t>
            </a:r>
            <a:r>
              <a:rPr b="0" lang="en-US" sz="135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35" strike="noStrike">
                <a:solidFill>
                  <a:srgbClr val="000000"/>
                </a:solidFill>
                <a:latin typeface="Arial"/>
                <a:ea typeface="DejaVu Sans"/>
              </a:rPr>
              <a:t>thereby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influencing</a:t>
            </a:r>
            <a:r>
              <a:rPr b="0" lang="en-US" sz="135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3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3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efficiency</a:t>
            </a:r>
            <a:r>
              <a:rPr b="0" lang="en-US" sz="13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5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overall</a:t>
            </a:r>
            <a:r>
              <a:rPr b="0" lang="en-US" sz="13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r>
              <a:rPr b="0" lang="en-US" sz="1350" spc="13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performance.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6"/>
              </a:spcBef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3768840">
              <a:lnSpc>
                <a:spcPct val="103000"/>
              </a:lnSpc>
            </a:pPr>
            <a:r>
              <a:rPr b="0" lang="en-US" sz="1350" spc="-32" strike="noStrike">
                <a:solidFill>
                  <a:srgbClr val="000000"/>
                </a:solidFill>
                <a:latin typeface="Arial Black"/>
                <a:ea typeface="DejaVu Sans"/>
              </a:rPr>
              <a:t>LayoutLeft</a:t>
            </a:r>
            <a:r>
              <a:rPr b="0" lang="en-US" sz="1350" spc="-32" strike="noStrike">
                <a:solidFill>
                  <a:srgbClr val="000000"/>
                </a:solidFill>
                <a:latin typeface="Arial"/>
                <a:ea typeface="DejaVu Sans"/>
              </a:rPr>
              <a:t>: Ideal</a:t>
            </a:r>
            <a:r>
              <a:rPr b="0" lang="en-US" sz="1350" spc="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13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46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13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architectures</a:t>
            </a:r>
            <a:r>
              <a:rPr b="0" lang="en-US" sz="13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  <a:ea typeface="DejaVu Sans"/>
              </a:rPr>
              <a:t>where</a:t>
            </a:r>
            <a:r>
              <a:rPr b="0" lang="en-US" sz="1350" spc="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memory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coalescing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crucial,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this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faster</a:t>
            </a:r>
            <a:r>
              <a:rPr b="0" lang="en-US" sz="13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  <a:ea typeface="DejaVu Sans"/>
              </a:rPr>
              <a:t>data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access.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object 5"/>
          <p:cNvSpPr/>
          <p:nvPr/>
        </p:nvSpPr>
        <p:spPr>
          <a:xfrm>
            <a:off x="4685760" y="3152520"/>
            <a:ext cx="49802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7000"/>
              </a:lnSpc>
              <a:spcBef>
                <a:spcPts val="99"/>
              </a:spcBef>
            </a:pPr>
            <a:r>
              <a:rPr b="0" lang="en-US" sz="1300" spc="-55" strike="noStrike">
                <a:solidFill>
                  <a:srgbClr val="000000"/>
                </a:solidFill>
                <a:latin typeface="Arial Black"/>
                <a:ea typeface="DejaVu Sans"/>
              </a:rPr>
              <a:t>LayoutRight</a:t>
            </a:r>
            <a:r>
              <a:rPr b="0" lang="en-US" sz="1300" spc="-55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30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Preferred</a:t>
            </a:r>
            <a:r>
              <a:rPr b="0" lang="en-US" sz="130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69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130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traditional</a:t>
            </a:r>
            <a:r>
              <a:rPr b="0" lang="en-US" sz="130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processors</a:t>
            </a:r>
            <a:r>
              <a:rPr b="0" lang="en-US" sz="130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because</a:t>
            </a:r>
            <a:r>
              <a:rPr b="0" lang="en-US" sz="130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35" strike="noStrike">
                <a:solidFill>
                  <a:srgbClr val="000000"/>
                </a:solidFill>
                <a:latin typeface="Arial"/>
                <a:ea typeface="DejaVu Sans"/>
              </a:rPr>
              <a:t>it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3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better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cache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utilization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increased</a:t>
            </a:r>
            <a:r>
              <a:rPr b="0" lang="en-US" sz="130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performance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 when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accessing</a:t>
            </a:r>
            <a:r>
              <a:rPr b="0" lang="en-US" sz="13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3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130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  <a:ea typeface="DejaVu Sans"/>
              </a:rPr>
              <a:t>rows.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object 6"/>
          <p:cNvSpPr/>
          <p:nvPr/>
        </p:nvSpPr>
        <p:spPr>
          <a:xfrm>
            <a:off x="2127600" y="4214520"/>
            <a:ext cx="291564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1480" indent="-39240">
              <a:lnSpc>
                <a:spcPct val="119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choice</a:t>
            </a:r>
            <a:r>
              <a:rPr b="0" lang="en-US" sz="10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1000" spc="-26" strike="noStrike">
                <a:solidFill>
                  <a:srgbClr val="000000"/>
                </a:solidFill>
                <a:latin typeface="Arial Black"/>
                <a:ea typeface="DejaVu Sans"/>
              </a:rPr>
              <a:t>LayoutLeft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000" spc="-26" strike="noStrike">
                <a:solidFill>
                  <a:srgbClr val="000000"/>
                </a:solidFill>
                <a:latin typeface="Arial Black"/>
                <a:ea typeface="DejaVu Sans"/>
              </a:rPr>
              <a:t>LayoutRight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10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essential</a:t>
            </a:r>
            <a:r>
              <a:rPr b="0" lang="en-US" sz="1000" spc="60" strike="noStrike">
                <a:solidFill>
                  <a:srgbClr val="000000"/>
                </a:solidFill>
                <a:latin typeface="Arial"/>
                <a:ea typeface="DejaVu Sans"/>
              </a:rPr>
              <a:t> to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maximize</a:t>
            </a:r>
            <a:r>
              <a:rPr b="0" lang="en-US" sz="10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0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  <a:ea typeface="DejaVu Sans"/>
              </a:rPr>
              <a:t>efficiency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51480" indent="-39240" algn="ctr">
              <a:lnSpc>
                <a:spcPct val="100000"/>
              </a:lnSpc>
              <a:spcBef>
                <a:spcPts val="286"/>
              </a:spcBef>
              <a:tabLst>
                <a:tab algn="l" pos="0"/>
              </a:tabLst>
            </a:pPr>
            <a:r>
              <a:rPr b="0" lang="en-US" sz="950" spc="43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9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adapt</a:t>
            </a:r>
            <a:r>
              <a:rPr b="0" lang="en-US" sz="9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code</a:t>
            </a:r>
            <a:r>
              <a:rPr b="0" lang="en-US" sz="9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49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5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51480" indent="-39240" algn="ctr">
              <a:lnSpc>
                <a:spcPct val="100000"/>
              </a:lnSpc>
              <a:spcBef>
                <a:spcPts val="145"/>
              </a:spcBef>
              <a:tabLst>
                <a:tab algn="l" pos="0"/>
              </a:tabLst>
            </a:pPr>
            <a:r>
              <a:rPr b="0" lang="en-US" sz="1100" spc="9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r>
              <a:rPr b="0" lang="en-US" sz="1100" spc="1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00" spc="9" strike="noStrike">
                <a:solidFill>
                  <a:srgbClr val="000000"/>
                </a:solidFill>
                <a:latin typeface="Arial"/>
                <a:ea typeface="DejaVu Sans"/>
              </a:rPr>
              <a:t>architectures</a:t>
            </a:r>
            <a:r>
              <a:rPr b="0" lang="en-US" sz="1100" spc="16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000000"/>
                </a:solidFill>
                <a:latin typeface="Arial"/>
                <a:ea typeface="DejaVu Sans"/>
              </a:rPr>
              <a:t>used.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75040" y="261000"/>
            <a:ext cx="368460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45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2000" spc="-10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26" strike="noStrike">
                <a:solidFill>
                  <a:srgbClr val="050505"/>
                </a:solidFill>
                <a:latin typeface="Arial"/>
              </a:rPr>
              <a:t>Concept</a:t>
            </a:r>
            <a:r>
              <a:rPr b="1" lang="en-US" sz="2000" spc="-100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26" strike="noStrike">
                <a:solidFill>
                  <a:srgbClr val="050505"/>
                </a:solidFill>
                <a:latin typeface="Arial"/>
              </a:rPr>
              <a:t>Mirrors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object 3"/>
          <p:cNvSpPr/>
          <p:nvPr/>
        </p:nvSpPr>
        <p:spPr>
          <a:xfrm>
            <a:off x="112680" y="934560"/>
            <a:ext cx="5444280" cy="29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40" bIns="0" anchor="t">
            <a:spAutoFit/>
          </a:bodyPr>
          <a:p>
            <a:pPr marL="12600">
              <a:lnSpc>
                <a:spcPct val="103000"/>
              </a:lnSpc>
              <a:spcBef>
                <a:spcPts val="40"/>
              </a:spcBef>
            </a:pPr>
            <a:r>
              <a:rPr b="0" lang="en-US" sz="1350" spc="-12" strike="noStrike">
                <a:solidFill>
                  <a:srgbClr val="000000"/>
                </a:solidFill>
                <a:latin typeface="Arial Black"/>
                <a:ea typeface="DejaVu Sans"/>
              </a:rPr>
              <a:t>Mirror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:These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views</a:t>
            </a:r>
            <a:r>
              <a:rPr b="0" lang="en-US" sz="13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equivalent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tables</a:t>
            </a:r>
            <a:r>
              <a:rPr b="0" lang="en-US" sz="13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3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may</a:t>
            </a:r>
            <a:r>
              <a:rPr b="0" lang="en-US" sz="13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reside</a:t>
            </a:r>
            <a:r>
              <a:rPr b="0" lang="en-US" sz="13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in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spaces.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4"/>
              </a:spcBef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350" spc="-114" strike="noStrike">
                <a:solidFill>
                  <a:srgbClr val="000000"/>
                </a:solidFill>
                <a:latin typeface="Arial Black"/>
                <a:ea typeface="DejaVu Sans"/>
              </a:rPr>
              <a:t>View</a:t>
            </a:r>
            <a:r>
              <a:rPr b="0" lang="en-US" sz="1350" spc="-41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46" strike="noStrike">
                <a:solidFill>
                  <a:srgbClr val="000000"/>
                </a:solidFill>
                <a:latin typeface="Arial Black"/>
                <a:ea typeface="DejaVu Sans"/>
              </a:rPr>
              <a:t>Builder</a:t>
            </a:r>
            <a:r>
              <a:rPr b="0" lang="en-US" sz="1350" spc="-46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86" strike="noStrike">
                <a:solidFill>
                  <a:srgbClr val="000000"/>
                </a:solidFill>
                <a:latin typeface="Arial"/>
                <a:ea typeface="DejaVu Sans"/>
              </a:rPr>
              <a:t>It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create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view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specific</a:t>
            </a:r>
            <a:r>
              <a:rPr b="0" lang="en-US" sz="13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space.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9"/>
              </a:spcBef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350" spc="-41" strike="noStrike">
                <a:solidFill>
                  <a:srgbClr val="000000"/>
                </a:solidFill>
                <a:latin typeface="Arial Black"/>
                <a:ea typeface="DejaVu Sans"/>
              </a:rPr>
              <a:t>Main</a:t>
            </a:r>
            <a:r>
              <a:rPr b="0" lang="en-US" sz="1350" spc="-86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 Black"/>
                <a:ea typeface="DejaVu Sans"/>
              </a:rPr>
              <a:t>functions: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203760" indent="-102960">
              <a:lnSpc>
                <a:spcPts val="1681"/>
              </a:lnSpc>
              <a:spcBef>
                <a:spcPts val="6"/>
              </a:spcBef>
              <a:buClr>
                <a:srgbClr val="000000"/>
              </a:buClr>
              <a:buSzPct val="117000"/>
              <a:buFont typeface="Arial"/>
              <a:buChar char="-"/>
              <a:tabLst>
                <a:tab algn="l" pos="203760"/>
              </a:tabLst>
            </a:pPr>
            <a:r>
              <a:rPr b="0" lang="en-US" sz="1200" spc="-46" strike="noStrike">
                <a:solidFill>
                  <a:srgbClr val="000000"/>
                </a:solidFill>
                <a:latin typeface="Arial Black"/>
                <a:ea typeface="DejaVu Sans"/>
              </a:rPr>
              <a:t>create_mirror_view</a:t>
            </a:r>
            <a:r>
              <a:rPr b="0" lang="en-US" sz="1200" spc="-46" strike="noStrike">
                <a:solidFill>
                  <a:srgbClr val="000000"/>
                </a:solidFill>
                <a:latin typeface="Arial"/>
                <a:ea typeface="DejaVu Sans"/>
              </a:rPr>
              <a:t>:Creates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69" strike="noStrike">
                <a:solidFill>
                  <a:srgbClr val="000000"/>
                </a:solidFill>
                <a:latin typeface="Arial"/>
                <a:ea typeface="DejaVu Sans"/>
              </a:rPr>
              <a:t>mirror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view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host's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000000"/>
                </a:solidFill>
                <a:latin typeface="Arial"/>
                <a:ea typeface="DejaVu Sans"/>
              </a:rPr>
              <a:t>space.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03760" indent="-102960">
              <a:lnSpc>
                <a:spcPts val="1681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203760"/>
              </a:tabLst>
            </a:pPr>
            <a:r>
              <a:rPr b="0" lang="en-US" sz="1350" spc="-55" strike="noStrike">
                <a:solidFill>
                  <a:srgbClr val="000000"/>
                </a:solidFill>
                <a:latin typeface="Arial Black"/>
                <a:ea typeface="DejaVu Sans"/>
              </a:rPr>
              <a:t>deep_copy</a:t>
            </a:r>
            <a:r>
              <a:rPr b="0" lang="en-US" sz="1350" spc="-55" strike="noStrike">
                <a:solidFill>
                  <a:srgbClr val="000000"/>
                </a:solidFill>
                <a:latin typeface="Arial"/>
                <a:ea typeface="DejaVu Sans"/>
              </a:rPr>
              <a:t>:Copies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  <a:ea typeface="DejaVu Sans"/>
              </a:rPr>
              <a:t>compatible</a:t>
            </a:r>
            <a:r>
              <a:rPr b="0" lang="en-US" sz="13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  <a:ea typeface="DejaVu Sans"/>
              </a:rPr>
              <a:t>views.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203760" indent="-102960">
              <a:lnSpc>
                <a:spcPts val="1681"/>
              </a:lnSpc>
              <a:spcBef>
                <a:spcPts val="54"/>
              </a:spcBef>
              <a:buClr>
                <a:srgbClr val="000000"/>
              </a:buClr>
              <a:buSzPct val="122000"/>
              <a:buFont typeface="Arial"/>
              <a:buChar char="-"/>
              <a:tabLst>
                <a:tab algn="l" pos="233640"/>
              </a:tabLst>
            </a:pPr>
            <a:r>
              <a:rPr b="0" lang="en-US" sz="1150" spc="-52" strike="noStrike">
                <a:solidFill>
                  <a:srgbClr val="000000"/>
                </a:solidFill>
                <a:latin typeface="Arial Black"/>
                <a:ea typeface="DejaVu Sans"/>
              </a:rPr>
              <a:t>create_mirror_view_and_copy</a:t>
            </a:r>
            <a:r>
              <a:rPr b="0" lang="en-US" sz="1150" spc="-52" strike="noStrike">
                <a:solidFill>
                  <a:srgbClr val="000000"/>
                </a:solidFill>
                <a:latin typeface="Arial"/>
                <a:ea typeface="DejaVu Sans"/>
              </a:rPr>
              <a:t>:Creates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63" strike="noStrike">
                <a:solidFill>
                  <a:srgbClr val="000000"/>
                </a:solidFill>
                <a:latin typeface="Arial"/>
                <a:ea typeface="DejaVu Sans"/>
              </a:rPr>
              <a:t>mirror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view</a:t>
            </a:r>
            <a:r>
              <a:rPr b="0" lang="en-US" sz="11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15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1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26" strike="noStrike">
                <a:solidFill>
                  <a:srgbClr val="000000"/>
                </a:solidFill>
                <a:latin typeface="Arial"/>
                <a:ea typeface="DejaVu Sans"/>
              </a:rPr>
              <a:t>at </a:t>
            </a:r>
            <a:r>
              <a:rPr b="0" lang="en-US" sz="1150" spc="-26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same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time.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tabLst>
                <a:tab algn="l" pos="23364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tabLst>
                <a:tab algn="l" pos="233640"/>
              </a:tabLst>
            </a:pPr>
            <a:r>
              <a:rPr b="0" lang="en-US" sz="1250" spc="-66" strike="noStrike">
                <a:solidFill>
                  <a:srgbClr val="000000"/>
                </a:solidFill>
                <a:latin typeface="Arial"/>
                <a:ea typeface="DejaVu Sans"/>
              </a:rPr>
              <a:t>Syntax:</a:t>
            </a:r>
            <a:r>
              <a:rPr b="0" lang="en-US" sz="1250" spc="-66" strike="noStrike">
                <a:solidFill>
                  <a:srgbClr val="000000"/>
                </a:solidFill>
                <a:latin typeface="Arial Black"/>
                <a:ea typeface="DejaVu Sans"/>
              </a:rPr>
              <a:t>Kokkos::View&lt;type,</a:t>
            </a:r>
            <a:r>
              <a:rPr b="0" lang="en-US" sz="1250" spc="4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97" strike="noStrike">
                <a:solidFill>
                  <a:srgbClr val="000000"/>
                </a:solidFill>
                <a:latin typeface="Arial Black"/>
                <a:ea typeface="DejaVu Sans"/>
              </a:rPr>
              <a:t>MemorySpace&gt;</a:t>
            </a:r>
            <a:r>
              <a:rPr b="0" lang="en-US" sz="1250" spc="9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66" strike="noStrike">
                <a:solidFill>
                  <a:srgbClr val="000000"/>
                </a:solidFill>
                <a:latin typeface="Arial Black"/>
                <a:ea typeface="DejaVu Sans"/>
              </a:rPr>
              <a:t>data("label",</a:t>
            </a:r>
            <a:r>
              <a:rPr b="0" lang="en-US" sz="1250" spc="4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46" strike="noStrike">
                <a:solidFill>
                  <a:srgbClr val="000000"/>
                </a:solidFill>
                <a:latin typeface="Arial Black"/>
                <a:ea typeface="DejaVu Sans"/>
              </a:rPr>
              <a:t>dimensions);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object 4"/>
          <p:cNvSpPr/>
          <p:nvPr/>
        </p:nvSpPr>
        <p:spPr>
          <a:xfrm>
            <a:off x="6116400" y="862920"/>
            <a:ext cx="3594600" cy="40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760" bIns="0" anchor="t">
            <a:spAutoFit/>
          </a:bodyPr>
          <a:p>
            <a:pPr marL="12600">
              <a:lnSpc>
                <a:spcPct val="100000"/>
              </a:lnSpc>
              <a:spcBef>
                <a:spcPts val="329"/>
              </a:spcBef>
            </a:pPr>
            <a:r>
              <a:rPr b="0" i="1" lang="en-US" sz="1050" spc="-111" strike="noStrike">
                <a:solidFill>
                  <a:srgbClr val="c9201e"/>
                </a:solidFill>
                <a:latin typeface="Verdana"/>
                <a:ea typeface="DejaVu Sans"/>
              </a:rPr>
              <a:t>//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72" strike="noStrike">
                <a:solidFill>
                  <a:srgbClr val="c9201e"/>
                </a:solidFill>
                <a:latin typeface="Verdana"/>
                <a:ea typeface="DejaVu Sans"/>
              </a:rPr>
              <a:t>create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60" strike="noStrike">
                <a:solidFill>
                  <a:srgbClr val="c9201e"/>
                </a:solidFill>
                <a:latin typeface="Verdana"/>
                <a:ea typeface="DejaVu Sans"/>
              </a:rPr>
              <a:t>host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55" strike="noStrike">
                <a:solidFill>
                  <a:srgbClr val="c9201e"/>
                </a:solidFill>
                <a:latin typeface="Verdana"/>
                <a:ea typeface="DejaVu Sans"/>
              </a:rPr>
              <a:t>mirrors</a:t>
            </a:r>
            <a:r>
              <a:rPr b="0" i="1" lang="en-US" sz="1050" spc="4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46" strike="noStrike">
                <a:solidFill>
                  <a:srgbClr val="c9201e"/>
                </a:solidFill>
                <a:latin typeface="Verdana"/>
                <a:ea typeface="DejaVu Sans"/>
              </a:rPr>
              <a:t>of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75" strike="noStrike">
                <a:solidFill>
                  <a:srgbClr val="c9201e"/>
                </a:solidFill>
                <a:latin typeface="Verdana"/>
                <a:ea typeface="DejaVu Sans"/>
              </a:rPr>
              <a:t>device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86" strike="noStrike">
                <a:solidFill>
                  <a:srgbClr val="c9201e"/>
                </a:solidFill>
                <a:latin typeface="Verdana"/>
                <a:ea typeface="DejaVu Sans"/>
              </a:rPr>
              <a:t>views</a:t>
            </a:r>
            <a:r>
              <a:rPr b="0" i="1" lang="en-US" sz="1050" spc="1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vector::HostMirror</a:t>
            </a:r>
            <a:r>
              <a:rPr b="0" lang="en-US" sz="1000" spc="8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26" strike="noStrike">
                <a:solidFill>
                  <a:srgbClr val="c9201e"/>
                </a:solidFill>
                <a:latin typeface="Arial"/>
                <a:ea typeface="DejaVu Sans"/>
              </a:rPr>
              <a:t>h_y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1440"/>
              </a:lnSpc>
              <a:spcBef>
                <a:spcPts val="74"/>
              </a:spcBef>
            </a:pP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000" spc="23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Kokkos::create_mirror_view(y);</a:t>
            </a:r>
            <a:r>
              <a:rPr b="0" lang="en-US" sz="1000" spc="24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vector::HostMirror</a:t>
            </a:r>
            <a:r>
              <a:rPr b="0" lang="en-US" sz="1000" spc="23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h_x</a:t>
            </a:r>
            <a:r>
              <a:rPr b="0" lang="en-US" sz="1000" spc="24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52" strike="noStrike">
                <a:solidFill>
                  <a:srgbClr val="c9201e"/>
                </a:solidFill>
                <a:latin typeface="Arial"/>
                <a:ea typeface="DejaVu Sans"/>
              </a:rPr>
              <a:t>=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Kokkos::create_mirror_view(x);</a:t>
            </a:r>
            <a:r>
              <a:rPr b="0" lang="en-US" sz="1000" spc="36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matrix::HostMirror</a:t>
            </a:r>
            <a:r>
              <a:rPr b="0" lang="en-US" sz="1000" spc="36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c9201e"/>
                </a:solidFill>
                <a:latin typeface="Arial"/>
                <a:ea typeface="DejaVu Sans"/>
              </a:rPr>
              <a:t>h_A</a:t>
            </a:r>
            <a:r>
              <a:rPr b="0" lang="en-US" sz="1000" spc="36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52" strike="noStrike">
                <a:solidFill>
                  <a:srgbClr val="c9201e"/>
                </a:solidFill>
                <a:latin typeface="Arial"/>
                <a:ea typeface="DejaVu Sans"/>
              </a:rPr>
              <a:t>= </a:t>
            </a:r>
            <a:r>
              <a:rPr b="0" lang="en-US" sz="1000" spc="-12" strike="noStrike">
                <a:solidFill>
                  <a:srgbClr val="c9201e"/>
                </a:solidFill>
                <a:latin typeface="Arial"/>
                <a:ea typeface="DejaVu Sans"/>
              </a:rPr>
              <a:t>Kokkos::create_mirror_view(A);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0"/>
              </a:spcBef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i="1" lang="en-US" sz="1050" spc="-111" strike="noStrike">
                <a:solidFill>
                  <a:srgbClr val="c9201e"/>
                </a:solidFill>
                <a:latin typeface="Verdana"/>
                <a:ea typeface="DejaVu Sans"/>
              </a:rPr>
              <a:t>//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55" strike="noStrike">
                <a:solidFill>
                  <a:srgbClr val="c9201e"/>
                </a:solidFill>
                <a:latin typeface="Verdana"/>
                <a:ea typeface="DejaVu Sans"/>
              </a:rPr>
              <a:t>initialize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126" strike="noStrike">
                <a:solidFill>
                  <a:srgbClr val="c9201e"/>
                </a:solidFill>
                <a:latin typeface="Verdana"/>
                <a:ea typeface="DejaVu Sans"/>
              </a:rPr>
              <a:t>y</a:t>
            </a:r>
            <a:r>
              <a:rPr b="0" i="1" lang="en-US" sz="1050" spc="-75" strike="noStrike">
                <a:solidFill>
                  <a:srgbClr val="c9201e"/>
                </a:solidFill>
                <a:latin typeface="Verdana"/>
                <a:ea typeface="DejaVu Sans"/>
              </a:rPr>
              <a:t> vector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46" strike="noStrike">
                <a:solidFill>
                  <a:srgbClr val="c9201e"/>
                </a:solidFill>
                <a:latin typeface="Verdana"/>
                <a:ea typeface="DejaVu Sans"/>
              </a:rPr>
              <a:t>on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21" strike="noStrike">
                <a:solidFill>
                  <a:srgbClr val="c9201e"/>
                </a:solidFill>
                <a:latin typeface="Verdana"/>
                <a:ea typeface="DejaVu Sans"/>
              </a:rPr>
              <a:t>host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8000"/>
              </a:lnSpc>
              <a:spcBef>
                <a:spcPts val="11"/>
              </a:spcBef>
            </a:pPr>
            <a:r>
              <a:rPr b="0" lang="en-US" sz="1050" spc="55" strike="noStrike">
                <a:solidFill>
                  <a:srgbClr val="c9201e"/>
                </a:solidFill>
                <a:latin typeface="Arial"/>
                <a:ea typeface="DejaVu Sans"/>
              </a:rPr>
              <a:t>for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 (int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i=0;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i&lt;N;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++i)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21" strike="noStrike">
                <a:solidFill>
                  <a:srgbClr val="c9201e"/>
                </a:solidFill>
                <a:latin typeface="Arial"/>
                <a:ea typeface="DejaVu Sans"/>
              </a:rPr>
              <a:t>h_y(i)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1;}</a:t>
            </a:r>
            <a:r>
              <a:rPr b="0" lang="en-US" sz="10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i="1" lang="en-US" sz="1100" spc="-72" strike="noStrike">
                <a:solidFill>
                  <a:srgbClr val="c9201e"/>
                </a:solidFill>
                <a:latin typeface="Verdana"/>
                <a:ea typeface="DejaVu Sans"/>
              </a:rPr>
              <a:t>// </a:t>
            </a:r>
            <a:r>
              <a:rPr b="0" i="1" lang="en-US" sz="1100" spc="-55" strike="noStrike">
                <a:solidFill>
                  <a:srgbClr val="c9201e"/>
                </a:solidFill>
                <a:latin typeface="Verdana"/>
                <a:ea typeface="DejaVu Sans"/>
              </a:rPr>
              <a:t>initialize</a:t>
            </a:r>
            <a:r>
              <a:rPr b="0" i="1" lang="en-US" sz="1100" spc="-92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00" spc="-106" strike="noStrike">
                <a:solidFill>
                  <a:srgbClr val="c9201e"/>
                </a:solidFill>
                <a:latin typeface="Verdana"/>
                <a:ea typeface="DejaVu Sans"/>
              </a:rPr>
              <a:t>x</a:t>
            </a:r>
            <a:r>
              <a:rPr b="0" i="1" lang="en-US" sz="1100" spc="-86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00" spc="-72" strike="noStrike">
                <a:solidFill>
                  <a:srgbClr val="c9201e"/>
                </a:solidFill>
                <a:latin typeface="Verdana"/>
                <a:ea typeface="DejaVu Sans"/>
              </a:rPr>
              <a:t>vector</a:t>
            </a:r>
            <a:r>
              <a:rPr b="0" i="1" lang="en-US" sz="1100" spc="-86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00" spc="-52" strike="noStrike">
                <a:solidFill>
                  <a:srgbClr val="c9201e"/>
                </a:solidFill>
                <a:latin typeface="Verdana"/>
                <a:ea typeface="DejaVu Sans"/>
              </a:rPr>
              <a:t>on</a:t>
            </a:r>
            <a:r>
              <a:rPr b="0" i="1" lang="en-US" sz="1100" spc="-86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100" spc="-21" strike="noStrike">
                <a:solidFill>
                  <a:srgbClr val="c9201e"/>
                </a:solidFill>
                <a:latin typeface="Verdana"/>
                <a:ea typeface="DejaVu Sans"/>
              </a:rPr>
              <a:t>host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US" sz="1100" spc="60" strike="noStrike">
                <a:solidFill>
                  <a:srgbClr val="c9201e"/>
                </a:solidFill>
                <a:latin typeface="Arial"/>
                <a:ea typeface="DejaVu Sans"/>
              </a:rPr>
              <a:t>for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(int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i=0;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i&lt;M;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++i)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41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2" strike="noStrike">
                <a:solidFill>
                  <a:srgbClr val="c9201e"/>
                </a:solidFill>
                <a:latin typeface="Arial"/>
                <a:ea typeface="DejaVu Sans"/>
              </a:rPr>
              <a:t>h_x(i)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1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26" strike="noStrike">
                <a:solidFill>
                  <a:srgbClr val="c9201e"/>
                </a:solidFill>
                <a:latin typeface="Arial"/>
                <a:ea typeface="DejaVu Sans"/>
              </a:rPr>
              <a:t>1;}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34"/>
              </a:spcBef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i="1" lang="en-US" sz="1050" spc="-111" strike="noStrike">
                <a:solidFill>
                  <a:srgbClr val="c9201e"/>
                </a:solidFill>
                <a:latin typeface="Verdana"/>
                <a:ea typeface="DejaVu Sans"/>
              </a:rPr>
              <a:t>//</a:t>
            </a:r>
            <a:r>
              <a:rPr b="0" i="1" lang="en-US" sz="1050" spc="-86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55" strike="noStrike">
                <a:solidFill>
                  <a:srgbClr val="c9201e"/>
                </a:solidFill>
                <a:latin typeface="Verdana"/>
                <a:ea typeface="DejaVu Sans"/>
              </a:rPr>
              <a:t>initialize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86" strike="noStrike">
                <a:solidFill>
                  <a:srgbClr val="c9201e"/>
                </a:solidFill>
                <a:latin typeface="Verdana"/>
                <a:ea typeface="DejaVu Sans"/>
              </a:rPr>
              <a:t>A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72" strike="noStrike">
                <a:solidFill>
                  <a:srgbClr val="c9201e"/>
                </a:solidFill>
                <a:latin typeface="Verdana"/>
                <a:ea typeface="DejaVu Sans"/>
              </a:rPr>
              <a:t>matrix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46" strike="noStrike">
                <a:solidFill>
                  <a:srgbClr val="c9201e"/>
                </a:solidFill>
                <a:latin typeface="Verdana"/>
                <a:ea typeface="DejaVu Sans"/>
              </a:rPr>
              <a:t>on</a:t>
            </a:r>
            <a:r>
              <a:rPr b="0" i="1" lang="en-US" sz="105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50" spc="-21" strike="noStrike">
                <a:solidFill>
                  <a:srgbClr val="c9201e"/>
                </a:solidFill>
                <a:latin typeface="Verdana"/>
                <a:ea typeface="DejaVu Sans"/>
              </a:rPr>
              <a:t>host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4"/>
              </a:spcBef>
            </a:pPr>
            <a:r>
              <a:rPr b="0" lang="en-US" sz="1000" spc="55" strike="noStrike">
                <a:solidFill>
                  <a:srgbClr val="c9201e"/>
                </a:solidFill>
                <a:latin typeface="Arial"/>
                <a:ea typeface="DejaVu Sans"/>
              </a:rPr>
              <a:t>for</a:t>
            </a:r>
            <a:r>
              <a:rPr b="0" lang="en-US" sz="10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(int</a:t>
            </a:r>
            <a:r>
              <a:rPr b="0" lang="en-US" sz="10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j=0;</a:t>
            </a:r>
            <a:r>
              <a:rPr b="0" lang="en-US" sz="10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j&lt;N;</a:t>
            </a:r>
            <a:r>
              <a:rPr b="0" lang="en-US" sz="10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c9201e"/>
                </a:solidFill>
                <a:latin typeface="Arial"/>
                <a:ea typeface="DejaVu Sans"/>
              </a:rPr>
              <a:t>++j)</a:t>
            </a:r>
            <a:r>
              <a:rPr b="0" lang="en-US" sz="100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00" spc="-52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64520">
              <a:lnSpc>
                <a:spcPct val="100000"/>
              </a:lnSpc>
              <a:spcBef>
                <a:spcPts val="136"/>
              </a:spcBef>
            </a:pPr>
            <a:r>
              <a:rPr b="0" lang="en-US" sz="1100" spc="60" strike="noStrike">
                <a:solidFill>
                  <a:srgbClr val="c9201e"/>
                </a:solidFill>
                <a:latin typeface="Arial"/>
                <a:ea typeface="DejaVu Sans"/>
              </a:rPr>
              <a:t>for</a:t>
            </a:r>
            <a:r>
              <a:rPr b="0" lang="en-US" sz="1100" spc="2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(int</a:t>
            </a:r>
            <a:r>
              <a:rPr b="0" lang="en-US" sz="1100" spc="2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i=0;</a:t>
            </a:r>
            <a:r>
              <a:rPr b="0" lang="en-US" sz="1100" spc="2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i&lt;M;</a:t>
            </a:r>
            <a:r>
              <a:rPr b="0" lang="en-US" sz="1100" spc="2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++i)</a:t>
            </a:r>
            <a:r>
              <a:rPr b="0" lang="en-US" sz="1100" spc="2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55680">
              <a:lnSpc>
                <a:spcPct val="100000"/>
              </a:lnSpc>
              <a:spcBef>
                <a:spcPts val="71"/>
              </a:spcBef>
            </a:pPr>
            <a:r>
              <a:rPr b="0" lang="en-US" sz="1150" spc="-21" strike="noStrike">
                <a:solidFill>
                  <a:srgbClr val="c9201e"/>
                </a:solidFill>
                <a:latin typeface="Arial"/>
                <a:ea typeface="DejaVu Sans"/>
              </a:rPr>
              <a:t>h_A(j,</a:t>
            </a:r>
            <a:r>
              <a:rPr b="0" lang="en-US" sz="1150" spc="-3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c9201e"/>
                </a:solidFill>
                <a:latin typeface="Arial"/>
                <a:ea typeface="DejaVu Sans"/>
              </a:rPr>
              <a:t>i)</a:t>
            </a:r>
            <a:r>
              <a:rPr b="0" lang="en-US" sz="1150" spc="-32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c9201e"/>
                </a:solidFill>
                <a:latin typeface="Arial"/>
                <a:ea typeface="DejaVu Sans"/>
              </a:rPr>
              <a:t>=</a:t>
            </a:r>
            <a:r>
              <a:rPr b="0" lang="en-US" sz="1150" spc="-3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150" spc="-26" strike="noStrike">
                <a:solidFill>
                  <a:srgbClr val="c9201e"/>
                </a:solidFill>
                <a:latin typeface="Arial"/>
                <a:ea typeface="DejaVu Sans"/>
              </a:rPr>
              <a:t>1;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64520">
              <a:lnSpc>
                <a:spcPts val="1440"/>
              </a:lnSpc>
              <a:spcBef>
                <a:spcPts val="6"/>
              </a:spcBef>
            </a:pPr>
            <a:r>
              <a:rPr b="0" lang="en-US" sz="1200" spc="-1" strike="noStrike">
                <a:solidFill>
                  <a:srgbClr val="c9201e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1440"/>
              </a:lnSpc>
            </a:pPr>
            <a:r>
              <a:rPr b="0" lang="en-US" sz="1200" spc="-1" strike="noStrike">
                <a:solidFill>
                  <a:srgbClr val="c9201e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55"/>
              </a:spcBef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i="1" lang="en-US" sz="1000" spc="-106" strike="noStrike">
                <a:solidFill>
                  <a:srgbClr val="c9201e"/>
                </a:solidFill>
                <a:latin typeface="Verdana"/>
                <a:ea typeface="DejaVu Sans"/>
              </a:rPr>
              <a:t>//</a:t>
            </a:r>
            <a:r>
              <a:rPr b="0" i="1" lang="en-US" sz="1000" spc="-86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Deep</a:t>
            </a:r>
            <a:r>
              <a:rPr b="0" i="1" lang="en-US" sz="100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copy</a:t>
            </a:r>
            <a:r>
              <a:rPr b="0" i="1" lang="en-US" sz="100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5" strike="noStrike">
                <a:solidFill>
                  <a:srgbClr val="c9201e"/>
                </a:solidFill>
                <a:latin typeface="Verdana"/>
                <a:ea typeface="DejaVu Sans"/>
              </a:rPr>
              <a:t>views</a:t>
            </a:r>
            <a:r>
              <a:rPr b="0" i="1" lang="en-US" sz="100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60" strike="noStrike">
                <a:solidFill>
                  <a:srgbClr val="c9201e"/>
                </a:solidFill>
                <a:latin typeface="Verdana"/>
                <a:ea typeface="DejaVu Sans"/>
              </a:rPr>
              <a:t>to</a:t>
            </a:r>
            <a:r>
              <a:rPr b="0" i="1" lang="en-US" sz="100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72" strike="noStrike">
                <a:solidFill>
                  <a:srgbClr val="c9201e"/>
                </a:solidFill>
                <a:latin typeface="Verdana"/>
                <a:ea typeface="DejaVu Sans"/>
              </a:rPr>
              <a:t>device</a:t>
            </a:r>
            <a:r>
              <a:rPr b="0" i="1" lang="en-US" sz="1000" spc="-80" strike="noStrike">
                <a:solidFill>
                  <a:srgbClr val="c9201e"/>
                </a:solidFill>
                <a:latin typeface="Verdana"/>
                <a:ea typeface="DejaVu Sans"/>
              </a:rPr>
              <a:t> </a:t>
            </a:r>
            <a:r>
              <a:rPr b="0" i="1" lang="en-US" sz="1000" spc="-21" strike="noStrike">
                <a:solidFill>
                  <a:srgbClr val="c9201e"/>
                </a:solidFill>
                <a:latin typeface="Verdana"/>
                <a:ea typeface="DejaVu Sans"/>
              </a:rPr>
              <a:t>views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0"/>
              </a:spcBef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14000"/>
              </a:lnSpc>
              <a:spcBef>
                <a:spcPts val="6"/>
              </a:spcBef>
            </a:pP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Kokkos::deep_copy(y,</a:t>
            </a:r>
            <a:r>
              <a:rPr b="0" lang="en-US" sz="1050" spc="6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c9201e"/>
                </a:solidFill>
                <a:latin typeface="Arial"/>
                <a:ea typeface="DejaVu Sans"/>
              </a:rPr>
              <a:t>h_y);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Kokkos::deep_copy(x,</a:t>
            </a:r>
            <a:r>
              <a:rPr b="0" lang="en-US" sz="1050" spc="69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c9201e"/>
                </a:solidFill>
                <a:latin typeface="Arial"/>
                <a:ea typeface="DejaVu Sans"/>
              </a:rPr>
              <a:t>h_x); </a:t>
            </a:r>
            <a:r>
              <a:rPr b="0" lang="en-US" sz="1050" spc="-1" strike="noStrike">
                <a:solidFill>
                  <a:srgbClr val="c9201e"/>
                </a:solidFill>
                <a:latin typeface="Arial"/>
                <a:ea typeface="DejaVu Sans"/>
              </a:rPr>
              <a:t>Kokkos::deep_copy(A,</a:t>
            </a:r>
            <a:r>
              <a:rPr b="0" lang="en-US" sz="1050" spc="75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1050" spc="-41" strike="noStrike">
                <a:solidFill>
                  <a:srgbClr val="c9201e"/>
                </a:solidFill>
                <a:latin typeface="Arial"/>
                <a:ea typeface="DejaVu Sans"/>
              </a:rPr>
              <a:t>h_A)</a:t>
            </a:r>
            <a:r>
              <a:rPr b="0" lang="en-US" sz="1050" spc="-41" strike="noStrike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274680" y="235440"/>
            <a:ext cx="422532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60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2000" spc="-114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60" strike="noStrike">
                <a:solidFill>
                  <a:srgbClr val="050505"/>
                </a:solidFill>
                <a:latin typeface="Arial"/>
              </a:rPr>
              <a:t>Memory</a:t>
            </a:r>
            <a:r>
              <a:rPr b="1" lang="en-US" sz="2000" spc="-111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82" strike="noStrike">
                <a:solidFill>
                  <a:srgbClr val="050505"/>
                </a:solidFill>
                <a:latin typeface="Arial"/>
              </a:rPr>
              <a:t>Spaces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object 3"/>
          <p:cNvSpPr/>
          <p:nvPr/>
        </p:nvSpPr>
        <p:spPr>
          <a:xfrm>
            <a:off x="543960" y="783000"/>
            <a:ext cx="8766720" cy="40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7000"/>
              </a:lnSpc>
              <a:spcBef>
                <a:spcPts val="99"/>
              </a:spcBef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Representing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“where”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“how”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of memory</a:t>
            </a:r>
            <a:r>
              <a:rPr b="0" lang="en-US" sz="13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allocation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21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Kokkos,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this</a:t>
            </a:r>
            <a:r>
              <a:rPr b="0" lang="en-US" sz="130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concept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  <a:ea typeface="DejaVu Sans"/>
              </a:rPr>
              <a:t>fundamental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ensuring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performance</a:t>
            </a:r>
            <a:r>
              <a:rPr b="0" lang="en-US" sz="13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29" strike="noStrike">
                <a:solidFill>
                  <a:srgbClr val="000000"/>
                </a:solidFill>
                <a:latin typeface="Arial"/>
                <a:ea typeface="DejaVu Sans"/>
              </a:rPr>
              <a:t>portability.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1"/>
              </a:spcBef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Kokkos</a:t>
            </a:r>
            <a:r>
              <a:rPr b="0" lang="en-US" sz="10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automatically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adapts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these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models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according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55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1" strike="noStrike">
                <a:solidFill>
                  <a:srgbClr val="000000"/>
                </a:solidFill>
                <a:latin typeface="Arial"/>
                <a:ea typeface="DejaVu Sans"/>
              </a:rPr>
              <a:t>target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000000"/>
                </a:solidFill>
                <a:latin typeface="Arial"/>
                <a:ea typeface="DejaVu Sans"/>
              </a:rPr>
              <a:t>hardware.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0"/>
              </a:spcBef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7000"/>
              </a:lnSpc>
            </a:pPr>
            <a:r>
              <a:rPr b="0" lang="en-US" sz="1300" spc="-72" strike="noStrike">
                <a:solidFill>
                  <a:srgbClr val="000000"/>
                </a:solidFill>
                <a:latin typeface="Arial Black"/>
                <a:ea typeface="DejaVu Sans"/>
              </a:rPr>
              <a:t>Common</a:t>
            </a:r>
            <a:r>
              <a:rPr b="0" lang="en-US" sz="1300" spc="-32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00" spc="-55" strike="noStrike">
                <a:solidFill>
                  <a:srgbClr val="000000"/>
                </a:solidFill>
                <a:latin typeface="Arial Black"/>
                <a:ea typeface="DejaVu Sans"/>
              </a:rPr>
              <a:t>memory</a:t>
            </a:r>
            <a:r>
              <a:rPr b="0" lang="en-US" sz="1300" spc="-26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300" spc="-120" strike="noStrike">
                <a:solidFill>
                  <a:srgbClr val="000000"/>
                </a:solidFill>
                <a:latin typeface="Arial Black"/>
                <a:ea typeface="DejaVu Sans"/>
              </a:rPr>
              <a:t>spaces</a:t>
            </a:r>
            <a:r>
              <a:rPr b="0" lang="en-US" sz="1300" spc="-120" strike="noStrike">
                <a:solidFill>
                  <a:srgbClr val="000000"/>
                </a:solidFill>
                <a:latin typeface="Arial"/>
                <a:ea typeface="DejaVu Sans"/>
              </a:rPr>
              <a:t>-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Kokkos::HostSpace: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Traditional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66" strike="noStrike">
                <a:solidFill>
                  <a:srgbClr val="000000"/>
                </a:solidFill>
                <a:latin typeface="Arial"/>
                <a:ea typeface="DejaVu Sans"/>
              </a:rPr>
              <a:t>CPU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-</a:t>
            </a:r>
            <a:r>
              <a:rPr b="0" lang="en-US" sz="13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Kokkos::CudaSpace: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46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NVIDIA</a:t>
            </a:r>
            <a:r>
              <a:rPr b="0" lang="en-US" sz="13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-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Kokkos::CudaUVMSpace: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Unified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66" strike="noStrike">
                <a:solidFill>
                  <a:srgbClr val="000000"/>
                </a:solidFill>
                <a:latin typeface="Arial"/>
                <a:ea typeface="DejaVu Sans"/>
              </a:rPr>
              <a:t>CPU-</a:t>
            </a:r>
            <a:r>
              <a:rPr b="0" lang="en-US" sz="1300" spc="-46" strike="noStrike">
                <a:solidFill>
                  <a:srgbClr val="000000"/>
                </a:solidFill>
                <a:latin typeface="Arial"/>
                <a:ea typeface="DejaVu Sans"/>
              </a:rPr>
              <a:t>GPU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  <a:ea typeface="DejaVu Sans"/>
              </a:rPr>
              <a:t>memory...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6"/>
              </a:spcBef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US" sz="1250" spc="-131" strike="noStrike">
                <a:solidFill>
                  <a:srgbClr val="000000"/>
                </a:solidFill>
                <a:latin typeface="Arial Black"/>
                <a:ea typeface="DejaVu Sans"/>
              </a:rPr>
              <a:t>Key</a:t>
            </a:r>
            <a:r>
              <a:rPr b="0" lang="en-US" sz="1250" spc="-7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 Black"/>
                <a:ea typeface="DejaVu Sans"/>
              </a:rPr>
              <a:t>Features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ts val="1559"/>
              </a:lnSpc>
              <a:spcBef>
                <a:spcPts val="11"/>
              </a:spcBef>
              <a:buClr>
                <a:srgbClr val="000000"/>
              </a:buClr>
              <a:buSzPct val="124000"/>
              <a:buFont typeface="Arial"/>
              <a:buChar char="-"/>
              <a:tabLst>
                <a:tab algn="l" pos="10872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Arial Black"/>
                <a:ea typeface="DejaVu Sans"/>
              </a:rPr>
              <a:t>Portability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:Optimization</a:t>
            </a:r>
            <a:r>
              <a:rPr b="0" lang="en-US" sz="1050" spc="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3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3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21" strike="noStrike">
                <a:solidFill>
                  <a:srgbClr val="000000"/>
                </a:solidFill>
                <a:latin typeface="Arial"/>
                <a:ea typeface="DejaVu Sans"/>
              </a:rPr>
              <a:t>accesses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1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66" strike="noStrike">
                <a:solidFill>
                  <a:srgbClr val="000000"/>
                </a:solidFill>
                <a:latin typeface="Arial"/>
                <a:ea typeface="DejaVu Sans"/>
              </a:rPr>
              <a:t>CPU</a:t>
            </a:r>
            <a:r>
              <a:rPr b="0" lang="en-US" sz="105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050" spc="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21" strike="noStrike">
                <a:solidFill>
                  <a:srgbClr val="000000"/>
                </a:solidFill>
                <a:latin typeface="Arial"/>
                <a:ea typeface="DejaVu Sans"/>
              </a:rPr>
              <a:t>GPU.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ct val="100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108720"/>
              </a:tabLst>
            </a:pPr>
            <a:r>
              <a:rPr b="0" lang="en-US" sz="1250" spc="-26" strike="noStrike">
                <a:solidFill>
                  <a:srgbClr val="000000"/>
                </a:solidFill>
                <a:latin typeface="Arial Black"/>
                <a:ea typeface="DejaVu Sans"/>
              </a:rPr>
              <a:t>Flexibility</a:t>
            </a:r>
            <a:r>
              <a:rPr b="0" lang="en-US" sz="1250" spc="-26" strike="noStrike">
                <a:solidFill>
                  <a:srgbClr val="000000"/>
                </a:solidFill>
                <a:latin typeface="Arial"/>
                <a:ea typeface="DejaVu Sans"/>
              </a:rPr>
              <a:t>:Adaptive</a:t>
            </a:r>
            <a:r>
              <a:rPr b="0" lang="en-US" sz="12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2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layouts,</a:t>
            </a:r>
            <a:r>
              <a:rPr b="0" lang="en-US" sz="12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such</a:t>
            </a:r>
            <a:r>
              <a:rPr b="0" lang="en-US" sz="12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12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LayoutLeft</a:t>
            </a:r>
            <a:r>
              <a:rPr b="0" lang="en-US" sz="12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2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LayoutRight.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ct val="100000"/>
              </a:lnSpc>
              <a:buClr>
                <a:srgbClr val="000000"/>
              </a:buClr>
              <a:buSzPct val="124000"/>
              <a:buFont typeface="Arial"/>
              <a:buChar char="-"/>
              <a:tabLst>
                <a:tab algn="l" pos="108720"/>
              </a:tabLst>
            </a:pPr>
            <a:r>
              <a:rPr b="0" lang="en-US" sz="1050" spc="-26" strike="noStrike">
                <a:solidFill>
                  <a:srgbClr val="000000"/>
                </a:solidFill>
                <a:latin typeface="Arial Black"/>
                <a:ea typeface="DejaVu Sans"/>
              </a:rPr>
              <a:t>Performances</a:t>
            </a:r>
            <a:r>
              <a:rPr b="0" lang="en-US" sz="1050" spc="-26" strike="noStrike">
                <a:solidFill>
                  <a:srgbClr val="000000"/>
                </a:solidFill>
                <a:latin typeface="Arial"/>
                <a:ea typeface="DejaVu Sans"/>
              </a:rPr>
              <a:t>:Contiguous</a:t>
            </a:r>
            <a:r>
              <a:rPr b="0" lang="en-US" sz="10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1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66" strike="noStrike">
                <a:solidFill>
                  <a:srgbClr val="000000"/>
                </a:solidFill>
                <a:latin typeface="Arial"/>
                <a:ea typeface="DejaVu Sans"/>
              </a:rPr>
              <a:t>CPU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coalescing</a:t>
            </a:r>
            <a:r>
              <a:rPr b="0" lang="en-US" sz="10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1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1050" spc="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21" strike="noStrike">
                <a:solidFill>
                  <a:srgbClr val="000000"/>
                </a:solidFill>
                <a:latin typeface="Arial"/>
                <a:ea typeface="DejaVu Sans"/>
              </a:rPr>
              <a:t>GPU.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tabLst>
                <a:tab algn="l" pos="108720"/>
              </a:tabLst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tabLst>
                <a:tab algn="l" pos="108720"/>
              </a:tabLst>
            </a:pPr>
            <a:r>
              <a:rPr b="0" lang="en-US" sz="950" spc="-12" strike="noStrike">
                <a:solidFill>
                  <a:srgbClr val="000000"/>
                </a:solidFill>
                <a:latin typeface="Arial Black"/>
                <a:ea typeface="DejaVu Sans"/>
              </a:rPr>
              <a:t>Implementation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ts val="1559"/>
              </a:lnSpc>
              <a:spcBef>
                <a:spcPts val="65"/>
              </a:spcBef>
              <a:buClr>
                <a:srgbClr val="000000"/>
              </a:buClr>
              <a:buSzPct val="104000"/>
              <a:buFont typeface="Arial"/>
              <a:buChar char="-"/>
              <a:tabLst>
                <a:tab algn="l" pos="108720"/>
              </a:tabLst>
            </a:pPr>
            <a:r>
              <a:rPr b="0" lang="en-US" sz="1250" spc="-66" strike="noStrike">
                <a:solidFill>
                  <a:srgbClr val="000000"/>
                </a:solidFill>
                <a:latin typeface="Arial Black"/>
                <a:ea typeface="DejaVu Sans"/>
              </a:rPr>
              <a:t>CPU</a:t>
            </a:r>
            <a:r>
              <a:rPr b="0" lang="en-US" sz="1250" spc="-66" strike="noStrike">
                <a:solidFill>
                  <a:srgbClr val="000000"/>
                </a:solidFill>
                <a:latin typeface="Arial"/>
                <a:ea typeface="DejaVu Sans"/>
              </a:rPr>
              <a:t>(eg: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OpenMP):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Use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LayoutRight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default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  <a:ea typeface="DejaVu Sans"/>
              </a:rPr>
              <a:t>optimize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cache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usage.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ct val="100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108720"/>
              </a:tabLst>
            </a:pPr>
            <a:r>
              <a:rPr b="0" lang="en-US" sz="1250" spc="-52" strike="noStrike">
                <a:solidFill>
                  <a:srgbClr val="000000"/>
                </a:solidFill>
                <a:latin typeface="Arial Black"/>
                <a:ea typeface="DejaVu Sans"/>
              </a:rPr>
              <a:t>GPU</a:t>
            </a:r>
            <a:r>
              <a:rPr b="0" lang="en-US" sz="1250" spc="-52" strike="noStrike">
                <a:solidFill>
                  <a:srgbClr val="000000"/>
                </a:solidFill>
                <a:latin typeface="Arial"/>
                <a:ea typeface="DejaVu Sans"/>
              </a:rPr>
              <a:t>(eg: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35" strike="noStrike">
                <a:solidFill>
                  <a:srgbClr val="000000"/>
                </a:solidFill>
                <a:latin typeface="Arial"/>
                <a:ea typeface="DejaVu Sans"/>
              </a:rPr>
              <a:t>CUDA):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Use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LayoutLeft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default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promote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  <a:ea typeface="DejaVu Sans"/>
              </a:rPr>
              <a:t>memory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29" strike="noStrike">
                <a:solidFill>
                  <a:srgbClr val="000000"/>
                </a:solidFill>
                <a:latin typeface="Arial"/>
                <a:ea typeface="DejaVu Sans"/>
              </a:rPr>
              <a:t>merging.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tabLst>
                <a:tab algn="l" pos="108720"/>
              </a:tabLst>
            </a:pP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2600" indent="95760">
              <a:lnSpc>
                <a:spcPct val="106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108720"/>
              </a:tabLst>
            </a:pPr>
            <a:r>
              <a:rPr b="0" lang="en-US" sz="1250" spc="-72" strike="noStrike">
                <a:solidFill>
                  <a:srgbClr val="000000"/>
                </a:solidFill>
                <a:latin typeface="Arial Black"/>
                <a:ea typeface="DejaVu Sans"/>
              </a:rPr>
              <a:t>Layout</a:t>
            </a:r>
            <a:r>
              <a:rPr b="0" lang="en-US" sz="1250" spc="-21" strike="noStrike">
                <a:solidFill>
                  <a:srgbClr val="000000"/>
                </a:solidFill>
                <a:latin typeface="Arial Black"/>
                <a:ea typeface="DejaVu Sans"/>
              </a:rPr>
              <a:t> polymorphism</a:t>
            </a:r>
            <a:r>
              <a:rPr b="0" lang="en-US" sz="1250" spc="-21" strike="noStrike">
                <a:solidFill>
                  <a:srgbClr val="000000"/>
                </a:solidFill>
                <a:latin typeface="Arial"/>
                <a:ea typeface="DejaVu Sans"/>
              </a:rPr>
              <a:t>:Ability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the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schema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without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modifying the function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code.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This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allows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developers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easily</a:t>
            </a:r>
            <a:r>
              <a:rPr b="0" lang="en-US" sz="12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adapt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structures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2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architectures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(such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12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60" strike="noStrike">
                <a:solidFill>
                  <a:srgbClr val="000000"/>
                </a:solidFill>
                <a:latin typeface="Arial"/>
                <a:ea typeface="DejaVu Sans"/>
              </a:rPr>
              <a:t>CPUs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52" strike="noStrike">
                <a:solidFill>
                  <a:srgbClr val="000000"/>
                </a:solidFill>
                <a:latin typeface="Arial"/>
                <a:ea typeface="DejaVu Sans"/>
              </a:rPr>
              <a:t>GPUs)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while</a:t>
            </a:r>
            <a:r>
              <a:rPr b="0" lang="en-US" sz="12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maintaining</a:t>
            </a:r>
            <a:r>
              <a:rPr b="0" lang="en-US" sz="1250" spc="8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52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0" lang="en-US" sz="1250" spc="1" strike="noStrike">
                <a:solidFill>
                  <a:srgbClr val="000000"/>
                </a:solidFill>
                <a:latin typeface="Arial"/>
                <a:ea typeface="DejaVu Sans"/>
              </a:rPr>
              <a:t>consistent</a:t>
            </a:r>
            <a:r>
              <a:rPr b="0" lang="en-US" sz="1250" spc="19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interface.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1"/>
          <a:stretch/>
        </p:blipFill>
        <p:spPr>
          <a:xfrm>
            <a:off x="7740000" y="2520000"/>
            <a:ext cx="1271880" cy="11718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object 2" descr=""/>
          <p:cNvPicPr/>
          <p:nvPr/>
        </p:nvPicPr>
        <p:blipFill>
          <a:blip r:embed="rId1"/>
          <a:stretch/>
        </p:blipFill>
        <p:spPr>
          <a:xfrm>
            <a:off x="8030880" y="1336320"/>
            <a:ext cx="1085040" cy="1085040"/>
          </a:xfrm>
          <a:prstGeom prst="rect">
            <a:avLst/>
          </a:prstGeom>
          <a:ln w="0">
            <a:noFill/>
          </a:ln>
        </p:spPr>
      </p:pic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74680" y="225000"/>
            <a:ext cx="6993000" cy="955800"/>
          </a:xfrm>
          <a:prstGeom prst="rect">
            <a:avLst/>
          </a:prstGeom>
          <a:noFill/>
          <a:ln w="0">
            <a:noFill/>
          </a:ln>
        </p:spPr>
        <p:txBody>
          <a:bodyPr lIns="0" rIns="0" tIns="9000" bIns="0" anchor="t">
            <a:noAutofit/>
          </a:bodyPr>
          <a:p>
            <a:pPr marL="12600" indent="0">
              <a:lnSpc>
                <a:spcPct val="102000"/>
              </a:lnSpc>
              <a:spcBef>
                <a:spcPts val="71"/>
              </a:spcBef>
              <a:buNone/>
              <a:tabLst>
                <a:tab algn="l" pos="0"/>
              </a:tabLst>
            </a:pPr>
            <a:r>
              <a:rPr b="1" lang="en-US" sz="2000" spc="-21" strike="noStrike">
                <a:solidFill>
                  <a:srgbClr val="050505"/>
                </a:solidFill>
                <a:latin typeface="Arial"/>
              </a:rPr>
              <a:t>Kokkos: </a:t>
            </a:r>
            <a:r>
              <a:rPr b="1" i="1" lang="en-US" sz="2000" spc="-21" strike="noStrike">
                <a:solidFill>
                  <a:srgbClr val="050505"/>
                </a:solidFill>
                <a:latin typeface="Arial"/>
              </a:rPr>
              <a:t>Managing</a:t>
            </a:r>
            <a:r>
              <a:rPr b="1" i="1" lang="en-US" sz="2000" spc="-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i="1" lang="en-US" sz="2000" spc="75" strike="noStrike">
                <a:solidFill>
                  <a:srgbClr val="050505"/>
                </a:solidFill>
                <a:latin typeface="Arial"/>
              </a:rPr>
              <a:t>memory</a:t>
            </a:r>
            <a:r>
              <a:rPr b="1" i="1" lang="en-US" sz="2000" spc="-1" strike="noStrike">
                <a:solidFill>
                  <a:srgbClr val="050505"/>
                </a:solidFill>
                <a:latin typeface="Arial"/>
              </a:rPr>
              <a:t> access</a:t>
            </a:r>
            <a:r>
              <a:rPr b="1" i="1" lang="en-US" sz="2000" spc="-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i="1" lang="en-US" sz="2000" spc="-1" strike="noStrike">
                <a:solidFill>
                  <a:srgbClr val="050505"/>
                </a:solidFill>
                <a:latin typeface="Arial"/>
              </a:rPr>
              <a:t>patterns </a:t>
            </a:r>
            <a:r>
              <a:rPr b="1" i="1" lang="en-US" sz="2000" spc="43" strike="noStrike">
                <a:solidFill>
                  <a:srgbClr val="050505"/>
                </a:solidFill>
                <a:latin typeface="Arial"/>
              </a:rPr>
              <a:t>and</a:t>
            </a:r>
            <a:r>
              <a:rPr b="1" i="1" lang="en-US" sz="2000" spc="-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i="1" lang="en-US" sz="2000" spc="-1" strike="noStrike">
                <a:solidFill>
                  <a:srgbClr val="050505"/>
                </a:solidFill>
                <a:latin typeface="Arial"/>
              </a:rPr>
              <a:t>impact </a:t>
            </a:r>
            <a:r>
              <a:rPr b="1" i="1" lang="en-US" sz="2000" spc="60" strike="noStrike">
                <a:solidFill>
                  <a:srgbClr val="050505"/>
                </a:solidFill>
                <a:latin typeface="Arial"/>
              </a:rPr>
              <a:t>on </a:t>
            </a:r>
            <a:r>
              <a:rPr b="1" i="1" lang="en-US" sz="2000" spc="-12" strike="noStrike">
                <a:solidFill>
                  <a:srgbClr val="050505"/>
                </a:solidFill>
                <a:latin typeface="Arial"/>
              </a:rPr>
              <a:t>performance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416160" y="1046520"/>
            <a:ext cx="8964720" cy="3897720"/>
          </a:xfrm>
          <a:prstGeom prst="rect">
            <a:avLst/>
          </a:prstGeom>
          <a:noFill/>
          <a:ln w="0">
            <a:noFill/>
          </a:ln>
        </p:spPr>
        <p:txBody>
          <a:bodyPr lIns="0" rIns="0" tIns="349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275"/>
              </a:spcBef>
              <a:buNone/>
              <a:tabLst>
                <a:tab algn="l" pos="0"/>
              </a:tabLst>
            </a:pPr>
            <a:r>
              <a:rPr b="0" lang="en-US" sz="1300" spc="-55" strike="noStrike">
                <a:solidFill>
                  <a:srgbClr val="000000"/>
                </a:solidFill>
                <a:latin typeface="Arial Black"/>
              </a:rPr>
              <a:t>Importance</a:t>
            </a:r>
            <a:r>
              <a:rPr b="0" lang="en-US" sz="1300" spc="-72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35" strike="noStrike">
                <a:solidFill>
                  <a:srgbClr val="000000"/>
                </a:solidFill>
                <a:latin typeface="Arial Black"/>
              </a:rPr>
              <a:t>of</a:t>
            </a:r>
            <a:r>
              <a:rPr b="0" lang="en-US" sz="1300" spc="-66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55" strike="noStrike">
                <a:solidFill>
                  <a:srgbClr val="000000"/>
                </a:solidFill>
                <a:latin typeface="Arial Black"/>
              </a:rPr>
              <a:t>memory</a:t>
            </a:r>
            <a:r>
              <a:rPr b="0" lang="en-US" sz="1300" spc="-72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157" strike="noStrike">
                <a:solidFill>
                  <a:srgbClr val="000000"/>
                </a:solidFill>
                <a:latin typeface="Arial Black"/>
              </a:rPr>
              <a:t>access</a:t>
            </a:r>
            <a:r>
              <a:rPr b="0" lang="en-US" sz="1300" spc="-66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 Black"/>
              </a:rPr>
              <a:t>patterns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04760" indent="-9216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OpenSymbol"/>
              <a:buChar char="-"/>
              <a:tabLst>
                <a:tab algn="l" pos="104760"/>
              </a:tabLst>
            </a:pP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Essential</a:t>
            </a:r>
            <a:r>
              <a:rPr b="0" lang="en-US" sz="125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</a:rPr>
              <a:t>optimizing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</a:rPr>
              <a:t>performance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25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72" strike="noStrike">
                <a:solidFill>
                  <a:srgbClr val="000000"/>
                </a:solidFill>
                <a:latin typeface="Arial"/>
              </a:rPr>
              <a:t>CPU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</a:rPr>
              <a:t>(cache)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0" lang="en-US" sz="1250" spc="-41" strike="noStrike">
                <a:solidFill>
                  <a:srgbClr val="000000"/>
                </a:solidFill>
                <a:latin typeface="Arial"/>
              </a:rPr>
              <a:t>GPU</a:t>
            </a:r>
            <a:r>
              <a:rPr b="0" lang="en-US" sz="125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</a:rPr>
              <a:t>(coalescing).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97920" indent="-8496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-"/>
              <a:tabLst>
                <a:tab algn="l" pos="97920"/>
              </a:tabLst>
            </a:pP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Kokkos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automatically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adjusts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these</a:t>
            </a:r>
            <a:r>
              <a:rPr b="0" lang="en-US" sz="115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models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9" strike="noStrike">
                <a:solidFill>
                  <a:srgbClr val="000000"/>
                </a:solidFill>
                <a:latin typeface="Arial"/>
              </a:rPr>
              <a:t>according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60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15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150" spc="43" strike="noStrike">
                <a:solidFill>
                  <a:srgbClr val="000000"/>
                </a:solidFill>
                <a:latin typeface="Arial"/>
              </a:rPr>
              <a:t> target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</a:rPr>
              <a:t>architecture.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0" lang="en-US" sz="1300" spc="-46" strike="noStrike">
                <a:solidFill>
                  <a:srgbClr val="000000"/>
                </a:solidFill>
                <a:latin typeface="Arial Black"/>
              </a:rPr>
              <a:t>Memory</a:t>
            </a:r>
            <a:r>
              <a:rPr b="0" lang="en-US" sz="1300" spc="-60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55" strike="noStrike">
                <a:solidFill>
                  <a:srgbClr val="000000"/>
                </a:solidFill>
                <a:latin typeface="Arial Black"/>
              </a:rPr>
              <a:t>arrangements</a:t>
            </a:r>
            <a:r>
              <a:rPr b="0" lang="en-US" sz="1300" spc="-60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32" strike="noStrike">
                <a:solidFill>
                  <a:srgbClr val="000000"/>
                </a:solidFill>
                <a:latin typeface="Arial Black"/>
              </a:rPr>
              <a:t>in</a:t>
            </a:r>
            <a:r>
              <a:rPr b="0" lang="en-US" sz="1300" spc="-60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 Black"/>
              </a:rPr>
              <a:t>Kokkos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11600" indent="-99000">
              <a:lnSpc>
                <a:spcPct val="100000"/>
              </a:lnSpc>
              <a:spcBef>
                <a:spcPts val="65"/>
              </a:spcBef>
              <a:buClr>
                <a:srgbClr val="000000"/>
              </a:buClr>
              <a:buFont typeface="Arial"/>
              <a:buChar char="-"/>
              <a:tabLst>
                <a:tab algn="l" pos="11160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LayoutLeft: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</a:rPr>
              <a:t>Main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column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3" strike="noStrike">
                <a:solidFill>
                  <a:srgbClr val="000000"/>
                </a:solidFill>
                <a:latin typeface="Arial"/>
              </a:rPr>
              <a:t>order,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ideal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</a:rPr>
              <a:t>GPU.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11600" indent="-990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Arial"/>
              <a:buChar char="-"/>
              <a:tabLst>
                <a:tab algn="l" pos="111600"/>
              </a:tabLst>
            </a:pPr>
            <a:r>
              <a:rPr b="0" lang="en-US" sz="1350" spc="1" strike="noStrike">
                <a:solidFill>
                  <a:srgbClr val="000000"/>
                </a:solidFill>
                <a:latin typeface="Arial"/>
              </a:rPr>
              <a:t>LayoutRight: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9" strike="noStrike">
                <a:solidFill>
                  <a:srgbClr val="000000"/>
                </a:solidFill>
                <a:latin typeface="Arial"/>
              </a:rPr>
              <a:t>Order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main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1" strike="noStrike">
                <a:solidFill>
                  <a:srgbClr val="000000"/>
                </a:solidFill>
                <a:latin typeface="Arial"/>
              </a:rPr>
              <a:t>lines,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optimal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55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350" spc="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</a:rPr>
              <a:t>processor.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ct val="100000"/>
              </a:lnSpc>
              <a:spcBef>
                <a:spcPts val="111"/>
              </a:spcBef>
              <a:buClr>
                <a:srgbClr val="000000"/>
              </a:buClr>
              <a:buFont typeface="Arial"/>
              <a:buChar char="-"/>
              <a:tabLst>
                <a:tab algn="l" pos="108720"/>
              </a:tabLst>
            </a:pPr>
            <a:r>
              <a:rPr b="0" lang="en-US" sz="1300" spc="1" strike="noStrike">
                <a:solidFill>
                  <a:srgbClr val="000000"/>
                </a:solidFill>
                <a:latin typeface="Arial"/>
              </a:rPr>
              <a:t>Flexibility:</a:t>
            </a:r>
            <a:r>
              <a:rPr b="0" lang="en-US" sz="1300" spc="12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1" strike="noStrike">
                <a:solidFill>
                  <a:srgbClr val="000000"/>
                </a:solidFill>
                <a:latin typeface="Arial"/>
              </a:rPr>
              <a:t>Customizable</a:t>
            </a:r>
            <a:r>
              <a:rPr b="0" lang="en-US" sz="1300" spc="1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1" strike="noStrike">
                <a:solidFill>
                  <a:srgbClr val="000000"/>
                </a:solidFill>
                <a:latin typeface="Arial"/>
              </a:rPr>
              <a:t>layouts</a:t>
            </a:r>
            <a:r>
              <a:rPr b="0" lang="en-US" sz="1300" spc="12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1" strike="noStrike">
                <a:solidFill>
                  <a:srgbClr val="000000"/>
                </a:solidFill>
                <a:latin typeface="Arial"/>
              </a:rPr>
              <a:t>according</a:t>
            </a:r>
            <a:r>
              <a:rPr b="0" lang="en-US" sz="1300" spc="1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69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300" spc="1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</a:rPr>
              <a:t>needs.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52" strike="noStrike">
                <a:solidFill>
                  <a:srgbClr val="000000"/>
                </a:solidFill>
                <a:latin typeface="Arial Black"/>
              </a:rPr>
              <a:t>Optimization</a:t>
            </a:r>
            <a:r>
              <a:rPr b="0" lang="en-US" sz="1200" spc="-1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200" spc="-12" strike="noStrike">
                <a:solidFill>
                  <a:srgbClr val="000000"/>
                </a:solidFill>
                <a:latin typeface="Arial Black"/>
              </a:rPr>
              <a:t>strategies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 indent="102960">
              <a:lnSpc>
                <a:spcPct val="111000"/>
              </a:lnSpc>
              <a:spcBef>
                <a:spcPts val="1029"/>
              </a:spcBef>
              <a:buClr>
                <a:srgbClr val="000000"/>
              </a:buClr>
              <a:buSzPct val="117000"/>
              <a:buFont typeface="Arial"/>
              <a:buChar char="-"/>
              <a:tabLst>
                <a:tab algn="l" pos="11556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 Black"/>
              </a:rPr>
              <a:t>CPU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:Optimized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cache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</a:rPr>
              <a:t>memory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21" strike="noStrike">
                <a:solidFill>
                  <a:srgbClr val="000000"/>
                </a:solidFill>
                <a:latin typeface="Arial"/>
              </a:rPr>
              <a:t>usage</a:t>
            </a:r>
            <a:r>
              <a:rPr b="0" lang="en-US" sz="1200" spc="-21" strike="noStrike">
                <a:solidFill>
                  <a:srgbClr val="000000"/>
                </a:solidFill>
                <a:latin typeface="Arial Black"/>
              </a:rPr>
              <a:t>SIMD</a:t>
            </a:r>
            <a:r>
              <a:rPr b="0" lang="en-US" sz="1200" spc="-2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technique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60" strike="noStrike">
                <a:solidFill>
                  <a:srgbClr val="000000"/>
                </a:solidFill>
                <a:latin typeface="Arial"/>
              </a:rPr>
              <a:t>that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allows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single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</a:rPr>
              <a:t>instruction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63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executed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55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9" strike="noStrike">
                <a:solidFill>
                  <a:srgbClr val="000000"/>
                </a:solidFill>
                <a:latin typeface="Arial"/>
              </a:rPr>
              <a:t>multiple</a:t>
            </a:r>
            <a:r>
              <a:rPr b="0" lang="en-US" sz="1200" spc="4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21" strike="noStrike">
                <a:solidFill>
                  <a:srgbClr val="000000"/>
                </a:solidFill>
                <a:latin typeface="Arial"/>
              </a:rPr>
              <a:t>data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elements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simultaneously.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This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contrasts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60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scalar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</a:rPr>
              <a:t>operations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which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process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one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</a:rPr>
              <a:t>element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4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9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20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29" strike="noStrike">
                <a:solidFill>
                  <a:srgbClr val="000000"/>
                </a:solidFill>
                <a:latin typeface="Arial"/>
              </a:rPr>
              <a:t>time.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1600" indent="-9900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"/>
              <a:buChar char="-"/>
              <a:tabLst>
                <a:tab algn="l" pos="111600"/>
              </a:tabLst>
            </a:pPr>
            <a:r>
              <a:rPr b="0" lang="en-US" sz="1350" spc="-32" strike="noStrike">
                <a:solidFill>
                  <a:srgbClr val="000000"/>
                </a:solidFill>
                <a:latin typeface="Arial Black"/>
              </a:rPr>
              <a:t>GPU</a:t>
            </a:r>
            <a:r>
              <a:rPr b="0" lang="en-US" sz="1350" spc="-32" strike="noStrike">
                <a:solidFill>
                  <a:srgbClr val="000000"/>
                </a:solidFill>
                <a:latin typeface="Arial"/>
              </a:rPr>
              <a:t>:Ensure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memory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fusion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9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41" strike="noStrike">
                <a:solidFill>
                  <a:srgbClr val="000000"/>
                </a:solidFill>
                <a:latin typeface="Arial"/>
              </a:rPr>
              <a:t>efficient</a:t>
            </a:r>
            <a:r>
              <a:rPr b="0" lang="en-US" sz="135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</a:rPr>
              <a:t>access.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4"/>
              </a:spcBef>
              <a:buNone/>
              <a:tabLst>
                <a:tab algn="l" pos="0"/>
              </a:tabLst>
            </a:pP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75" strike="noStrike">
                <a:solidFill>
                  <a:srgbClr val="000000"/>
                </a:solidFill>
                <a:latin typeface="Arial Black"/>
              </a:rPr>
              <a:t>Impact</a:t>
            </a:r>
            <a:r>
              <a:rPr b="0" lang="en-US" sz="1350" spc="-86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50" spc="-46" strike="noStrike">
                <a:solidFill>
                  <a:srgbClr val="000000"/>
                </a:solidFill>
                <a:latin typeface="Arial Black"/>
              </a:rPr>
              <a:t>on</a:t>
            </a:r>
            <a:r>
              <a:rPr b="0" lang="en-US" sz="1350" spc="-80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 Black"/>
              </a:rPr>
              <a:t>performance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11600" indent="-99000">
              <a:lnSpc>
                <a:spcPct val="100000"/>
              </a:lnSpc>
              <a:spcBef>
                <a:spcPts val="54"/>
              </a:spcBef>
              <a:buClr>
                <a:srgbClr val="000000"/>
              </a:buClr>
              <a:buFont typeface="Arial"/>
              <a:buChar char="-"/>
              <a:tabLst>
                <a:tab algn="l" pos="111600"/>
              </a:tabLst>
            </a:pPr>
            <a:r>
              <a:rPr b="0" lang="en-US" sz="1350" spc="-1" strike="noStrike">
                <a:solidFill>
                  <a:srgbClr val="000000"/>
                </a:solidFill>
                <a:latin typeface="Arial"/>
              </a:rPr>
              <a:t>Efficient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memory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21" strike="noStrike">
                <a:solidFill>
                  <a:srgbClr val="000000"/>
                </a:solidFill>
                <a:latin typeface="Arial"/>
              </a:rPr>
              <a:t>access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0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63" strike="noStrike">
                <a:solidFill>
                  <a:srgbClr val="000000"/>
                </a:solidFill>
                <a:latin typeface="Arial"/>
              </a:rPr>
              <a:t>up</a:t>
            </a:r>
            <a:r>
              <a:rPr b="0" lang="en-US" sz="135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350" spc="-32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350" spc="-32" strike="noStrike">
                <a:solidFill>
                  <a:srgbClr val="000000"/>
                </a:solidFill>
                <a:latin typeface="Arial Black"/>
              </a:rPr>
              <a:t>10</a:t>
            </a:r>
            <a:r>
              <a:rPr b="0" lang="en-US" sz="1350" spc="-52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50" spc="-80" strike="noStrike">
                <a:solidFill>
                  <a:srgbClr val="000000"/>
                </a:solidFill>
                <a:latin typeface="Arial Black"/>
              </a:rPr>
              <a:t>times</a:t>
            </a:r>
            <a:r>
              <a:rPr b="0" lang="en-US" sz="1350" spc="-55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50" spc="-52" strike="noStrike">
                <a:solidFill>
                  <a:srgbClr val="000000"/>
                </a:solidFill>
                <a:latin typeface="Arial Black"/>
              </a:rPr>
              <a:t>more</a:t>
            </a:r>
            <a:r>
              <a:rPr b="0" lang="en-US" sz="1350" spc="-55" strike="noStrike">
                <a:solidFill>
                  <a:srgbClr val="000000"/>
                </a:solidFill>
                <a:latin typeface="Arial Black"/>
              </a:rPr>
              <a:t> </a:t>
            </a:r>
            <a:r>
              <a:rPr b="0" lang="en-US" sz="1350" spc="-12" strike="noStrike">
                <a:solidFill>
                  <a:srgbClr val="000000"/>
                </a:solidFill>
                <a:latin typeface="Arial Black"/>
              </a:rPr>
              <a:t>efficient</a:t>
            </a:r>
            <a:r>
              <a:rPr b="0" lang="en-US" sz="1350" spc="-12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  <a:p>
            <a:pPr marL="104760" indent="-92160">
              <a:lnSpc>
                <a:spcPct val="100000"/>
              </a:lnSpc>
              <a:spcBef>
                <a:spcPts val="159"/>
              </a:spcBef>
              <a:buClr>
                <a:srgbClr val="000000"/>
              </a:buClr>
              <a:buFont typeface="Arial"/>
              <a:buChar char="-"/>
              <a:tabLst>
                <a:tab algn="l" pos="104760"/>
              </a:tabLst>
            </a:pP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Portability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ensured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thanks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single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code,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</a:rPr>
              <a:t>allowing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</a:rPr>
              <a:t>optimal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</a:rPr>
              <a:t>performance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9" strike="noStrike">
                <a:solidFill>
                  <a:srgbClr val="000000"/>
                </a:solidFill>
                <a:latin typeface="Arial"/>
              </a:rPr>
              <a:t>various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</a:rPr>
              <a:t>architectures.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object 2"/>
          <p:cNvGrpSpPr/>
          <p:nvPr/>
        </p:nvGrpSpPr>
        <p:grpSpPr>
          <a:xfrm>
            <a:off x="9045000" y="97560"/>
            <a:ext cx="938880" cy="852480"/>
            <a:chOff x="9045000" y="97560"/>
            <a:chExt cx="938880" cy="852480"/>
          </a:xfrm>
        </p:grpSpPr>
        <p:pic>
          <p:nvPicPr>
            <p:cNvPr id="301" name="object 3" descr=""/>
            <p:cNvPicPr/>
            <p:nvPr/>
          </p:nvPicPr>
          <p:blipFill>
            <a:blip r:embed="rId1"/>
            <a:stretch/>
          </p:blipFill>
          <p:spPr>
            <a:xfrm>
              <a:off x="9244440" y="306720"/>
              <a:ext cx="524880" cy="46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2" name="object 4" descr=""/>
            <p:cNvPicPr/>
            <p:nvPr/>
          </p:nvPicPr>
          <p:blipFill>
            <a:blip r:embed="rId2"/>
            <a:stretch/>
          </p:blipFill>
          <p:spPr>
            <a:xfrm>
              <a:off x="9045000" y="97560"/>
              <a:ext cx="938880" cy="8524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75040" y="235440"/>
            <a:ext cx="386496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60" strike="noStrike">
                <a:solidFill>
                  <a:srgbClr val="050505"/>
                </a:solidFill>
                <a:latin typeface="Arial"/>
              </a:rPr>
              <a:t>Kokkos</a:t>
            </a:r>
            <a:r>
              <a:rPr b="1" lang="en-US" sz="2000" spc="-9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37" strike="noStrike">
                <a:solidFill>
                  <a:srgbClr val="050505"/>
                </a:solidFill>
                <a:latin typeface="Arial"/>
              </a:rPr>
              <a:t>Execution</a:t>
            </a:r>
            <a:r>
              <a:rPr b="1" lang="en-US" sz="2000" spc="-97" strike="noStrike">
                <a:solidFill>
                  <a:srgbClr val="050505"/>
                </a:solidFill>
                <a:latin typeface="Arial"/>
              </a:rPr>
              <a:t> </a:t>
            </a:r>
            <a:r>
              <a:rPr b="1" lang="en-US" sz="2000" spc="-165" strike="noStrike">
                <a:solidFill>
                  <a:srgbClr val="050505"/>
                </a:solidFill>
                <a:latin typeface="Arial"/>
              </a:rPr>
              <a:t>Spaces</a:t>
            </a:r>
            <a:endParaRPr b="1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object 6"/>
          <p:cNvSpPr/>
          <p:nvPr/>
        </p:nvSpPr>
        <p:spPr>
          <a:xfrm>
            <a:off x="730440" y="792360"/>
            <a:ext cx="8482680" cy="25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7000"/>
              </a:lnSpc>
              <a:spcBef>
                <a:spcPts val="99"/>
              </a:spcBef>
            </a:pP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Representing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“where”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“how”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of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execution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9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Kokkos,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this</a:t>
            </a:r>
            <a:r>
              <a:rPr b="0" lang="en-US" sz="130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abstraction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9" strike="noStrike">
                <a:solidFill>
                  <a:srgbClr val="000000"/>
                </a:solidFill>
                <a:latin typeface="Arial"/>
                <a:ea typeface="DejaVu Sans"/>
              </a:rPr>
              <a:t>integrates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  <a:ea typeface="DejaVu Sans"/>
              </a:rPr>
              <a:t>available </a:t>
            </a:r>
            <a:r>
              <a:rPr b="0" lang="en-US" sz="1300" spc="55" strike="noStrike">
                <a:solidFill>
                  <a:srgbClr val="000000"/>
                </a:solidFill>
                <a:latin typeface="Arial"/>
                <a:ea typeface="DejaVu Sans"/>
              </a:rPr>
              <a:t>computing</a:t>
            </a:r>
            <a:r>
              <a:rPr b="0" lang="en-US" sz="13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r>
              <a:rPr b="0" lang="en-US" sz="13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such</a:t>
            </a:r>
            <a:r>
              <a:rPr b="0" lang="en-US" sz="13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as</a:t>
            </a:r>
            <a:r>
              <a:rPr b="0" lang="en-US" sz="13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60" strike="noStrike">
                <a:solidFill>
                  <a:srgbClr val="000000"/>
                </a:solidFill>
                <a:latin typeface="Arial"/>
                <a:ea typeface="DejaVu Sans"/>
              </a:rPr>
              <a:t>CPUs</a:t>
            </a:r>
            <a:r>
              <a:rPr b="0" lang="en-US" sz="1300" spc="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4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300" spc="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300" spc="-12" strike="noStrike">
                <a:solidFill>
                  <a:srgbClr val="000000"/>
                </a:solidFill>
                <a:latin typeface="Arial"/>
                <a:ea typeface="DejaVu Sans"/>
              </a:rPr>
              <a:t>GPUs.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46"/>
              </a:spcBef>
            </a:pPr>
            <a:r>
              <a:rPr b="0" lang="en-US" sz="1250" spc="-92" strike="noStrike">
                <a:solidFill>
                  <a:srgbClr val="000000"/>
                </a:solidFill>
                <a:latin typeface="Arial Black"/>
                <a:ea typeface="DejaVu Sans"/>
              </a:rPr>
              <a:t>Execution</a:t>
            </a:r>
            <a:r>
              <a:rPr b="0" lang="en-US" sz="1250" spc="-46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 Black"/>
                <a:ea typeface="DejaVu Sans"/>
              </a:rPr>
              <a:t>spaces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372600">
              <a:lnSpc>
                <a:spcPct val="100000"/>
              </a:lnSpc>
              <a:spcBef>
                <a:spcPts val="1670"/>
              </a:spcBef>
            </a:pPr>
            <a:r>
              <a:rPr b="0" lang="en-US" sz="1200" spc="-86" strike="noStrike">
                <a:solidFill>
                  <a:srgbClr val="000000"/>
                </a:solidFill>
                <a:latin typeface="Arial Black"/>
                <a:ea typeface="DejaVu Sans"/>
              </a:rPr>
              <a:t>Execution</a:t>
            </a:r>
            <a:r>
              <a:rPr b="0" lang="en-US" sz="1200" spc="-5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000000"/>
                </a:solidFill>
                <a:latin typeface="Arial Black"/>
                <a:ea typeface="DejaVu Sans"/>
              </a:rPr>
              <a:t>models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468720" indent="-95760">
              <a:lnSpc>
                <a:spcPts val="1559"/>
              </a:lnSpc>
              <a:spcBef>
                <a:spcPts val="14"/>
              </a:spcBef>
              <a:buClr>
                <a:srgbClr val="000000"/>
              </a:buClr>
              <a:buSzPct val="104000"/>
              <a:buFont typeface="Arial"/>
              <a:buChar char="-"/>
              <a:tabLst>
                <a:tab algn="l" pos="468720"/>
              </a:tabLst>
            </a:pPr>
            <a:r>
              <a:rPr b="0" lang="en-US" sz="1250" spc="-86" strike="noStrike">
                <a:solidFill>
                  <a:srgbClr val="000000"/>
                </a:solidFill>
                <a:latin typeface="Arial Black"/>
                <a:ea typeface="DejaVu Sans"/>
              </a:rPr>
              <a:t>Simple</a:t>
            </a:r>
            <a:r>
              <a:rPr b="0" lang="en-US" sz="1250" spc="24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21" strike="noStrike">
                <a:solidFill>
                  <a:srgbClr val="000000"/>
                </a:solidFill>
                <a:latin typeface="Arial Black"/>
                <a:ea typeface="DejaVu Sans"/>
              </a:rPr>
              <a:t>loops</a:t>
            </a:r>
            <a:r>
              <a:rPr b="0" lang="en-US" sz="1250" spc="-21" strike="noStrike">
                <a:solidFill>
                  <a:srgbClr val="000000"/>
                </a:solidFill>
                <a:latin typeface="Arial"/>
                <a:ea typeface="DejaVu Sans"/>
              </a:rPr>
              <a:t>:Using</a:t>
            </a:r>
            <a:r>
              <a:rPr b="0" lang="en-US" sz="1250" spc="10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parallel_for̀</a:t>
            </a:r>
            <a:r>
              <a:rPr b="0" lang="en-US" sz="1250" spc="10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5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468720" indent="-95760">
              <a:lnSpc>
                <a:spcPct val="100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468720"/>
              </a:tabLst>
            </a:pPr>
            <a:r>
              <a:rPr b="0" lang="en-US" sz="1250" spc="-41" strike="noStrike">
                <a:solidFill>
                  <a:srgbClr val="000000"/>
                </a:solidFill>
                <a:latin typeface="Arial Black"/>
                <a:ea typeface="DejaVu Sans"/>
              </a:rPr>
              <a:t>Discounts</a:t>
            </a:r>
            <a:r>
              <a:rPr b="0" lang="en-US" sz="1250" spc="-41" strike="noStrike">
                <a:solidFill>
                  <a:srgbClr val="000000"/>
                </a:solidFill>
                <a:latin typeface="Arial"/>
                <a:ea typeface="DejaVu Sans"/>
              </a:rPr>
              <a:t>:Using</a:t>
            </a:r>
            <a:r>
              <a:rPr b="0" lang="en-US" sz="1250" spc="2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parallel_reduce`.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468720" indent="-95760">
              <a:lnSpc>
                <a:spcPct val="100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468720"/>
              </a:tabLst>
            </a:pPr>
            <a:r>
              <a:rPr b="0" lang="en-US" sz="1250" spc="-52" strike="noStrike">
                <a:solidFill>
                  <a:srgbClr val="000000"/>
                </a:solidFill>
                <a:latin typeface="Arial Black"/>
                <a:ea typeface="DejaVu Sans"/>
              </a:rPr>
              <a:t>Scans</a:t>
            </a:r>
            <a:r>
              <a:rPr b="0" lang="en-US" sz="1250" spc="-52" strike="noStrike">
                <a:solidFill>
                  <a:srgbClr val="000000"/>
                </a:solidFill>
                <a:latin typeface="Arial"/>
                <a:ea typeface="DejaVu Sans"/>
              </a:rPr>
              <a:t>:Using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parallel_scan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55" strike="noStrike">
                <a:solidFill>
                  <a:srgbClr val="000000"/>
                </a:solidFill>
                <a:latin typeface="Arial"/>
                <a:ea typeface="DejaVu Sans"/>
              </a:rPr>
              <a:t>.̀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tabLst>
                <a:tab algn="l" pos="468720"/>
              </a:tabLst>
            </a:pP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372600">
              <a:lnSpc>
                <a:spcPct val="100000"/>
              </a:lnSpc>
              <a:tabLst>
                <a:tab algn="l" pos="468720"/>
              </a:tabLst>
            </a:pPr>
            <a:r>
              <a:rPr b="0" lang="en-US" sz="1250" spc="-92" strike="noStrike">
                <a:solidFill>
                  <a:srgbClr val="000000"/>
                </a:solidFill>
                <a:latin typeface="Arial Black"/>
                <a:ea typeface="DejaVu Sans"/>
              </a:rPr>
              <a:t>Execution</a:t>
            </a:r>
            <a:r>
              <a:rPr b="0" lang="en-US" sz="1250" spc="24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46" strike="noStrike">
                <a:solidFill>
                  <a:srgbClr val="000000"/>
                </a:solidFill>
                <a:latin typeface="Arial Black"/>
                <a:ea typeface="DejaVu Sans"/>
              </a:rPr>
              <a:t>Policy:</a:t>
            </a:r>
            <a:r>
              <a:rPr b="0" lang="en-US" sz="1250" spc="-46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fundamental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abstractions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define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  <a:ea typeface="DejaVu Sans"/>
              </a:rPr>
              <a:t>how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parallel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tasks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executed.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468720" indent="-9576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SzPct val="104000"/>
              <a:buFont typeface="Arial"/>
              <a:buChar char="-"/>
              <a:tabLst>
                <a:tab algn="l" pos="468720"/>
              </a:tabLst>
            </a:pPr>
            <a:r>
              <a:rPr b="0" lang="en-US" sz="1250" spc="-92" strike="noStrike">
                <a:solidFill>
                  <a:srgbClr val="000000"/>
                </a:solidFill>
                <a:latin typeface="Arial Black"/>
                <a:ea typeface="DejaVu Sans"/>
              </a:rPr>
              <a:t>Range</a:t>
            </a:r>
            <a:r>
              <a:rPr b="0" lang="en-US" sz="1250" spc="21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60" strike="noStrike">
                <a:solidFill>
                  <a:srgbClr val="000000"/>
                </a:solidFill>
                <a:latin typeface="Arial Black"/>
                <a:ea typeface="DejaVu Sans"/>
              </a:rPr>
              <a:t>policies</a:t>
            </a:r>
            <a:r>
              <a:rPr b="0" lang="en-US" sz="1250" spc="-60" strike="noStrike">
                <a:solidFill>
                  <a:srgbClr val="000000"/>
                </a:solidFill>
                <a:latin typeface="Arial"/>
                <a:ea typeface="DejaVu Sans"/>
              </a:rPr>
              <a:t>:Sets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indexes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which</a:t>
            </a:r>
            <a:r>
              <a:rPr b="0" lang="en-US" sz="1250" spc="10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operations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12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1" strike="noStrike">
                <a:solidFill>
                  <a:srgbClr val="000000"/>
                </a:solidFill>
                <a:latin typeface="Arial"/>
                <a:ea typeface="DejaVu Sans"/>
              </a:rPr>
              <a:t>performed.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468720" indent="-95760">
              <a:lnSpc>
                <a:spcPct val="100000"/>
              </a:lnSpc>
              <a:buClr>
                <a:srgbClr val="000000"/>
              </a:buClr>
              <a:buSzPct val="104000"/>
              <a:buFont typeface="Arial"/>
              <a:buChar char="-"/>
              <a:tabLst>
                <a:tab algn="l" pos="468720"/>
              </a:tabLst>
            </a:pPr>
            <a:r>
              <a:rPr b="0" lang="en-US" sz="1250" spc="-100" strike="noStrike">
                <a:solidFill>
                  <a:srgbClr val="000000"/>
                </a:solidFill>
                <a:latin typeface="Arial Black"/>
                <a:ea typeface="DejaVu Sans"/>
              </a:rPr>
              <a:t>Team</a:t>
            </a:r>
            <a:r>
              <a:rPr b="0" lang="en-US" sz="1250" spc="-7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21" strike="noStrike">
                <a:solidFill>
                  <a:srgbClr val="000000"/>
                </a:solidFill>
                <a:latin typeface="Arial Black"/>
                <a:ea typeface="DejaVu Sans"/>
              </a:rPr>
              <a:t>policies</a:t>
            </a:r>
            <a:r>
              <a:rPr b="0" lang="en-US" sz="1250" spc="-21" strike="noStrike">
                <a:solidFill>
                  <a:srgbClr val="000000"/>
                </a:solidFill>
                <a:latin typeface="Arial"/>
                <a:ea typeface="DejaVu Sans"/>
              </a:rPr>
              <a:t>:Grouping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threads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55" strike="noStrike">
                <a:solidFill>
                  <a:srgbClr val="000000"/>
                </a:solidFill>
                <a:latin typeface="Arial"/>
                <a:ea typeface="DejaVu Sans"/>
              </a:rPr>
              <a:t>into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teams,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forming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subset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9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43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execution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space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63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" strike="noStrike">
                <a:solidFill>
                  <a:srgbClr val="000000"/>
                </a:solidFill>
                <a:latin typeface="Arial"/>
                <a:ea typeface="DejaVu Sans"/>
              </a:rPr>
              <a:t>enable</a:t>
            </a:r>
            <a:r>
              <a:rPr b="0" lang="en-US" sz="1250" spc="6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hierarchical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object 7"/>
          <p:cNvSpPr/>
          <p:nvPr/>
        </p:nvSpPr>
        <p:spPr>
          <a:xfrm>
            <a:off x="1186920" y="3331800"/>
            <a:ext cx="885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250" spc="-12" strike="noStrike">
                <a:solidFill>
                  <a:srgbClr val="000000"/>
                </a:solidFill>
                <a:latin typeface="Arial"/>
                <a:ea typeface="DejaVu Sans"/>
              </a:rPr>
              <a:t>parallelism.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object 8"/>
          <p:cNvSpPr/>
          <p:nvPr/>
        </p:nvSpPr>
        <p:spPr>
          <a:xfrm>
            <a:off x="5604840" y="3450960"/>
            <a:ext cx="336024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72880" indent="-261000">
              <a:lnSpc>
                <a:spcPct val="106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750" spc="-12" strike="noStrike">
                <a:solidFill>
                  <a:srgbClr val="c9201e"/>
                </a:solidFill>
                <a:latin typeface="Arial"/>
                <a:ea typeface="DejaVu Sans"/>
              </a:rPr>
              <a:t>Kokkos::parallel_for( </a:t>
            </a:r>
            <a:r>
              <a:rPr b="0" lang="en-US" sz="750" spc="-1" strike="noStrike">
                <a:solidFill>
                  <a:srgbClr val="c9201e"/>
                </a:solidFill>
                <a:latin typeface="Arial"/>
                <a:ea typeface="DejaVu Sans"/>
              </a:rPr>
              <a:t>Kokkos::RangePolicy&lt;Kokkos::DefaultExecutionSpace&gt;(0,</a:t>
            </a:r>
            <a:r>
              <a:rPr b="0" lang="en-US" sz="750" spc="36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21" strike="noStrike">
                <a:solidFill>
                  <a:srgbClr val="c9201e"/>
                </a:solidFill>
                <a:latin typeface="Arial"/>
                <a:ea typeface="DejaVu Sans"/>
              </a:rPr>
              <a:t>10),</a:t>
            </a:r>
            <a:r>
              <a:rPr b="0" lang="en-US" sz="750" spc="488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21" strike="noStrike">
                <a:solidFill>
                  <a:srgbClr val="c9201e"/>
                </a:solidFill>
                <a:latin typeface="Arial"/>
                <a:ea typeface="DejaVu Sans"/>
              </a:rPr>
              <a:t>KOKKOS_LAMBDA(int</a:t>
            </a:r>
            <a:r>
              <a:rPr b="0" lang="en-US" sz="7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1" strike="noStrike">
                <a:solidFill>
                  <a:srgbClr val="c9201e"/>
                </a:solidFill>
                <a:latin typeface="Arial"/>
                <a:ea typeface="DejaVu Sans"/>
              </a:rPr>
              <a:t>n)</a:t>
            </a:r>
            <a:r>
              <a:rPr b="0" lang="en-US" sz="750" spc="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1" strike="noStrike">
                <a:solidFill>
                  <a:srgbClr val="c9201e"/>
                </a:solidFill>
                <a:latin typeface="Arial"/>
                <a:ea typeface="DejaVu Sans"/>
              </a:rPr>
              <a:t>{</a:t>
            </a:r>
            <a:r>
              <a:rPr b="0" lang="en-US" sz="7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80" strike="noStrike">
                <a:solidFill>
                  <a:srgbClr val="c9201e"/>
                </a:solidFill>
                <a:latin typeface="Arial"/>
                <a:ea typeface="DejaVu Sans"/>
              </a:rPr>
              <a:t>/*</a:t>
            </a:r>
            <a:r>
              <a:rPr b="0" lang="en-US" sz="750" spc="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12" strike="noStrike">
                <a:solidFill>
                  <a:srgbClr val="c9201e"/>
                </a:solidFill>
                <a:latin typeface="Arial"/>
                <a:ea typeface="DejaVu Sans"/>
              </a:rPr>
              <a:t>...</a:t>
            </a:r>
            <a:r>
              <a:rPr b="0" lang="en-US" sz="750" spc="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86" strike="noStrike">
                <a:solidFill>
                  <a:srgbClr val="c9201e"/>
                </a:solidFill>
                <a:latin typeface="Arial"/>
                <a:ea typeface="DejaVu Sans"/>
              </a:rPr>
              <a:t>*/</a:t>
            </a:r>
            <a:r>
              <a:rPr b="0" lang="en-US" sz="750" spc="4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52" strike="noStrike">
                <a:solidFill>
                  <a:srgbClr val="c9201e"/>
                </a:solidFill>
                <a:latin typeface="Arial"/>
                <a:ea typeface="DejaVu Sans"/>
              </a:rPr>
              <a:t>}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  <a:p>
            <a:pPr marL="156960" indent="-261000">
              <a:lnSpc>
                <a:spcPct val="10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800" spc="-1" strike="noStrike">
                <a:solidFill>
                  <a:srgbClr val="c9201e"/>
                </a:solidFill>
                <a:latin typeface="Arial"/>
                <a:ea typeface="DejaVu Sans"/>
              </a:rPr>
              <a:t>)</a:t>
            </a:r>
            <a:r>
              <a:rPr b="0" lang="en-US" sz="800" spc="-4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800" spc="-60" strike="noStrike">
                <a:solidFill>
                  <a:srgbClr val="c9201e"/>
                </a:solidFill>
                <a:latin typeface="Arial"/>
                <a:ea typeface="DejaVu Sans"/>
              </a:rPr>
              <a:t>;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marL="156960" indent="-261000">
              <a:lnSpc>
                <a:spcPct val="100000"/>
              </a:lnSpc>
              <a:spcBef>
                <a:spcPts val="85"/>
              </a:spcBef>
              <a:tabLst>
                <a:tab algn="l" pos="0"/>
              </a:tabLst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marL="12600" indent="-261000">
              <a:lnSpc>
                <a:spcPct val="10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750" spc="-1" strike="noStrike">
                <a:solidFill>
                  <a:srgbClr val="c9201e"/>
                </a:solidFill>
                <a:latin typeface="Arial"/>
                <a:ea typeface="DejaVu Sans"/>
              </a:rPr>
              <a:t>Kokkos::TeamPolicy&lt;ExecutionSpace&gt;</a:t>
            </a:r>
            <a:r>
              <a:rPr b="0" lang="en-US" sz="750" spc="23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1" strike="noStrike">
                <a:solidFill>
                  <a:srgbClr val="c9201e"/>
                </a:solidFill>
                <a:latin typeface="Arial"/>
                <a:ea typeface="DejaVu Sans"/>
              </a:rPr>
              <a:t>team_policy(league_size,</a:t>
            </a:r>
            <a:r>
              <a:rPr b="0" lang="en-US" sz="750" spc="231" strike="noStrike">
                <a:solidFill>
                  <a:srgbClr val="c9201e"/>
                </a:solidFill>
                <a:latin typeface="Arial"/>
                <a:ea typeface="DejaVu Sans"/>
              </a:rPr>
              <a:t> </a:t>
            </a:r>
            <a:r>
              <a:rPr b="0" lang="en-US" sz="750" spc="-12" strike="noStrike">
                <a:solidFill>
                  <a:srgbClr val="c9201e"/>
                </a:solidFill>
                <a:latin typeface="Arial"/>
                <a:ea typeface="DejaVu Sans"/>
              </a:rPr>
              <a:t>team_size);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object 9"/>
          <p:cNvSpPr/>
          <p:nvPr/>
        </p:nvSpPr>
        <p:spPr>
          <a:xfrm>
            <a:off x="1090800" y="4123800"/>
            <a:ext cx="12315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250" spc="-41" strike="noStrike">
                <a:solidFill>
                  <a:srgbClr val="000000"/>
                </a:solidFill>
                <a:latin typeface="Arial Black"/>
                <a:ea typeface="DejaVu Sans"/>
              </a:rPr>
              <a:t>Memory</a:t>
            </a:r>
            <a:r>
              <a:rPr b="0" lang="en-US" sz="1250" spc="-7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41" strike="noStrike">
                <a:solidFill>
                  <a:srgbClr val="000000"/>
                </a:solidFill>
                <a:latin typeface="Arial Black"/>
                <a:ea typeface="DejaVu Sans"/>
              </a:rPr>
              <a:t>layout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object 10"/>
          <p:cNvSpPr/>
          <p:nvPr/>
        </p:nvSpPr>
        <p:spPr>
          <a:xfrm>
            <a:off x="1090800" y="4334400"/>
            <a:ext cx="748512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08720" indent="-95760">
              <a:lnSpc>
                <a:spcPts val="1511"/>
              </a:lnSpc>
              <a:buClr>
                <a:srgbClr val="000000"/>
              </a:buClr>
              <a:buSzPct val="113000"/>
              <a:buFont typeface="Arial"/>
              <a:buChar char="-"/>
              <a:tabLst>
                <a:tab algn="l" pos="108720"/>
              </a:tabLst>
            </a:pPr>
            <a:r>
              <a:rPr b="0" lang="en-US" sz="1150" spc="-46" strike="noStrike">
                <a:solidFill>
                  <a:srgbClr val="000000"/>
                </a:solidFill>
                <a:latin typeface="Arial Black"/>
                <a:ea typeface="DejaVu Sans"/>
              </a:rPr>
              <a:t>Options</a:t>
            </a:r>
            <a:r>
              <a:rPr b="0" lang="en-US" sz="1150" spc="-46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11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LayoutRight`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vs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L̀ayoutLeft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60" strike="noStrike">
                <a:solidFill>
                  <a:srgbClr val="000000"/>
                </a:solidFill>
                <a:latin typeface="Arial"/>
                <a:ea typeface="DejaVu Sans"/>
              </a:rPr>
              <a:t>with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automatic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conversion</a:t>
            </a:r>
            <a:r>
              <a:rPr b="0" lang="en-US" sz="1150" spc="8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60" strike="noStrike">
                <a:solidFill>
                  <a:srgbClr val="000000"/>
                </a:solidFill>
                <a:latin typeface="Arial"/>
                <a:ea typeface="DejaVu Sans"/>
              </a:rPr>
              <a:t>two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41" strike="noStrike">
                <a:solidFill>
                  <a:srgbClr val="000000"/>
                </a:solidFill>
                <a:latin typeface="Arial"/>
                <a:ea typeface="DejaVu Sans"/>
              </a:rPr>
              <a:t>depending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49" strike="noStrike">
                <a:solidFill>
                  <a:srgbClr val="000000"/>
                </a:solidFill>
                <a:latin typeface="Arial"/>
                <a:ea typeface="DejaVu Sans"/>
              </a:rPr>
              <a:t>on</a:t>
            </a:r>
            <a:r>
              <a:rPr b="0" lang="en-US" sz="1150" spc="9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150" spc="-12" strike="noStrike">
                <a:solidFill>
                  <a:srgbClr val="000000"/>
                </a:solidFill>
                <a:latin typeface="Arial"/>
                <a:ea typeface="DejaVu Sans"/>
              </a:rPr>
              <a:t>runspaces.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6"/>
              </a:spcBef>
              <a:tabLst>
                <a:tab algn="l" pos="10872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108720"/>
              </a:tabLst>
            </a:pPr>
            <a:r>
              <a:rPr b="0" lang="en-US" sz="1250" spc="-41" strike="noStrike">
                <a:solidFill>
                  <a:srgbClr val="000000"/>
                </a:solidFill>
                <a:latin typeface="Arial Black"/>
                <a:ea typeface="DejaVu Sans"/>
              </a:rPr>
              <a:t>Memory</a:t>
            </a:r>
            <a:r>
              <a:rPr b="0" lang="en-US" sz="1250" spc="-7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250" spc="-12" strike="noStrike">
                <a:solidFill>
                  <a:srgbClr val="000000"/>
                </a:solidFill>
                <a:latin typeface="Arial Black"/>
                <a:ea typeface="DejaVu Sans"/>
              </a:rPr>
              <a:t>traits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marL="108720" indent="-9576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SzPct val="124000"/>
              <a:buFont typeface="Arial"/>
              <a:buChar char="-"/>
              <a:tabLst>
                <a:tab algn="l" pos="108720"/>
              </a:tabLst>
            </a:pPr>
            <a:r>
              <a:rPr b="0" lang="en-US" sz="1050" spc="-97" strike="noStrike">
                <a:solidFill>
                  <a:srgbClr val="000000"/>
                </a:solidFill>
                <a:latin typeface="Arial Black"/>
                <a:ea typeface="DejaVu Sans"/>
              </a:rPr>
              <a:t>Types</a:t>
            </a:r>
            <a:r>
              <a:rPr b="0" lang="en-US" sz="1050" spc="9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050" spc="-35" strike="noStrike">
                <a:solidFill>
                  <a:srgbClr val="000000"/>
                </a:solidFill>
                <a:latin typeface="Arial Black"/>
                <a:ea typeface="DejaVu Sans"/>
              </a:rPr>
              <a:t>of</a:t>
            </a:r>
            <a:r>
              <a:rPr b="0" lang="en-US" sz="1050" spc="15" strike="noStrike">
                <a:solidFill>
                  <a:srgbClr val="000000"/>
                </a:solidFill>
                <a:latin typeface="Arial Black"/>
                <a:ea typeface="DejaVu Sans"/>
              </a:rPr>
              <a:t> </a:t>
            </a:r>
            <a:r>
              <a:rPr b="0" lang="en-US" sz="1050" spc="-46" strike="noStrike">
                <a:solidFill>
                  <a:srgbClr val="000000"/>
                </a:solidFill>
                <a:latin typeface="Arial Black"/>
                <a:ea typeface="DejaVu Sans"/>
              </a:rPr>
              <a:t>access</a:t>
            </a:r>
            <a:r>
              <a:rPr b="0" lang="en-US" sz="1050" spc="-46" strike="noStrike">
                <a:solidFill>
                  <a:srgbClr val="000000"/>
                </a:solidFill>
                <a:latin typeface="Arial"/>
                <a:ea typeface="DejaVu Sans"/>
              </a:rPr>
              <a:t>:Atomic</a:t>
            </a:r>
            <a:r>
              <a:rPr b="0" lang="en-US" sz="10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000000"/>
                </a:solidFill>
                <a:latin typeface="Arial"/>
                <a:ea typeface="DejaVu Sans"/>
              </a:rPr>
              <a:t>access,</a:t>
            </a:r>
            <a:r>
              <a:rPr b="0" lang="en-US" sz="10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43" strike="noStrike">
                <a:solidFill>
                  <a:srgbClr val="000000"/>
                </a:solidFill>
                <a:latin typeface="Arial"/>
                <a:ea typeface="DejaVu Sans"/>
              </a:rPr>
              <a:t>random</a:t>
            </a:r>
            <a:r>
              <a:rPr b="0" lang="en-US" sz="10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10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(shader</a:t>
            </a:r>
            <a:r>
              <a:rPr b="0" lang="en-US" sz="10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memory),</a:t>
            </a:r>
            <a:r>
              <a:rPr b="0" lang="en-US" sz="10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1050" spc="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  <a:ea typeface="DejaVu Sans"/>
              </a:rPr>
              <a:t>streaming</a:t>
            </a:r>
            <a:r>
              <a:rPr b="0" lang="en-US" sz="1050" spc="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050" spc="-12" strike="noStrike">
                <a:solidFill>
                  <a:srgbClr val="000000"/>
                </a:solidFill>
                <a:latin typeface="Arial"/>
                <a:ea typeface="DejaVu Sans"/>
              </a:rPr>
              <a:t>storage.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" descr=""/>
          <p:cNvPicPr/>
          <p:nvPr/>
        </p:nvPicPr>
        <p:blipFill>
          <a:blip r:embed="rId1"/>
          <a:stretch/>
        </p:blipFill>
        <p:spPr>
          <a:xfrm>
            <a:off x="7946280" y="4547880"/>
            <a:ext cx="1870560" cy="829800"/>
          </a:xfrm>
          <a:prstGeom prst="rect">
            <a:avLst/>
          </a:prstGeom>
          <a:ln w="10800">
            <a:noFill/>
          </a:ln>
        </p:spPr>
      </p:pic>
      <p:pic>
        <p:nvPicPr>
          <p:cNvPr id="310" name="" descr=""/>
          <p:cNvPicPr/>
          <p:nvPr/>
        </p:nvPicPr>
        <p:blipFill>
          <a:blip r:embed="rId2"/>
          <a:stretch/>
        </p:blipFill>
        <p:spPr>
          <a:xfrm>
            <a:off x="2120760" y="2342520"/>
            <a:ext cx="1467360" cy="1811880"/>
          </a:xfrm>
          <a:prstGeom prst="rect">
            <a:avLst/>
          </a:prstGeom>
          <a:ln w="0">
            <a:noFill/>
          </a:ln>
        </p:spPr>
      </p:pic>
      <p:sp>
        <p:nvSpPr>
          <p:cNvPr id="311" name=""/>
          <p:cNvSpPr/>
          <p:nvPr/>
        </p:nvSpPr>
        <p:spPr>
          <a:xfrm>
            <a:off x="4175640" y="3058200"/>
            <a:ext cx="3193920" cy="352800"/>
          </a:xfrm>
          <a:custGeom>
            <a:avLst/>
            <a:gdLst>
              <a:gd name="textAreaLeft" fmla="*/ 0 w 3193920"/>
              <a:gd name="textAreaRight" fmla="*/ 3195000 w 3193920"/>
              <a:gd name="textAreaTop" fmla="*/ 0 h 352800"/>
              <a:gd name="textAreaBottom" fmla="*/ 353880 h 352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源ノ角ゴシック Normal"/>
              </a:rPr>
              <a:t>Thank you for your attention !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LibreOffice/7.5.3.2$MacOSX_X86_64 LibreOffice_project/9f56dff12ba03b9acd7730a5a481eea045e468f3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2025-02-04T07:54:46Z</dcterms:created>
  <dc:creator/>
  <dc:description/>
  <dc:language>fr-FR</dc:language>
  <cp:lastModifiedBy/>
  <dcterms:modified xsi:type="dcterms:W3CDTF">2025-02-18T13:58:51Z</dcterms:modified>
  <cp:revision>6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2025-02-03T00:00:00Z</vt:filetime>
  </property>
  <property fmtid="{D5CDD505-2E9C-101B-9397-08002B2CF9AE}" pid="3" name="Creator">
    <vt:lpwstr>Impress</vt:lpwstr>
  </property>
  <property fmtid="{D5CDD505-2E9C-101B-9397-08002B2CF9AE}" pid="4" name="LastSaved">
    <vt:filetime>2025-02-03T00:00:00Z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LibreOffice 7.5</vt:lpwstr>
  </property>
</Properties>
</file>